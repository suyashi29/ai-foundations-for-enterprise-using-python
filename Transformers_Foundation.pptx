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cac66cf-a998-fe35-4b2f-9bbbef29b5f1}">
          <p14:sldIdLst>
            <p14:sldId id="256"/>
            <p14:sldId id="257"/>
          </p14:sldIdLst>
        </p14:section>
        <p14:section name="Basics" id="{9e939f9f-119f-e588-25a3-8176bd6b7566}">
          <p14:sldIdLst>
            <p14:sldId id="258"/>
            <p14:sldId id="259"/>
            <p14:sldId id="260"/>
          </p14:sldIdLst>
        </p14:section>
        <p14:section name="Building Blocks" id="{7cda7d19-c04f-1216-a974-98921b4b10fc}">
          <p14:sldIdLst>
            <p14:sldId id="261"/>
            <p14:sldId id="262"/>
            <p14:sldId id="263"/>
            <p14:sldId id="264"/>
            <p14:sldId id="265"/>
            <p14:sldId id="266"/>
          </p14:sldIdLst>
        </p14:section>
        <p14:section name="Architecture" id="{bfacefb4-8b54-1512-0d5c-4229ddb22e05}">
          <p14:sldIdLst>
            <p14:sldId id="267"/>
            <p14:sldId id="268"/>
            <p14:sldId id="269"/>
          </p14:sldIdLst>
        </p14:section>
        <p14:section name="Generation and Training" id="{21ca38bd-d209-9dbd-770b-4ca0ef527535}">
          <p14:sldIdLst>
            <p14:sldId id="270"/>
            <p14:sldId id="271"/>
            <p14:sldId id="272"/>
          </p14:sldIdLst>
        </p14:section>
        <p14:section name="Models and Applications" id="{eeec6c7a-a0f4-eb1c-f76f-8580a003e956}">
          <p14:sldIdLst>
            <p14:sldId id="273"/>
            <p14:sldId id="274"/>
            <p14:sldId id="275"/>
          </p14:sldIdLst>
        </p14:section>
        <p14:section name="Prompt Engineering" id="{9802041a-2bd4-e162-26dc-b6195c23e7ed}">
          <p14:sldIdLst>
            <p14:sldId id="276"/>
            <p14:sldId id="277"/>
            <p14:sldId id="278"/>
            <p14:sldId id="279"/>
          </p14:sldIdLst>
        </p14:section>
        <p14:section name="Wrap-up" id="{78f2de31-8186-fff5-9246-83efa50e25fe}">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Probability</c:v>
                </c:pt>
              </c:strCache>
            </c:strRef>
          </c:tx>
          <c:spPr>
            <a:solidFill>
              <a:srgbClr val="F59E0B"/>
            </a:solidFill>
            <a:effectLst/>
          </c:spPr>
          <c:invertIfNegative val="0"/>
          <c:dLbls>
            <c:numFmt formatCode="0&quot;%&quot;" sourceLinked="0"/>
            <c:txPr>
              <a:bodyPr/>
              <a:lstStyle/>
              <a:p>
                <a:pPr>
                  <a:defRPr b="1" i="0" strike="noStrike" sz="1400" u="none">
                    <a:solidFill>
                      <a:srgbClr val="1A1D3A"/>
                    </a:solidFill>
                    <a:latin typeface="+mn-lt"/>
                  </a:defRPr>
                </a:pPr>
              </a:p>
            </c:txPr>
            <c:showLegendKey val="0"/>
            <c:showVal val="1"/>
            <c:showCatName val="0"/>
            <c:showSerName val="0"/>
            <c:showPercent val="0"/>
            <c:showBubbleSize val="0"/>
            <c:showLeaderLines val="0"/>
          </c:dLbls>
          <c:dPt>
            <c:idx val="0"/>
            <c:invertIfNegative val="0"/>
            <c:bubble3D val="0"/>
            <c:spPr>
              <a:solidFill>
                <a:srgbClr val="F59E0B"/>
              </a:solidFill>
              <a:effectLst/>
            </c:spPr>
          </c:dPt>
          <c:dPt>
            <c:idx val="1"/>
            <c:invertIfNegative val="0"/>
            <c:bubble3D val="0"/>
            <c:spPr>
              <a:solidFill>
                <a:srgbClr val="3B3FA8"/>
              </a:solidFill>
              <a:effectLst/>
            </c:spPr>
          </c:dPt>
          <c:dPt>
            <c:idx val="2"/>
            <c:invertIfNegative val="0"/>
            <c:bubble3D val="0"/>
            <c:spPr>
              <a:solidFill>
                <a:srgbClr val="3B3FA8"/>
              </a:solidFill>
              <a:effectLst/>
            </c:spPr>
          </c:dPt>
          <c:dPt>
            <c:idx val="3"/>
            <c:invertIfNegative val="0"/>
            <c:bubble3D val="0"/>
            <c:spPr>
              <a:solidFill>
                <a:srgbClr val="3B3FA8"/>
              </a:solidFill>
              <a:effectLst/>
            </c:spPr>
          </c:dPt>
          <c:dPt>
            <c:idx val="4"/>
            <c:invertIfNegative val="0"/>
            <c:bubble3D val="0"/>
            <c:spPr>
              <a:solidFill>
                <a:srgbClr val="3B3FA8"/>
              </a:solidFill>
              <a:effectLst/>
            </c:spPr>
          </c:dPt>
          <c:cat>
            <c:multiLvlStrRef>
              <c:f>Sheet1!$A$2:$A$6</c:f>
              <c:multiLvlStrCache>
                <c:ptCount val="5"/>
                <c:lvl>
                  <c:pt idx="0">
                    <c:v>blue</c:v>
                  </c:pt>
                  <c:pt idx="1">
                    <c:v>clear</c:v>
                  </c:pt>
                  <c:pt idx="2">
                    <c:v>cloudy</c:v>
                  </c:pt>
                  <c:pt idx="3">
                    <c:v>falling</c:v>
                  </c:pt>
                  <c:pt idx="4">
                    <c:v>green</c:v>
                  </c:pt>
                </c:lvl>
              </c:multiLvlStrCache>
            </c:multiLvlStrRef>
          </c:cat>
          <c:val>
            <c:numRef>
              <c:f>Sheet1!$B$2:$B$6</c:f>
              <c:numCache>
                <c:formatCode>General</c:formatCode>
                <c:ptCount val="5"/>
                <c:pt idx="0">
                  <c:v>62</c:v>
                </c:pt>
                <c:pt idx="1">
                  <c:v>18</c:v>
                </c:pt>
                <c:pt idx="2">
                  <c:v>10</c:v>
                </c:pt>
                <c:pt idx="3">
                  <c:v>6</c:v>
                </c:pt>
                <c:pt idx="4">
                  <c:v>4</c:v>
                </c:pt>
              </c:numCache>
            </c:numRef>
          </c:val>
        </c:ser>
        <c:dLbls>
          <c:numFmt formatCode="0&quot;%&quot;" sourceLinked="0"/>
          <c:txPr>
            <a:bodyPr/>
            <a:lstStyle/>
            <a:p>
              <a:pPr>
                <a:defRPr b="1" i="0" strike="noStrike" sz="1400" u="none">
                  <a:solidFill>
                    <a:srgbClr val="1A1D3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A1D3A"/>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explains Transformers, the technology behind ChatGPT, Claude, Gemini and Llama, in simple steps. No maths background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short parts. Each one builds on the previous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AI mostly labels or predicts. Generative AI creates new content. Transformers are the engine behind most of today's text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models (RNN, LSTM) read one word at a time. Transformers, introduced by Google in 2017, read everything at once using attention and run fast on GPUs.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highest level: text goes in, the Transformer processes it with attention, text comes out. Everything else in this deck zooms into the middle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cannot read letters; they work with numbers. Text is split into tokens, and each token has an ID. The IDs shown are illustrative, not from a real tokenizer.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token ID becomes a long list of numbers called an embedding. Tokens with similar meaning get similar numbers, so they sit close together on a meaning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 Transformer reads all words at once, it has no built-in idea of order. We add a position signal to each embedding so that 'dog bites man' differs from 'man bites dog'.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Self-attention lets every word look at every other word and decide how much each matters. Here the word 'it' pays most attention to 'animal', so the model knows what 'it' refers to. Percentages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library. The Query is your search, the Keys are labels on the books, and the Values are the contents. Each word compares its Query with all Keys, then blends the Values by those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Multi-head attention runs several attention calculations in parallel, each learning a different kind of relationship. A feed-forward network then refines each token. Add and Norm layers keep training stable. The whole block is stacked many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original encoder-decoder Transformer. Data flows from the bottom to the top. The encoder builds an understanding of the input; the decoder uses it, through cross-attention, to produce the output one token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Encoder attention is full: every word sees every other word. Decoder attention is masked: when generating, a word may only look at earlier words, otherwise it would cheat by seeing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Encoder-only models (BERT) are great at understanding. Decoder-only models (GPT, Claude, Llama) are great at generating and power chat assistants. Encoder-decoder models (T5) map one text to another, such as translation.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LLM generates one token at a time. It scores every possible next token as a probability, picks one, appends it to the text and repeats. Probabilities shown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teaches language and general knowledge by predicting the next word on huge datasets. Fine-tuning teaches it to follow instructions. Alignment with human feedback (RLHF) makes it helpful and safer.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glossary. These words appear in almost every article about LLMs.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some well-known Transformer-based models. Companies do not always publish exact architectures, so the types shown are simplified.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Transformers power far more than chatbots: translation, coding assistants, summaries, search and scientific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Transformers are powerful but imperfect. They can hallucinate, reflect bias in training data, cost a lot to run, and have limited context. Always verify important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is the instruction you give an AI. Prompt engineering is the skill of writing prompts so the model gives better, more useful answers. The model is the same; only the prompt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strong prompt often has five parts: Role, Task, Context, Format and Constraints. You do not need all five every time, but each one removes guesswork for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Zero-shot means just asking. Few-shot gives examples. Chain-of-thought asks the model to reason step by step. Role prompting sets a persona or expertise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give context, show examples, set the format, break tasks into steps and always verify. Treat prompting as a loop: write, test, refine.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five ideas. Invite questions and suggest trying the prompt techniques in a real chat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F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80160"/>
            <a:ext cx="4572000" cy="192024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548640" y="3383280"/>
            <a:ext cx="4389120" cy="8229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B1F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BDF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3.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slideLayout" Target="../slideLayouts/slideLayout3.xml"/><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3.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nvSpPr>
        <p:spPr>
          <a:xfrm>
            <a:off x="548640" y="868680"/>
            <a:ext cx="4572000" cy="274320"/>
          </a:xfrm>
          <a:prstGeom prst="rect">
            <a:avLst/>
          </a:prstGeom>
          <a:noFill/>
          <a:ln/>
        </p:spPr>
        <p:txBody>
          <a:bodyPr wrap="square" lIns="0" tIns="0" rIns="0" bIns="0" rtlCol="0" anchor="t"/>
          <a:lstStyle/>
          <a:p>
            <a:pPr indent="0" marL="0">
              <a:buNone/>
            </a:pPr>
            <a:r>
              <a:rPr lang="en-US" sz="1300" b="1" spc="200" kern="0" dirty="0">
                <a:solidFill>
                  <a:schemeClr val="accent2"/>
                </a:solidFill>
              </a:rPr>
              <a:t>FOUNDATION LEVEL  ·  GENERATIVE AI</a:t>
            </a:r>
            <a:endParaRPr lang="en-US" sz="1300" dirty="0"/>
          </a:p>
        </p:txBody>
      </p:sp>
      <p:sp>
        <p:nvSpPr>
          <p:cNvPr id="3" name="Text 0"/>
          <p:cNvSpPr/>
          <p:nvPr>
            <p:ph idx="100" type="title" hasCustomPrompt="1"/>
          </p:nvPr>
        </p:nvSpPr>
        <p:spPr>
          <a:xfrm>
            <a:off x="548640" y="1280160"/>
            <a:ext cx="4572000" cy="1920240"/>
          </a:xfrm>
          <a:prstGeom prst="rect">
            <a:avLst/>
          </a:prstGeom>
          <a:noFill/>
          <a:ln/>
        </p:spPr>
        <p:txBody>
          <a:bodyPr wrap="square" lIns="0" tIns="0" rIns="0" bIns="0" rtlCol="0" anchor="t"/>
          <a:lstStyle/>
          <a:p>
            <a:pPr algn="l" indent="0" marL="0">
              <a:buNone/>
            </a:pPr>
            <a:r>
              <a:rPr lang="en-US" sz="3800" b="1" dirty="0">
                <a:solidFill>
                  <a:schemeClr val="bg1"/>
                </a:solidFill>
              </a:rPr>
              <a:t>Understanding Transformers in Generative AI</a:t>
            </a:r>
            <a:endParaRPr lang="en-US" sz="3800" dirty="0"/>
          </a:p>
        </p:txBody>
      </p:sp>
      <p:sp>
        <p:nvSpPr>
          <p:cNvPr id="4" name="Text 0"/>
          <p:cNvSpPr/>
          <p:nvPr>
            <p:ph idx="101" type="body" hasCustomPrompt="1"/>
          </p:nvPr>
        </p:nvSpPr>
        <p:spPr>
          <a:xfrm>
            <a:off x="548640" y="3383280"/>
            <a:ext cx="4389120" cy="822960"/>
          </a:xfrm>
          <a:prstGeom prst="rect">
            <a:avLst/>
          </a:prstGeom>
          <a:noFill/>
          <a:ln/>
        </p:spPr>
        <p:txBody>
          <a:bodyPr wrap="square" lIns="0" tIns="0" rIns="0" bIns="0" rtlCol="0" anchor="t"/>
          <a:lstStyle/>
          <a:p>
            <a:pPr indent="0" marL="0">
              <a:buNone/>
            </a:pPr>
            <a:r>
              <a:rPr lang="en-US" sz="1800" dirty="0">
                <a:solidFill>
                  <a:schemeClr val="bg2"/>
                </a:solidFill>
              </a:rPr>
              <a:t>A simple, visual guide: from tokens and attention to prompt engineering</a:t>
            </a:r>
            <a:endParaRPr lang="en-US" sz="1800" dirty="0"/>
          </a:p>
        </p:txBody>
      </p:sp>
      <p:sp>
        <p:nvSpPr>
          <p:cNvPr id="5" name="Line 2"/>
          <p:cNvSpPr/>
          <p:nvPr/>
        </p:nvSpPr>
        <p:spPr>
          <a:xfrm>
            <a:off x="5760720" y="2011680"/>
            <a:ext cx="822960" cy="1280160"/>
          </a:xfrm>
          <a:prstGeom prst="line">
            <a:avLst/>
          </a:prstGeom>
          <a:noFill/>
          <a:ln w="19050">
            <a:solidFill>
              <a:srgbClr val="8D91D8"/>
            </a:solidFill>
            <a:prstDash val="solid"/>
          </a:ln>
        </p:spPr>
      </p:sp>
      <p:sp>
        <p:nvSpPr>
          <p:cNvPr id="6" name="Line 3"/>
          <p:cNvSpPr/>
          <p:nvPr/>
        </p:nvSpPr>
        <p:spPr>
          <a:xfrm flipH="1">
            <a:off x="5760720" y="2011680"/>
            <a:ext cx="822960" cy="1280160"/>
          </a:xfrm>
          <a:prstGeom prst="line">
            <a:avLst/>
          </a:prstGeom>
          <a:noFill/>
          <a:ln w="25400">
            <a:solidFill>
              <a:srgbClr val="8D91D8"/>
            </a:solidFill>
            <a:prstDash val="solid"/>
          </a:ln>
        </p:spPr>
      </p:sp>
      <p:sp>
        <p:nvSpPr>
          <p:cNvPr id="7" name="Line 4"/>
          <p:cNvSpPr/>
          <p:nvPr/>
        </p:nvSpPr>
        <p:spPr>
          <a:xfrm>
            <a:off x="6583680" y="2011680"/>
            <a:ext cx="0" cy="1280160"/>
          </a:xfrm>
          <a:prstGeom prst="line">
            <a:avLst/>
          </a:prstGeom>
          <a:noFill/>
          <a:ln w="12700">
            <a:solidFill>
              <a:srgbClr val="8D91D8"/>
            </a:solidFill>
            <a:prstDash val="solid"/>
          </a:ln>
        </p:spPr>
      </p:sp>
      <p:sp>
        <p:nvSpPr>
          <p:cNvPr id="8" name="Line 5"/>
          <p:cNvSpPr/>
          <p:nvPr/>
        </p:nvSpPr>
        <p:spPr>
          <a:xfrm>
            <a:off x="6583680" y="2011680"/>
            <a:ext cx="822960" cy="1280160"/>
          </a:xfrm>
          <a:prstGeom prst="line">
            <a:avLst/>
          </a:prstGeom>
          <a:noFill/>
          <a:ln w="44450">
            <a:solidFill>
              <a:srgbClr val="8D91D8"/>
            </a:solidFill>
            <a:prstDash val="solid"/>
          </a:ln>
        </p:spPr>
      </p:sp>
      <p:sp>
        <p:nvSpPr>
          <p:cNvPr id="9" name="Line 6"/>
          <p:cNvSpPr/>
          <p:nvPr/>
        </p:nvSpPr>
        <p:spPr>
          <a:xfrm flipH="1">
            <a:off x="6583680" y="2011680"/>
            <a:ext cx="822960" cy="1280160"/>
          </a:xfrm>
          <a:prstGeom prst="line">
            <a:avLst/>
          </a:prstGeom>
          <a:noFill/>
          <a:ln w="38100">
            <a:solidFill>
              <a:srgbClr val="8D91D8"/>
            </a:solidFill>
            <a:prstDash val="solid"/>
          </a:ln>
        </p:spPr>
      </p:sp>
      <p:sp>
        <p:nvSpPr>
          <p:cNvPr id="10" name="Line 7"/>
          <p:cNvSpPr/>
          <p:nvPr/>
        </p:nvSpPr>
        <p:spPr>
          <a:xfrm>
            <a:off x="7406640" y="2011680"/>
            <a:ext cx="822960" cy="1280160"/>
          </a:xfrm>
          <a:prstGeom prst="line">
            <a:avLst/>
          </a:prstGeom>
          <a:noFill/>
          <a:ln w="19050">
            <a:solidFill>
              <a:srgbClr val="8D91D8"/>
            </a:solidFill>
            <a:prstDash val="solid"/>
          </a:ln>
        </p:spPr>
      </p:sp>
      <p:sp>
        <p:nvSpPr>
          <p:cNvPr id="11" name="Line 8"/>
          <p:cNvSpPr/>
          <p:nvPr/>
        </p:nvSpPr>
        <p:spPr>
          <a:xfrm flipH="1">
            <a:off x="7406640" y="2011680"/>
            <a:ext cx="822960" cy="1280160"/>
          </a:xfrm>
          <a:prstGeom prst="line">
            <a:avLst/>
          </a:prstGeom>
          <a:noFill/>
          <a:ln w="25400">
            <a:solidFill>
              <a:srgbClr val="8D91D8"/>
            </a:solidFill>
            <a:prstDash val="solid"/>
          </a:ln>
        </p:spPr>
      </p:sp>
      <p:sp>
        <p:nvSpPr>
          <p:cNvPr id="12" name="Line 9"/>
          <p:cNvSpPr/>
          <p:nvPr/>
        </p:nvSpPr>
        <p:spPr>
          <a:xfrm>
            <a:off x="5760720" y="2011680"/>
            <a:ext cx="0" cy="1280160"/>
          </a:xfrm>
          <a:prstGeom prst="line">
            <a:avLst/>
          </a:prstGeom>
          <a:noFill/>
          <a:ln w="12700">
            <a:solidFill>
              <a:srgbClr val="8D91D8"/>
            </a:solidFill>
            <a:prstDash val="solid"/>
          </a:ln>
        </p:spPr>
      </p:sp>
      <p:sp>
        <p:nvSpPr>
          <p:cNvPr id="13" name="Line 10"/>
          <p:cNvSpPr/>
          <p:nvPr/>
        </p:nvSpPr>
        <p:spPr>
          <a:xfrm>
            <a:off x="8229600" y="2011680"/>
            <a:ext cx="0" cy="1280160"/>
          </a:xfrm>
          <a:prstGeom prst="line">
            <a:avLst/>
          </a:prstGeom>
          <a:noFill/>
          <a:ln w="12700">
            <a:solidFill>
              <a:srgbClr val="8D91D8"/>
            </a:solidFill>
            <a:prstDash val="solid"/>
          </a:ln>
        </p:spPr>
      </p:sp>
      <p:sp>
        <p:nvSpPr>
          <p:cNvPr id="14" name="Text 11"/>
          <p:cNvSpPr txBox="1"/>
          <p:nvPr/>
        </p:nvSpPr>
        <p:spPr>
          <a:xfrm>
            <a:off x="5394960" y="1234440"/>
            <a:ext cx="3200400" cy="228600"/>
          </a:xfrm>
          <a:prstGeom prst="rect">
            <a:avLst/>
          </a:prstGeom>
          <a:noFill/>
          <a:ln/>
        </p:spPr>
        <p:txBody>
          <a:bodyPr wrap="square" lIns="0" tIns="0" rIns="0" bIns="0" rtlCol="0" anchor="t"/>
          <a:lstStyle/>
          <a:p>
            <a:pPr indent="0" marL="0">
              <a:buNone/>
            </a:pPr>
            <a:r>
              <a:rPr lang="en-US" sz="1100" b="1" dirty="0">
                <a:solidFill>
                  <a:schemeClr val="bg2"/>
                </a:solidFill>
              </a:rPr>
              <a:t>INPUT WORDS</a:t>
            </a:r>
            <a:endParaRPr lang="en-US" sz="1100" dirty="0"/>
          </a:p>
        </p:txBody>
      </p:sp>
      <p:sp>
        <p:nvSpPr>
          <p:cNvPr id="15" name="Text 12"/>
          <p:cNvSpPr txBox="1"/>
          <p:nvPr/>
        </p:nvSpPr>
        <p:spPr>
          <a:xfrm>
            <a:off x="5394960" y="3886200"/>
            <a:ext cx="3200400" cy="228600"/>
          </a:xfrm>
          <a:prstGeom prst="rect">
            <a:avLst/>
          </a:prstGeom>
          <a:noFill/>
          <a:ln/>
        </p:spPr>
        <p:txBody>
          <a:bodyPr wrap="square" lIns="0" tIns="0" rIns="0" bIns="0" rtlCol="0" anchor="t"/>
          <a:lstStyle/>
          <a:p>
            <a:pPr indent="0" marL="0">
              <a:buNone/>
            </a:pPr>
            <a:r>
              <a:rPr lang="en-US" sz="1100" b="1" dirty="0">
                <a:solidFill>
                  <a:schemeClr val="bg2"/>
                </a:solidFill>
              </a:rPr>
              <a:t>WORDS WITH CONTEXT</a:t>
            </a:r>
            <a:endParaRPr lang="en-US" sz="1100" dirty="0"/>
          </a:p>
        </p:txBody>
      </p:sp>
      <p:sp>
        <p:nvSpPr>
          <p:cNvPr id="16" name="Chip 13"/>
          <p:cNvSpPr txBox="1"/>
          <p:nvPr/>
        </p:nvSpPr>
        <p:spPr>
          <a:xfrm>
            <a:off x="5394960" y="1554480"/>
            <a:ext cx="731520" cy="457200"/>
          </a:xfrm>
          <a:prstGeom prst="roundRect">
            <a:avLst>
              <a:gd name="adj" fmla="val 16000"/>
            </a:avLst>
          </a:prstGeom>
          <a:solidFill>
            <a:schemeClr val="accent5"/>
          </a:solidFill>
          <a:ln/>
        </p:spPr>
        <p:txBody>
          <a:bodyPr wrap="square" lIns="381" tIns="381" rIns="381" bIns="381" rtlCol="0" anchor="ctr"/>
          <a:lstStyle/>
          <a:p>
            <a:pPr algn="ctr" indent="0" marL="0">
              <a:buNone/>
            </a:pPr>
            <a:r>
              <a:rPr lang="en-US" sz="1400" b="1" dirty="0">
                <a:solidFill>
                  <a:schemeClr val="bg1"/>
                </a:solidFill>
              </a:rPr>
              <a:t>The</a:t>
            </a:r>
            <a:endParaRPr lang="en-US" sz="1400" dirty="0"/>
          </a:p>
        </p:txBody>
      </p:sp>
      <p:sp>
        <p:nvSpPr>
          <p:cNvPr id="17" name="Chip 14"/>
          <p:cNvSpPr txBox="1"/>
          <p:nvPr/>
        </p:nvSpPr>
        <p:spPr>
          <a:xfrm>
            <a:off x="5394960" y="3291840"/>
            <a:ext cx="731520" cy="457200"/>
          </a:xfrm>
          <a:prstGeom prst="roundRect">
            <a:avLst>
              <a:gd name="adj" fmla="val 16000"/>
            </a:avLst>
          </a:prstGeom>
          <a:solidFill>
            <a:schemeClr val="accent3"/>
          </a:solidFill>
          <a:ln/>
        </p:spPr>
        <p:txBody>
          <a:bodyPr wrap="square" lIns="381" tIns="381" rIns="381" bIns="381" rtlCol="0" anchor="ctr"/>
          <a:lstStyle/>
          <a:p>
            <a:pPr algn="ctr" indent="0" marL="0">
              <a:buNone/>
            </a:pPr>
            <a:r>
              <a:rPr lang="en-US" sz="1400" b="1" dirty="0">
                <a:solidFill>
                  <a:schemeClr val="bg1"/>
                </a:solidFill>
              </a:rPr>
              <a:t>The</a:t>
            </a:r>
            <a:endParaRPr lang="en-US" sz="1400" dirty="0"/>
          </a:p>
        </p:txBody>
      </p:sp>
      <p:sp>
        <p:nvSpPr>
          <p:cNvPr id="18" name="Chip 15"/>
          <p:cNvSpPr txBox="1"/>
          <p:nvPr/>
        </p:nvSpPr>
        <p:spPr>
          <a:xfrm>
            <a:off x="6217920" y="1554480"/>
            <a:ext cx="731520" cy="457200"/>
          </a:xfrm>
          <a:prstGeom prst="roundRect">
            <a:avLst>
              <a:gd name="adj" fmla="val 16000"/>
            </a:avLst>
          </a:prstGeom>
          <a:solidFill>
            <a:schemeClr val="accent5"/>
          </a:solidFill>
          <a:ln/>
        </p:spPr>
        <p:txBody>
          <a:bodyPr wrap="square" lIns="381" tIns="381" rIns="381" bIns="381" rtlCol="0" anchor="ctr"/>
          <a:lstStyle/>
          <a:p>
            <a:pPr algn="ctr" indent="0" marL="0">
              <a:buNone/>
            </a:pPr>
            <a:r>
              <a:rPr lang="en-US" sz="1400" b="1" dirty="0">
                <a:solidFill>
                  <a:schemeClr val="bg1"/>
                </a:solidFill>
              </a:rPr>
              <a:t>cat</a:t>
            </a:r>
            <a:endParaRPr lang="en-US" sz="1400" dirty="0"/>
          </a:p>
        </p:txBody>
      </p:sp>
      <p:sp>
        <p:nvSpPr>
          <p:cNvPr id="19" name="Chip 16"/>
          <p:cNvSpPr txBox="1"/>
          <p:nvPr/>
        </p:nvSpPr>
        <p:spPr>
          <a:xfrm>
            <a:off x="6217920" y="3291840"/>
            <a:ext cx="731520" cy="457200"/>
          </a:xfrm>
          <a:prstGeom prst="roundRect">
            <a:avLst>
              <a:gd name="adj" fmla="val 16000"/>
            </a:avLst>
          </a:prstGeom>
          <a:solidFill>
            <a:schemeClr val="accent3"/>
          </a:solidFill>
          <a:ln/>
        </p:spPr>
        <p:txBody>
          <a:bodyPr wrap="square" lIns="381" tIns="381" rIns="381" bIns="381" rtlCol="0" anchor="ctr"/>
          <a:lstStyle/>
          <a:p>
            <a:pPr algn="ctr" indent="0" marL="0">
              <a:buNone/>
            </a:pPr>
            <a:r>
              <a:rPr lang="en-US" sz="1400" b="1" dirty="0">
                <a:solidFill>
                  <a:schemeClr val="bg1"/>
                </a:solidFill>
              </a:rPr>
              <a:t>cat</a:t>
            </a:r>
            <a:endParaRPr lang="en-US" sz="1400" dirty="0"/>
          </a:p>
        </p:txBody>
      </p:sp>
      <p:sp>
        <p:nvSpPr>
          <p:cNvPr id="20" name="Chip 17"/>
          <p:cNvSpPr txBox="1"/>
          <p:nvPr/>
        </p:nvSpPr>
        <p:spPr>
          <a:xfrm>
            <a:off x="7040880" y="1554480"/>
            <a:ext cx="731520" cy="457200"/>
          </a:xfrm>
          <a:prstGeom prst="roundRect">
            <a:avLst>
              <a:gd name="adj" fmla="val 16000"/>
            </a:avLst>
          </a:prstGeom>
          <a:solidFill>
            <a:schemeClr val="accent5"/>
          </a:solidFill>
          <a:ln/>
        </p:spPr>
        <p:txBody>
          <a:bodyPr wrap="square" lIns="381" tIns="381" rIns="381" bIns="381" rtlCol="0" anchor="ctr"/>
          <a:lstStyle/>
          <a:p>
            <a:pPr algn="ctr" indent="0" marL="0">
              <a:buNone/>
            </a:pPr>
            <a:r>
              <a:rPr lang="en-US" sz="1400" b="1" dirty="0">
                <a:solidFill>
                  <a:schemeClr val="bg1"/>
                </a:solidFill>
              </a:rPr>
              <a:t>sat</a:t>
            </a:r>
            <a:endParaRPr lang="en-US" sz="1400" dirty="0"/>
          </a:p>
        </p:txBody>
      </p:sp>
      <p:sp>
        <p:nvSpPr>
          <p:cNvPr id="21" name="Chip 18"/>
          <p:cNvSpPr txBox="1"/>
          <p:nvPr/>
        </p:nvSpPr>
        <p:spPr>
          <a:xfrm>
            <a:off x="7040880" y="3291840"/>
            <a:ext cx="731520" cy="457200"/>
          </a:xfrm>
          <a:prstGeom prst="roundRect">
            <a:avLst>
              <a:gd name="adj" fmla="val 16000"/>
            </a:avLst>
          </a:prstGeom>
          <a:solidFill>
            <a:schemeClr val="accent3"/>
          </a:solidFill>
          <a:ln/>
        </p:spPr>
        <p:txBody>
          <a:bodyPr wrap="square" lIns="381" tIns="381" rIns="381" bIns="381" rtlCol="0" anchor="ctr"/>
          <a:lstStyle/>
          <a:p>
            <a:pPr algn="ctr" indent="0" marL="0">
              <a:buNone/>
            </a:pPr>
            <a:r>
              <a:rPr lang="en-US" sz="1400" b="1" dirty="0">
                <a:solidFill>
                  <a:schemeClr val="bg1"/>
                </a:solidFill>
              </a:rPr>
              <a:t>sat</a:t>
            </a:r>
            <a:endParaRPr lang="en-US" sz="1400" dirty="0"/>
          </a:p>
        </p:txBody>
      </p:sp>
      <p:sp>
        <p:nvSpPr>
          <p:cNvPr id="22" name="Chip 19"/>
          <p:cNvSpPr txBox="1"/>
          <p:nvPr/>
        </p:nvSpPr>
        <p:spPr>
          <a:xfrm>
            <a:off x="7863840" y="1554480"/>
            <a:ext cx="731520" cy="457200"/>
          </a:xfrm>
          <a:prstGeom prst="roundRect">
            <a:avLst>
              <a:gd name="adj" fmla="val 16000"/>
            </a:avLst>
          </a:prstGeom>
          <a:solidFill>
            <a:schemeClr val="accent5"/>
          </a:solidFill>
          <a:ln/>
        </p:spPr>
        <p:txBody>
          <a:bodyPr wrap="square" lIns="381" tIns="381" rIns="381" bIns="381" rtlCol="0" anchor="ctr"/>
          <a:lstStyle/>
          <a:p>
            <a:pPr algn="ctr" indent="0" marL="0">
              <a:buNone/>
            </a:pPr>
            <a:r>
              <a:rPr lang="en-US" sz="1400" b="1" dirty="0">
                <a:solidFill>
                  <a:schemeClr val="bg1"/>
                </a:solidFill>
              </a:rPr>
              <a:t>down</a:t>
            </a:r>
            <a:endParaRPr lang="en-US" sz="1400" dirty="0"/>
          </a:p>
        </p:txBody>
      </p:sp>
      <p:sp>
        <p:nvSpPr>
          <p:cNvPr id="23" name="Chip 20"/>
          <p:cNvSpPr txBox="1"/>
          <p:nvPr/>
        </p:nvSpPr>
        <p:spPr>
          <a:xfrm>
            <a:off x="7863840" y="3291840"/>
            <a:ext cx="731520" cy="457200"/>
          </a:xfrm>
          <a:prstGeom prst="roundRect">
            <a:avLst>
              <a:gd name="adj" fmla="val 16000"/>
            </a:avLst>
          </a:prstGeom>
          <a:solidFill>
            <a:schemeClr val="accent3"/>
          </a:solidFill>
          <a:ln/>
        </p:spPr>
        <p:txBody>
          <a:bodyPr wrap="square" lIns="381" tIns="381" rIns="381" bIns="381" rtlCol="0" anchor="ctr"/>
          <a:lstStyle/>
          <a:p>
            <a:pPr algn="ctr" indent="0" marL="0">
              <a:buNone/>
            </a:pPr>
            <a:r>
              <a:rPr lang="en-US" sz="1400" b="1" dirty="0">
                <a:solidFill>
                  <a:schemeClr val="bg1"/>
                </a:solidFill>
              </a:rPr>
              <a:t>down</a:t>
            </a:r>
            <a:endParaRPr lang="en-US" sz="1400" dirty="0"/>
          </a:p>
        </p:txBody>
      </p:sp>
      <p:sp>
        <p:nvSpPr>
          <p:cNvPr id="24" name="Chip 21"/>
          <p:cNvSpPr txBox="1"/>
          <p:nvPr/>
        </p:nvSpPr>
        <p:spPr>
          <a:xfrm>
            <a:off x="6400800" y="2487168"/>
            <a:ext cx="1188720" cy="310896"/>
          </a:xfrm>
          <a:prstGeom prst="roundRect">
            <a:avLst>
              <a:gd name="adj" fmla="val 23529"/>
            </a:avLst>
          </a:prstGeom>
          <a:solidFill>
            <a:srgbClr val="1B1F4B"/>
          </a:solidFill>
          <a:ln/>
        </p:spPr>
        <p:txBody>
          <a:bodyPr wrap="square" lIns="381" tIns="381" rIns="381" bIns="381" rtlCol="0" anchor="ctr"/>
          <a:lstStyle/>
          <a:p>
            <a:pPr algn="ctr" indent="0" marL="0">
              <a:buNone/>
            </a:pPr>
            <a:r>
              <a:rPr lang="en-US" sz="1400" i="1" dirty="0">
                <a:solidFill>
                  <a:schemeClr val="accent2"/>
                </a:solidFill>
              </a:rPr>
              <a:t>attention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What You Will Learn</a:t>
            </a:r>
            <a:endParaRPr lang="en-US" sz="3000" dirty="0"/>
          </a:p>
        </p:txBody>
      </p:sp>
      <p:sp>
        <p:nvSpPr>
          <p:cNvPr id="4" name="Card 22"/>
          <p:cNvSpPr/>
          <p:nvPr/>
        </p:nvSpPr>
        <p:spPr>
          <a:xfrm>
            <a:off x="457200" y="1143000"/>
            <a:ext cx="8229600" cy="640080"/>
          </a:xfrm>
          <a:prstGeom prst="roundRect">
            <a:avLst>
              <a:gd name="adj" fmla="val 11429"/>
            </a:avLst>
          </a:prstGeom>
          <a:solidFill>
            <a:schemeClr val="bg2"/>
          </a:solidFill>
          <a:ln/>
        </p:spPr>
      </p:sp>
      <p:sp>
        <p:nvSpPr>
          <p:cNvPr id="5" name="Badge 23"/>
          <p:cNvSpPr txBox="1"/>
          <p:nvPr/>
        </p:nvSpPr>
        <p:spPr>
          <a:xfrm>
            <a:off x="640080" y="1252728"/>
            <a:ext cx="420624" cy="420624"/>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24"/>
          <p:cNvSpPr txBox="1"/>
          <p:nvPr/>
        </p:nvSpPr>
        <p:spPr>
          <a:xfrm>
            <a:off x="1325880" y="1143000"/>
            <a:ext cx="2651760" cy="640080"/>
          </a:xfrm>
          <a:prstGeom prst="rect">
            <a:avLst/>
          </a:prstGeom>
          <a:noFill/>
          <a:ln/>
        </p:spPr>
        <p:txBody>
          <a:bodyPr wrap="square" lIns="0" tIns="0" rIns="0" bIns="0" rtlCol="0" anchor="ctr"/>
          <a:lstStyle/>
          <a:p>
            <a:pPr indent="0" marL="0">
              <a:buNone/>
            </a:pPr>
            <a:r>
              <a:rPr lang="en-US" sz="1700" b="1" dirty="0">
                <a:solidFill>
                  <a:schemeClr val="tx2"/>
                </a:solidFill>
              </a:rPr>
              <a:t>Generative AI basics</a:t>
            </a:r>
            <a:endParaRPr lang="en-US" sz="1700" dirty="0"/>
          </a:p>
        </p:txBody>
      </p:sp>
      <p:sp>
        <p:nvSpPr>
          <p:cNvPr id="7" name="Text 25"/>
          <p:cNvSpPr txBox="1"/>
          <p:nvPr/>
        </p:nvSpPr>
        <p:spPr>
          <a:xfrm>
            <a:off x="4023360" y="1143000"/>
            <a:ext cx="4572000" cy="640080"/>
          </a:xfrm>
          <a:prstGeom prst="rect">
            <a:avLst/>
          </a:prstGeom>
          <a:noFill/>
          <a:ln/>
        </p:spPr>
        <p:txBody>
          <a:bodyPr wrap="square" lIns="0" tIns="0" rIns="0" bIns="0" rtlCol="0" anchor="ctr"/>
          <a:lstStyle/>
          <a:p>
            <a:pPr indent="0" marL="0">
              <a:buNone/>
            </a:pPr>
            <a:r>
              <a:rPr lang="en-US" sz="1400" dirty="0">
                <a:solidFill>
                  <a:schemeClr val="tx1"/>
                </a:solidFill>
              </a:rPr>
              <a:t>What it is and why Transformers changed everything</a:t>
            </a:r>
            <a:endParaRPr lang="en-US" sz="1400" dirty="0"/>
          </a:p>
        </p:txBody>
      </p:sp>
      <p:sp>
        <p:nvSpPr>
          <p:cNvPr id="8" name="Card 26"/>
          <p:cNvSpPr/>
          <p:nvPr/>
        </p:nvSpPr>
        <p:spPr>
          <a:xfrm>
            <a:off x="457200" y="1874520"/>
            <a:ext cx="8229600" cy="640080"/>
          </a:xfrm>
          <a:prstGeom prst="roundRect">
            <a:avLst>
              <a:gd name="adj" fmla="val 11429"/>
            </a:avLst>
          </a:prstGeom>
          <a:solidFill>
            <a:schemeClr val="bg2"/>
          </a:solidFill>
          <a:ln/>
        </p:spPr>
      </p:sp>
      <p:sp>
        <p:nvSpPr>
          <p:cNvPr id="9" name="Badge 27"/>
          <p:cNvSpPr txBox="1"/>
          <p:nvPr/>
        </p:nvSpPr>
        <p:spPr>
          <a:xfrm>
            <a:off x="640080" y="1984248"/>
            <a:ext cx="420624" cy="420624"/>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28"/>
          <p:cNvSpPr txBox="1"/>
          <p:nvPr/>
        </p:nvSpPr>
        <p:spPr>
          <a:xfrm>
            <a:off x="1325880" y="1874520"/>
            <a:ext cx="2651760" cy="640080"/>
          </a:xfrm>
          <a:prstGeom prst="rect">
            <a:avLst/>
          </a:prstGeom>
          <a:noFill/>
          <a:ln/>
        </p:spPr>
        <p:txBody>
          <a:bodyPr wrap="square" lIns="0" tIns="0" rIns="0" bIns="0" rtlCol="0" anchor="ctr"/>
          <a:lstStyle/>
          <a:p>
            <a:pPr indent="0" marL="0">
              <a:buNone/>
            </a:pPr>
            <a:r>
              <a:rPr lang="en-US" sz="1700" b="1" dirty="0">
                <a:solidFill>
                  <a:schemeClr val="tx2"/>
                </a:solidFill>
              </a:rPr>
              <a:t>Building blocks</a:t>
            </a:r>
            <a:endParaRPr lang="en-US" sz="1700" dirty="0"/>
          </a:p>
        </p:txBody>
      </p:sp>
      <p:sp>
        <p:nvSpPr>
          <p:cNvPr id="11" name="Text 29"/>
          <p:cNvSpPr txBox="1"/>
          <p:nvPr/>
        </p:nvSpPr>
        <p:spPr>
          <a:xfrm>
            <a:off x="4023360" y="1874520"/>
            <a:ext cx="4572000" cy="640080"/>
          </a:xfrm>
          <a:prstGeom prst="rect">
            <a:avLst/>
          </a:prstGeom>
          <a:noFill/>
          <a:ln/>
        </p:spPr>
        <p:txBody>
          <a:bodyPr wrap="square" lIns="0" tIns="0" rIns="0" bIns="0" rtlCol="0" anchor="ctr"/>
          <a:lstStyle/>
          <a:p>
            <a:pPr indent="0" marL="0">
              <a:buNone/>
            </a:pPr>
            <a:r>
              <a:rPr lang="en-US" sz="1400" dirty="0">
                <a:solidFill>
                  <a:schemeClr val="tx1"/>
                </a:solidFill>
              </a:rPr>
              <a:t>Tokens, embeddings, positions and attention</a:t>
            </a:r>
            <a:endParaRPr lang="en-US" sz="1400" dirty="0"/>
          </a:p>
        </p:txBody>
      </p:sp>
      <p:sp>
        <p:nvSpPr>
          <p:cNvPr id="12" name="Card 30"/>
          <p:cNvSpPr/>
          <p:nvPr/>
        </p:nvSpPr>
        <p:spPr>
          <a:xfrm>
            <a:off x="457200" y="2606040"/>
            <a:ext cx="8229600" cy="640080"/>
          </a:xfrm>
          <a:prstGeom prst="roundRect">
            <a:avLst>
              <a:gd name="adj" fmla="val 11429"/>
            </a:avLst>
          </a:prstGeom>
          <a:solidFill>
            <a:schemeClr val="bg2"/>
          </a:solidFill>
          <a:ln/>
        </p:spPr>
      </p:sp>
      <p:sp>
        <p:nvSpPr>
          <p:cNvPr id="13" name="Badge 31"/>
          <p:cNvSpPr txBox="1"/>
          <p:nvPr/>
        </p:nvSpPr>
        <p:spPr>
          <a:xfrm>
            <a:off x="640080" y="2715768"/>
            <a:ext cx="420624" cy="420624"/>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4" name="Text 32"/>
          <p:cNvSpPr txBox="1"/>
          <p:nvPr/>
        </p:nvSpPr>
        <p:spPr>
          <a:xfrm>
            <a:off x="1325880" y="2606040"/>
            <a:ext cx="2651760" cy="640080"/>
          </a:xfrm>
          <a:prstGeom prst="rect">
            <a:avLst/>
          </a:prstGeom>
          <a:noFill/>
          <a:ln/>
        </p:spPr>
        <p:txBody>
          <a:bodyPr wrap="square" lIns="0" tIns="0" rIns="0" bIns="0" rtlCol="0" anchor="ctr"/>
          <a:lstStyle/>
          <a:p>
            <a:pPr indent="0" marL="0">
              <a:buNone/>
            </a:pPr>
            <a:r>
              <a:rPr lang="en-US" sz="1700" b="1" dirty="0">
                <a:solidFill>
                  <a:schemeClr val="tx2"/>
                </a:solidFill>
              </a:rPr>
              <a:t>The architecture</a:t>
            </a:r>
            <a:endParaRPr lang="en-US" sz="1700" dirty="0"/>
          </a:p>
        </p:txBody>
      </p:sp>
      <p:sp>
        <p:nvSpPr>
          <p:cNvPr id="15" name="Text 33"/>
          <p:cNvSpPr txBox="1"/>
          <p:nvPr/>
        </p:nvSpPr>
        <p:spPr>
          <a:xfrm>
            <a:off x="4023360" y="2606040"/>
            <a:ext cx="4572000" cy="640080"/>
          </a:xfrm>
          <a:prstGeom prst="rect">
            <a:avLst/>
          </a:prstGeom>
          <a:noFill/>
          <a:ln/>
        </p:spPr>
        <p:txBody>
          <a:bodyPr wrap="square" lIns="0" tIns="0" rIns="0" bIns="0" rtlCol="0" anchor="ctr"/>
          <a:lstStyle/>
          <a:p>
            <a:pPr indent="0" marL="0">
              <a:buNone/>
            </a:pPr>
            <a:r>
              <a:rPr lang="en-US" sz="1400" dirty="0">
                <a:solidFill>
                  <a:schemeClr val="tx1"/>
                </a:solidFill>
              </a:rPr>
              <a:t>Block diagram, encoder and decoder</a:t>
            </a:r>
            <a:endParaRPr lang="en-US" sz="1400" dirty="0"/>
          </a:p>
        </p:txBody>
      </p:sp>
      <p:sp>
        <p:nvSpPr>
          <p:cNvPr id="16" name="Card 34"/>
          <p:cNvSpPr/>
          <p:nvPr/>
        </p:nvSpPr>
        <p:spPr>
          <a:xfrm>
            <a:off x="457200" y="3337560"/>
            <a:ext cx="8229600" cy="640080"/>
          </a:xfrm>
          <a:prstGeom prst="roundRect">
            <a:avLst>
              <a:gd name="adj" fmla="val 11429"/>
            </a:avLst>
          </a:prstGeom>
          <a:solidFill>
            <a:schemeClr val="bg2"/>
          </a:solidFill>
          <a:ln/>
        </p:spPr>
      </p:sp>
      <p:sp>
        <p:nvSpPr>
          <p:cNvPr id="17" name="Badge 35"/>
          <p:cNvSpPr txBox="1"/>
          <p:nvPr/>
        </p:nvSpPr>
        <p:spPr>
          <a:xfrm>
            <a:off x="640080" y="3447288"/>
            <a:ext cx="420624" cy="420624"/>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8" name="Text 36"/>
          <p:cNvSpPr txBox="1"/>
          <p:nvPr/>
        </p:nvSpPr>
        <p:spPr>
          <a:xfrm>
            <a:off x="1325880" y="3337560"/>
            <a:ext cx="2651760" cy="640080"/>
          </a:xfrm>
          <a:prstGeom prst="rect">
            <a:avLst/>
          </a:prstGeom>
          <a:noFill/>
          <a:ln/>
        </p:spPr>
        <p:txBody>
          <a:bodyPr wrap="square" lIns="0" tIns="0" rIns="0" bIns="0" rtlCol="0" anchor="ctr"/>
          <a:lstStyle/>
          <a:p>
            <a:pPr indent="0" marL="0">
              <a:buNone/>
            </a:pPr>
            <a:r>
              <a:rPr lang="en-US" sz="1700" b="1" dirty="0">
                <a:solidFill>
                  <a:schemeClr val="tx2"/>
                </a:solidFill>
              </a:rPr>
              <a:t>Models and uses</a:t>
            </a:r>
            <a:endParaRPr lang="en-US" sz="1700" dirty="0"/>
          </a:p>
        </p:txBody>
      </p:sp>
      <p:sp>
        <p:nvSpPr>
          <p:cNvPr id="19" name="Text 37"/>
          <p:cNvSpPr txBox="1"/>
          <p:nvPr/>
        </p:nvSpPr>
        <p:spPr>
          <a:xfrm>
            <a:off x="4023360" y="3337560"/>
            <a:ext cx="4572000" cy="640080"/>
          </a:xfrm>
          <a:prstGeom prst="rect">
            <a:avLst/>
          </a:prstGeom>
          <a:noFill/>
          <a:ln/>
        </p:spPr>
        <p:txBody>
          <a:bodyPr wrap="square" lIns="0" tIns="0" rIns="0" bIns="0" rtlCol="0" anchor="ctr"/>
          <a:lstStyle/>
          <a:p>
            <a:pPr indent="0" marL="0">
              <a:buNone/>
            </a:pPr>
            <a:r>
              <a:rPr lang="en-US" sz="1400" dirty="0">
                <a:solidFill>
                  <a:schemeClr val="tx1"/>
                </a:solidFill>
              </a:rPr>
              <a:t>GPT, BERT, T5 and real-world applications</a:t>
            </a:r>
            <a:endParaRPr lang="en-US" sz="1400" dirty="0"/>
          </a:p>
        </p:txBody>
      </p:sp>
      <p:sp>
        <p:nvSpPr>
          <p:cNvPr id="20" name="Card 38"/>
          <p:cNvSpPr/>
          <p:nvPr/>
        </p:nvSpPr>
        <p:spPr>
          <a:xfrm>
            <a:off x="457200" y="4069080"/>
            <a:ext cx="8229600" cy="640080"/>
          </a:xfrm>
          <a:prstGeom prst="roundRect">
            <a:avLst>
              <a:gd name="adj" fmla="val 11429"/>
            </a:avLst>
          </a:prstGeom>
          <a:solidFill>
            <a:schemeClr val="bg2"/>
          </a:solidFill>
          <a:ln/>
        </p:spPr>
      </p:sp>
      <p:sp>
        <p:nvSpPr>
          <p:cNvPr id="21" name="Badge 39"/>
          <p:cNvSpPr txBox="1"/>
          <p:nvPr/>
        </p:nvSpPr>
        <p:spPr>
          <a:xfrm>
            <a:off x="640080" y="4178808"/>
            <a:ext cx="420624" cy="420624"/>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2" name="Text 40"/>
          <p:cNvSpPr txBox="1"/>
          <p:nvPr/>
        </p:nvSpPr>
        <p:spPr>
          <a:xfrm>
            <a:off x="1325880" y="4069080"/>
            <a:ext cx="2651760" cy="640080"/>
          </a:xfrm>
          <a:prstGeom prst="rect">
            <a:avLst/>
          </a:prstGeom>
          <a:noFill/>
          <a:ln/>
        </p:spPr>
        <p:txBody>
          <a:bodyPr wrap="square" lIns="0" tIns="0" rIns="0" bIns="0" rtlCol="0" anchor="ctr"/>
          <a:lstStyle/>
          <a:p>
            <a:pPr indent="0" marL="0">
              <a:buNone/>
            </a:pPr>
            <a:r>
              <a:rPr lang="en-US" sz="1700" b="1" dirty="0">
                <a:solidFill>
                  <a:schemeClr val="tx2"/>
                </a:solidFill>
              </a:rPr>
              <a:t>Prompt engineering</a:t>
            </a:r>
            <a:endParaRPr lang="en-US" sz="1700" dirty="0"/>
          </a:p>
        </p:txBody>
      </p:sp>
      <p:sp>
        <p:nvSpPr>
          <p:cNvPr id="23" name="Text 41"/>
          <p:cNvSpPr txBox="1"/>
          <p:nvPr/>
        </p:nvSpPr>
        <p:spPr>
          <a:xfrm>
            <a:off x="4023360" y="4069080"/>
            <a:ext cx="4572000" cy="640080"/>
          </a:xfrm>
          <a:prstGeom prst="rect">
            <a:avLst/>
          </a:prstGeom>
          <a:noFill/>
          <a:ln/>
        </p:spPr>
        <p:txBody>
          <a:bodyPr wrap="square" lIns="0" tIns="0" rIns="0" bIns="0" rtlCol="0" anchor="ctr"/>
          <a:lstStyle/>
          <a:p>
            <a:pPr indent="0" marL="0">
              <a:buNone/>
            </a:pPr>
            <a:r>
              <a:rPr lang="en-US" sz="1400" dirty="0">
                <a:solidFill>
                  <a:schemeClr val="tx1"/>
                </a:solidFill>
              </a:rPr>
              <a:t>How to get better answers from an LLM</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What Is Generative AI?</a:t>
            </a:r>
            <a:endParaRPr lang="en-US" sz="3000" dirty="0"/>
          </a:p>
        </p:txBody>
      </p:sp>
      <p:sp>
        <p:nvSpPr>
          <p:cNvPr id="4" name="Text 42"/>
          <p:cNvSpPr txBox="1"/>
          <p:nvPr/>
        </p:nvSpPr>
        <p:spPr>
          <a:xfrm>
            <a:off x="457200" y="1188720"/>
            <a:ext cx="3840480" cy="1371600"/>
          </a:xfrm>
          <a:prstGeom prst="rect">
            <a:avLst/>
          </a:prstGeom>
          <a:noFill/>
          <a:ln/>
        </p:spPr>
        <p:txBody>
          <a:bodyPr wrap="square" lIns="0" tIns="0" rIns="0" bIns="0" rtlCol="0" anchor="t"/>
          <a:lstStyle/>
          <a:p>
            <a:pPr indent="0" marL="0">
              <a:buNone/>
            </a:pPr>
            <a:r>
              <a:rPr lang="en-US" sz="1700" dirty="0">
                <a:solidFill>
                  <a:schemeClr val="tx1"/>
                </a:solidFill>
              </a:rPr>
              <a:t>Generative AI creates new content such as text, images, code and audio by learning patterns from huge amounts of data.</a:t>
            </a:r>
            <a:endParaRPr lang="en-US" sz="1700" dirty="0"/>
          </a:p>
        </p:txBody>
      </p:sp>
      <p:sp>
        <p:nvSpPr>
          <p:cNvPr id="5" name="Card 43"/>
          <p:cNvSpPr/>
          <p:nvPr/>
        </p:nvSpPr>
        <p:spPr>
          <a:xfrm>
            <a:off x="457200" y="2743200"/>
            <a:ext cx="3840480" cy="868680"/>
          </a:xfrm>
          <a:prstGeom prst="roundRect">
            <a:avLst>
              <a:gd name="adj" fmla="val 8421"/>
            </a:avLst>
          </a:prstGeom>
          <a:solidFill>
            <a:schemeClr val="bg2"/>
          </a:solidFill>
          <a:ln/>
        </p:spPr>
      </p:sp>
      <p:sp>
        <p:nvSpPr>
          <p:cNvPr id="6" name="Text 44"/>
          <p:cNvSpPr txBox="1"/>
          <p:nvPr/>
        </p:nvSpPr>
        <p:spPr>
          <a:xfrm>
            <a:off x="640080" y="2743200"/>
            <a:ext cx="3566160" cy="868680"/>
          </a:xfrm>
          <a:prstGeom prst="rect">
            <a:avLst/>
          </a:prstGeom>
          <a:noFill/>
          <a:ln/>
        </p:spPr>
        <p:txBody>
          <a:bodyPr wrap="square" lIns="0" tIns="0" rIns="0" bIns="0" rtlCol="0" anchor="ctr"/>
          <a:lstStyle/>
          <a:p>
            <a:pPr indent="0" marL="0">
              <a:buNone/>
            </a:pPr>
            <a:r>
              <a:rPr lang="en-US" sz="1400" b="1" dirty="0">
                <a:solidFill>
                  <a:schemeClr val="accent1"/>
                </a:solidFill>
              </a:rPr>
              <a:t>Traditional AI: </a:t>
            </a:r>
            <a:pPr indent="0" marL="0">
              <a:buNone/>
            </a:pPr>
            <a:r>
              <a:rPr lang="en-US" sz="1400" dirty="0">
                <a:solidFill>
                  <a:schemeClr val="tx1"/>
                </a:solidFill>
              </a:rPr>
              <a:t>“Is this email spam?”</a:t>
            </a:r>
            <a:endParaRPr lang="en-US" sz="1400" dirty="0"/>
          </a:p>
        </p:txBody>
      </p:sp>
      <p:sp>
        <p:nvSpPr>
          <p:cNvPr id="7" name="Card 45"/>
          <p:cNvSpPr/>
          <p:nvPr/>
        </p:nvSpPr>
        <p:spPr>
          <a:xfrm>
            <a:off x="457200" y="3703320"/>
            <a:ext cx="3840480" cy="868680"/>
          </a:xfrm>
          <a:prstGeom prst="roundRect">
            <a:avLst>
              <a:gd name="adj" fmla="val 8421"/>
            </a:avLst>
          </a:prstGeom>
          <a:solidFill>
            <a:schemeClr val="accent1"/>
          </a:solidFill>
          <a:ln/>
        </p:spPr>
      </p:sp>
      <p:sp>
        <p:nvSpPr>
          <p:cNvPr id="8" name="Text 46"/>
          <p:cNvSpPr txBox="1"/>
          <p:nvPr/>
        </p:nvSpPr>
        <p:spPr>
          <a:xfrm>
            <a:off x="640080" y="3703320"/>
            <a:ext cx="3566160" cy="868680"/>
          </a:xfrm>
          <a:prstGeom prst="rect">
            <a:avLst/>
          </a:prstGeom>
          <a:noFill/>
          <a:ln/>
        </p:spPr>
        <p:txBody>
          <a:bodyPr wrap="square" lIns="0" tIns="0" rIns="0" bIns="0" rtlCol="0" anchor="ctr"/>
          <a:lstStyle/>
          <a:p>
            <a:pPr indent="0" marL="0">
              <a:buNone/>
            </a:pPr>
            <a:r>
              <a:rPr lang="en-US" sz="1400" b="1" dirty="0">
                <a:solidFill>
                  <a:schemeClr val="accent2"/>
                </a:solidFill>
              </a:rPr>
              <a:t>Generative AI: </a:t>
            </a:r>
            <a:pPr indent="0" marL="0">
              <a:buNone/>
            </a:pPr>
            <a:r>
              <a:rPr lang="en-US" sz="1400" dirty="0">
                <a:solidFill>
                  <a:schemeClr val="bg1"/>
                </a:solidFill>
              </a:rPr>
              <a:t>“Write me a polite reply.”</a:t>
            </a:r>
            <a:endParaRPr lang="en-US" sz="1400" dirty="0"/>
          </a:p>
        </p:txBody>
      </p:sp>
      <p:sp>
        <p:nvSpPr>
          <p:cNvPr id="9" name="Card 47"/>
          <p:cNvSpPr/>
          <p:nvPr/>
        </p:nvSpPr>
        <p:spPr>
          <a:xfrm>
            <a:off x="4572000" y="1188720"/>
            <a:ext cx="2011680" cy="1600200"/>
          </a:xfrm>
          <a:prstGeom prst="roundRect">
            <a:avLst>
              <a:gd name="adj" fmla="val 4571"/>
            </a:avLst>
          </a:prstGeom>
          <a:solidFill>
            <a:schemeClr val="bg2"/>
          </a:solidFill>
          <a:ln/>
        </p:spPr>
      </p:sp>
      <p:sp>
        <p:nvSpPr>
          <p:cNvPr id="10" name="IconBg 48"/>
          <p:cNvSpPr/>
          <p:nvPr/>
        </p:nvSpPr>
        <p:spPr>
          <a:xfrm>
            <a:off x="4754880" y="1371600"/>
            <a:ext cx="502920" cy="502920"/>
          </a:xfrm>
          <a:prstGeom prst="ellipse">
            <a:avLst/>
          </a:prstGeom>
          <a:solidFill>
            <a:schemeClr val="accent1"/>
          </a:solidFill>
          <a:ln/>
        </p:spPr>
      </p:sp>
      <p:pic>
        <p:nvPicPr>
          <p:cNvPr id="11" name="Image 0" descr="Comments icon">    </p:cNvPr>
          <p:cNvPicPr>
            <a:picLocks noChangeAspect="1"/>
          </p:cNvPicPr>
          <p:nvPr/>
        </p:nvPicPr>
        <p:blipFill>
          <a:blip r:embed="rId1"/>
          <a:stretch>
            <a:fillRect/>
          </a:stretch>
        </p:blipFill>
        <p:spPr>
          <a:xfrm>
            <a:off x="4880610" y="1497330"/>
            <a:ext cx="251460" cy="251460"/>
          </a:xfrm>
          <a:prstGeom prst="rect">
            <a:avLst/>
          </a:prstGeom>
        </p:spPr>
      </p:pic>
      <p:sp>
        <p:nvSpPr>
          <p:cNvPr id="12" name="Text 49"/>
          <p:cNvSpPr txBox="1"/>
          <p:nvPr/>
        </p:nvSpPr>
        <p:spPr>
          <a:xfrm>
            <a:off x="4754880" y="1993392"/>
            <a:ext cx="1737360" cy="320040"/>
          </a:xfrm>
          <a:prstGeom prst="rect">
            <a:avLst/>
          </a:prstGeom>
          <a:noFill/>
          <a:ln/>
        </p:spPr>
        <p:txBody>
          <a:bodyPr wrap="square" lIns="0" tIns="0" rIns="0" bIns="0" rtlCol="0" anchor="t"/>
          <a:lstStyle/>
          <a:p>
            <a:pPr indent="0" marL="0">
              <a:buNone/>
            </a:pPr>
            <a:r>
              <a:rPr lang="en-US" sz="1800" b="1" dirty="0">
                <a:solidFill>
                  <a:schemeClr val="tx2"/>
                </a:solidFill>
              </a:rPr>
              <a:t>Text</a:t>
            </a:r>
            <a:endParaRPr lang="en-US" sz="1800" dirty="0"/>
          </a:p>
        </p:txBody>
      </p:sp>
      <p:sp>
        <p:nvSpPr>
          <p:cNvPr id="13" name="Text 50"/>
          <p:cNvSpPr txBox="1"/>
          <p:nvPr/>
        </p:nvSpPr>
        <p:spPr>
          <a:xfrm>
            <a:off x="4754880" y="2304288"/>
            <a:ext cx="1737360" cy="411480"/>
          </a:xfrm>
          <a:prstGeom prst="rect">
            <a:avLst/>
          </a:prstGeom>
          <a:noFill/>
          <a:ln/>
        </p:spPr>
        <p:txBody>
          <a:bodyPr wrap="square" lIns="0" tIns="0" rIns="0" bIns="0" rtlCol="0" anchor="t"/>
          <a:lstStyle/>
          <a:p>
            <a:pPr indent="0" marL="0">
              <a:buNone/>
            </a:pPr>
            <a:r>
              <a:rPr lang="en-US" sz="1200" dirty="0">
                <a:solidFill>
                  <a:schemeClr val="tx1"/>
                </a:solidFill>
              </a:rPr>
              <a:t>ChatGPT, Claude</a:t>
            </a:r>
            <a:endParaRPr lang="en-US" sz="1200" dirty="0"/>
          </a:p>
        </p:txBody>
      </p:sp>
      <p:sp>
        <p:nvSpPr>
          <p:cNvPr id="14" name="Card 51"/>
          <p:cNvSpPr/>
          <p:nvPr/>
        </p:nvSpPr>
        <p:spPr>
          <a:xfrm>
            <a:off x="6675120" y="1188720"/>
            <a:ext cx="2011680" cy="1600200"/>
          </a:xfrm>
          <a:prstGeom prst="roundRect">
            <a:avLst>
              <a:gd name="adj" fmla="val 4571"/>
            </a:avLst>
          </a:prstGeom>
          <a:solidFill>
            <a:schemeClr val="bg2"/>
          </a:solidFill>
          <a:ln/>
        </p:spPr>
      </p:sp>
      <p:sp>
        <p:nvSpPr>
          <p:cNvPr id="15" name="IconBg 52"/>
          <p:cNvSpPr/>
          <p:nvPr/>
        </p:nvSpPr>
        <p:spPr>
          <a:xfrm>
            <a:off x="6858000" y="1371600"/>
            <a:ext cx="502920" cy="502920"/>
          </a:xfrm>
          <a:prstGeom prst="ellipse">
            <a:avLst/>
          </a:prstGeom>
          <a:solidFill>
            <a:schemeClr val="accent5"/>
          </a:solidFill>
          <a:ln/>
        </p:spPr>
      </p:sp>
      <p:pic>
        <p:nvPicPr>
          <p:cNvPr id="16" name="Image 1" descr="Image icon">    </p:cNvPr>
          <p:cNvPicPr>
            <a:picLocks noChangeAspect="1"/>
          </p:cNvPicPr>
          <p:nvPr/>
        </p:nvPicPr>
        <p:blipFill>
          <a:blip r:embed="rId2"/>
          <a:stretch>
            <a:fillRect/>
          </a:stretch>
        </p:blipFill>
        <p:spPr>
          <a:xfrm>
            <a:off x="6983730" y="1497330"/>
            <a:ext cx="251460" cy="251460"/>
          </a:xfrm>
          <a:prstGeom prst="rect">
            <a:avLst/>
          </a:prstGeom>
        </p:spPr>
      </p:pic>
      <p:sp>
        <p:nvSpPr>
          <p:cNvPr id="17" name="Text 53"/>
          <p:cNvSpPr txBox="1"/>
          <p:nvPr/>
        </p:nvSpPr>
        <p:spPr>
          <a:xfrm>
            <a:off x="6858000" y="1993392"/>
            <a:ext cx="1737360" cy="320040"/>
          </a:xfrm>
          <a:prstGeom prst="rect">
            <a:avLst/>
          </a:prstGeom>
          <a:noFill/>
          <a:ln/>
        </p:spPr>
        <p:txBody>
          <a:bodyPr wrap="square" lIns="0" tIns="0" rIns="0" bIns="0" rtlCol="0" anchor="t"/>
          <a:lstStyle/>
          <a:p>
            <a:pPr indent="0" marL="0">
              <a:buNone/>
            </a:pPr>
            <a:r>
              <a:rPr lang="en-US" sz="1800" b="1" dirty="0">
                <a:solidFill>
                  <a:schemeClr val="tx2"/>
                </a:solidFill>
              </a:rPr>
              <a:t>Images</a:t>
            </a:r>
            <a:endParaRPr lang="en-US" sz="1800" dirty="0"/>
          </a:p>
        </p:txBody>
      </p:sp>
      <p:sp>
        <p:nvSpPr>
          <p:cNvPr id="18" name="Text 54"/>
          <p:cNvSpPr txBox="1"/>
          <p:nvPr/>
        </p:nvSpPr>
        <p:spPr>
          <a:xfrm>
            <a:off x="6858000" y="2304288"/>
            <a:ext cx="1737360" cy="411480"/>
          </a:xfrm>
          <a:prstGeom prst="rect">
            <a:avLst/>
          </a:prstGeom>
          <a:noFill/>
          <a:ln/>
        </p:spPr>
        <p:txBody>
          <a:bodyPr wrap="square" lIns="0" tIns="0" rIns="0" bIns="0" rtlCol="0" anchor="t"/>
          <a:lstStyle/>
          <a:p>
            <a:pPr indent="0" marL="0">
              <a:buNone/>
            </a:pPr>
            <a:r>
              <a:rPr lang="en-US" sz="1200" dirty="0">
                <a:solidFill>
                  <a:schemeClr val="tx1"/>
                </a:solidFill>
              </a:rPr>
              <a:t>DALL·E, Midjourney</a:t>
            </a:r>
            <a:endParaRPr lang="en-US" sz="1200" dirty="0"/>
          </a:p>
        </p:txBody>
      </p:sp>
      <p:sp>
        <p:nvSpPr>
          <p:cNvPr id="19" name="Card 55"/>
          <p:cNvSpPr/>
          <p:nvPr/>
        </p:nvSpPr>
        <p:spPr>
          <a:xfrm>
            <a:off x="4572000" y="2880360"/>
            <a:ext cx="2011680" cy="1600200"/>
          </a:xfrm>
          <a:prstGeom prst="roundRect">
            <a:avLst>
              <a:gd name="adj" fmla="val 4571"/>
            </a:avLst>
          </a:prstGeom>
          <a:solidFill>
            <a:schemeClr val="bg2"/>
          </a:solidFill>
          <a:ln/>
        </p:spPr>
      </p:sp>
      <p:sp>
        <p:nvSpPr>
          <p:cNvPr id="20" name="IconBg 56"/>
          <p:cNvSpPr/>
          <p:nvPr/>
        </p:nvSpPr>
        <p:spPr>
          <a:xfrm>
            <a:off x="4754880" y="3063240"/>
            <a:ext cx="502920" cy="502920"/>
          </a:xfrm>
          <a:prstGeom prst="ellipse">
            <a:avLst/>
          </a:prstGeom>
          <a:solidFill>
            <a:schemeClr val="accent3"/>
          </a:solidFill>
          <a:ln/>
        </p:spPr>
      </p:sp>
      <p:pic>
        <p:nvPicPr>
          <p:cNvPr id="21" name="Image 2" descr="Code icon">    </p:cNvPr>
          <p:cNvPicPr>
            <a:picLocks noChangeAspect="1"/>
          </p:cNvPicPr>
          <p:nvPr/>
        </p:nvPicPr>
        <p:blipFill>
          <a:blip r:embed="rId3"/>
          <a:stretch>
            <a:fillRect/>
          </a:stretch>
        </p:blipFill>
        <p:spPr>
          <a:xfrm>
            <a:off x="4880610" y="3188970"/>
            <a:ext cx="251460" cy="251460"/>
          </a:xfrm>
          <a:prstGeom prst="rect">
            <a:avLst/>
          </a:prstGeom>
        </p:spPr>
      </p:pic>
      <p:sp>
        <p:nvSpPr>
          <p:cNvPr id="22" name="Text 57"/>
          <p:cNvSpPr txBox="1"/>
          <p:nvPr/>
        </p:nvSpPr>
        <p:spPr>
          <a:xfrm>
            <a:off x="4754880" y="3685032"/>
            <a:ext cx="1737360" cy="320040"/>
          </a:xfrm>
          <a:prstGeom prst="rect">
            <a:avLst/>
          </a:prstGeom>
          <a:noFill/>
          <a:ln/>
        </p:spPr>
        <p:txBody>
          <a:bodyPr wrap="square" lIns="0" tIns="0" rIns="0" bIns="0" rtlCol="0" anchor="t"/>
          <a:lstStyle/>
          <a:p>
            <a:pPr indent="0" marL="0">
              <a:buNone/>
            </a:pPr>
            <a:r>
              <a:rPr lang="en-US" sz="1800" b="1" dirty="0">
                <a:solidFill>
                  <a:schemeClr val="tx2"/>
                </a:solidFill>
              </a:rPr>
              <a:t>Code</a:t>
            </a:r>
            <a:endParaRPr lang="en-US" sz="1800" dirty="0"/>
          </a:p>
        </p:txBody>
      </p:sp>
      <p:sp>
        <p:nvSpPr>
          <p:cNvPr id="23" name="Text 58"/>
          <p:cNvSpPr txBox="1"/>
          <p:nvPr/>
        </p:nvSpPr>
        <p:spPr>
          <a:xfrm>
            <a:off x="4754880" y="3995928"/>
            <a:ext cx="1737360" cy="411480"/>
          </a:xfrm>
          <a:prstGeom prst="rect">
            <a:avLst/>
          </a:prstGeom>
          <a:noFill/>
          <a:ln/>
        </p:spPr>
        <p:txBody>
          <a:bodyPr wrap="square" lIns="0" tIns="0" rIns="0" bIns="0" rtlCol="0" anchor="t"/>
          <a:lstStyle/>
          <a:p>
            <a:pPr indent="0" marL="0">
              <a:buNone/>
            </a:pPr>
            <a:r>
              <a:rPr lang="en-US" sz="1200" dirty="0">
                <a:solidFill>
                  <a:schemeClr val="tx1"/>
                </a:solidFill>
              </a:rPr>
              <a:t>GitHub Copilot</a:t>
            </a:r>
            <a:endParaRPr lang="en-US" sz="1200" dirty="0"/>
          </a:p>
        </p:txBody>
      </p:sp>
      <p:sp>
        <p:nvSpPr>
          <p:cNvPr id="24" name="Card 59"/>
          <p:cNvSpPr/>
          <p:nvPr/>
        </p:nvSpPr>
        <p:spPr>
          <a:xfrm>
            <a:off x="6675120" y="2880360"/>
            <a:ext cx="2011680" cy="1600200"/>
          </a:xfrm>
          <a:prstGeom prst="roundRect">
            <a:avLst>
              <a:gd name="adj" fmla="val 4571"/>
            </a:avLst>
          </a:prstGeom>
          <a:solidFill>
            <a:schemeClr val="bg2"/>
          </a:solidFill>
          <a:ln/>
        </p:spPr>
      </p:sp>
      <p:sp>
        <p:nvSpPr>
          <p:cNvPr id="25" name="IconBg 60"/>
          <p:cNvSpPr/>
          <p:nvPr/>
        </p:nvSpPr>
        <p:spPr>
          <a:xfrm>
            <a:off x="6858000" y="3063240"/>
            <a:ext cx="502920" cy="502920"/>
          </a:xfrm>
          <a:prstGeom prst="ellipse">
            <a:avLst/>
          </a:prstGeom>
          <a:solidFill>
            <a:schemeClr val="accent4"/>
          </a:solidFill>
          <a:ln/>
        </p:spPr>
      </p:sp>
      <p:pic>
        <p:nvPicPr>
          <p:cNvPr id="26" name="Image 3" descr="Music icon">    </p:cNvPr>
          <p:cNvPicPr>
            <a:picLocks noChangeAspect="1"/>
          </p:cNvPicPr>
          <p:nvPr/>
        </p:nvPicPr>
        <p:blipFill>
          <a:blip r:embed="rId4"/>
          <a:stretch>
            <a:fillRect/>
          </a:stretch>
        </p:blipFill>
        <p:spPr>
          <a:xfrm>
            <a:off x="6983730" y="3188970"/>
            <a:ext cx="251460" cy="251460"/>
          </a:xfrm>
          <a:prstGeom prst="rect">
            <a:avLst/>
          </a:prstGeom>
        </p:spPr>
      </p:pic>
      <p:sp>
        <p:nvSpPr>
          <p:cNvPr id="27" name="Text 61"/>
          <p:cNvSpPr txBox="1"/>
          <p:nvPr/>
        </p:nvSpPr>
        <p:spPr>
          <a:xfrm>
            <a:off x="6858000" y="3685032"/>
            <a:ext cx="1737360" cy="320040"/>
          </a:xfrm>
          <a:prstGeom prst="rect">
            <a:avLst/>
          </a:prstGeom>
          <a:noFill/>
          <a:ln/>
        </p:spPr>
        <p:txBody>
          <a:bodyPr wrap="square" lIns="0" tIns="0" rIns="0" bIns="0" rtlCol="0" anchor="t"/>
          <a:lstStyle/>
          <a:p>
            <a:pPr indent="0" marL="0">
              <a:buNone/>
            </a:pPr>
            <a:r>
              <a:rPr lang="en-US" sz="1800" b="1" dirty="0">
                <a:solidFill>
                  <a:schemeClr val="tx2"/>
                </a:solidFill>
              </a:rPr>
              <a:t>Audio</a:t>
            </a:r>
            <a:endParaRPr lang="en-US" sz="1800" dirty="0"/>
          </a:p>
        </p:txBody>
      </p:sp>
      <p:sp>
        <p:nvSpPr>
          <p:cNvPr id="28" name="Text 62"/>
          <p:cNvSpPr txBox="1"/>
          <p:nvPr/>
        </p:nvSpPr>
        <p:spPr>
          <a:xfrm>
            <a:off x="6858000" y="3995928"/>
            <a:ext cx="1737360" cy="411480"/>
          </a:xfrm>
          <a:prstGeom prst="rect">
            <a:avLst/>
          </a:prstGeom>
          <a:noFill/>
          <a:ln/>
        </p:spPr>
        <p:txBody>
          <a:bodyPr wrap="square" lIns="0" tIns="0" rIns="0" bIns="0" rtlCol="0" anchor="t"/>
          <a:lstStyle/>
          <a:p>
            <a:pPr indent="0" marL="0">
              <a:buNone/>
            </a:pPr>
            <a:r>
              <a:rPr lang="en-US" sz="1200" dirty="0">
                <a:solidFill>
                  <a:schemeClr val="tx1"/>
                </a:solidFill>
              </a:rPr>
              <a:t>Voice and music tools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Why Did We Need Transformers?</a:t>
            </a:r>
            <a:endParaRPr lang="en-US" sz="3000" dirty="0"/>
          </a:p>
        </p:txBody>
      </p:sp>
      <p:sp>
        <p:nvSpPr>
          <p:cNvPr id="4" name="Card 63"/>
          <p:cNvSpPr/>
          <p:nvPr/>
        </p:nvSpPr>
        <p:spPr>
          <a:xfrm>
            <a:off x="457200" y="1143000"/>
            <a:ext cx="3977640" cy="3520440"/>
          </a:xfrm>
          <a:prstGeom prst="roundRect">
            <a:avLst>
              <a:gd name="adj" fmla="val 2078"/>
            </a:avLst>
          </a:prstGeom>
          <a:solidFill>
            <a:schemeClr val="bg2"/>
          </a:solidFill>
          <a:ln/>
        </p:spPr>
      </p:sp>
      <p:sp>
        <p:nvSpPr>
          <p:cNvPr id="5" name="Text 64"/>
          <p:cNvSpPr txBox="1"/>
          <p:nvPr/>
        </p:nvSpPr>
        <p:spPr>
          <a:xfrm>
            <a:off x="685800" y="1280160"/>
            <a:ext cx="3566160" cy="365760"/>
          </a:xfrm>
          <a:prstGeom prst="rect">
            <a:avLst/>
          </a:prstGeom>
          <a:noFill/>
          <a:ln/>
        </p:spPr>
        <p:txBody>
          <a:bodyPr wrap="square" lIns="0" tIns="0" rIns="0" bIns="0" rtlCol="0" anchor="t"/>
          <a:lstStyle/>
          <a:p>
            <a:pPr indent="0" marL="0">
              <a:buNone/>
            </a:pPr>
            <a:r>
              <a:rPr lang="en-US" sz="1800" b="1" dirty="0">
                <a:solidFill>
                  <a:schemeClr val="accent4"/>
                </a:solidFill>
              </a:rPr>
              <a:t>Before: RNN / LSTM</a:t>
            </a:r>
            <a:endParaRPr lang="en-US" sz="1800" dirty="0"/>
          </a:p>
        </p:txBody>
      </p:sp>
      <p:sp>
        <p:nvSpPr>
          <p:cNvPr id="6" name="Chip 65"/>
          <p:cNvSpPr txBox="1"/>
          <p:nvPr/>
        </p:nvSpPr>
        <p:spPr>
          <a:xfrm>
            <a:off x="685800" y="1828800"/>
            <a:ext cx="685800" cy="365760"/>
          </a:xfrm>
          <a:prstGeom prst="roundRect">
            <a:avLst>
              <a:gd name="adj" fmla="val 20000"/>
            </a:avLst>
          </a:prstGeom>
          <a:solidFill>
            <a:schemeClr val="accent4"/>
          </a:solidFill>
          <a:ln/>
        </p:spPr>
        <p:txBody>
          <a:bodyPr wrap="square" lIns="381" tIns="381" rIns="381" bIns="381" rtlCol="0" anchor="ctr"/>
          <a:lstStyle/>
          <a:p>
            <a:pPr algn="ctr" indent="0" marL="0">
              <a:buNone/>
            </a:pPr>
            <a:r>
              <a:rPr lang="en-US" sz="1300" b="1" dirty="0">
                <a:solidFill>
                  <a:schemeClr val="bg1"/>
                </a:solidFill>
              </a:rPr>
              <a:t>The</a:t>
            </a:r>
            <a:endParaRPr lang="en-US" sz="1300" dirty="0"/>
          </a:p>
        </p:txBody>
      </p:sp>
      <p:sp>
        <p:nvSpPr>
          <p:cNvPr id="7" name="Text 66"/>
          <p:cNvSpPr txBox="1"/>
          <p:nvPr/>
        </p:nvSpPr>
        <p:spPr>
          <a:xfrm>
            <a:off x="1371600" y="1828800"/>
            <a:ext cx="228600" cy="36576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8" name="Chip 67"/>
          <p:cNvSpPr txBox="1"/>
          <p:nvPr/>
        </p:nvSpPr>
        <p:spPr>
          <a:xfrm>
            <a:off x="1600200" y="1828800"/>
            <a:ext cx="685800" cy="365760"/>
          </a:xfrm>
          <a:prstGeom prst="roundRect">
            <a:avLst>
              <a:gd name="adj" fmla="val 20000"/>
            </a:avLst>
          </a:prstGeom>
          <a:solidFill>
            <a:schemeClr val="accent4"/>
          </a:solidFill>
          <a:ln/>
        </p:spPr>
        <p:txBody>
          <a:bodyPr wrap="square" lIns="381" tIns="381" rIns="381" bIns="381" rtlCol="0" anchor="ctr"/>
          <a:lstStyle/>
          <a:p>
            <a:pPr algn="ctr" indent="0" marL="0">
              <a:buNone/>
            </a:pPr>
            <a:r>
              <a:rPr lang="en-US" sz="1300" b="1" dirty="0">
                <a:solidFill>
                  <a:schemeClr val="bg1"/>
                </a:solidFill>
              </a:rPr>
              <a:t>cat</a:t>
            </a:r>
            <a:endParaRPr lang="en-US" sz="1300" dirty="0"/>
          </a:p>
        </p:txBody>
      </p:sp>
      <p:sp>
        <p:nvSpPr>
          <p:cNvPr id="9" name="Text 68"/>
          <p:cNvSpPr txBox="1"/>
          <p:nvPr/>
        </p:nvSpPr>
        <p:spPr>
          <a:xfrm>
            <a:off x="2286000" y="1828800"/>
            <a:ext cx="228600" cy="36576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10" name="Chip 69"/>
          <p:cNvSpPr txBox="1"/>
          <p:nvPr/>
        </p:nvSpPr>
        <p:spPr>
          <a:xfrm>
            <a:off x="2514600" y="1828800"/>
            <a:ext cx="685800" cy="365760"/>
          </a:xfrm>
          <a:prstGeom prst="roundRect">
            <a:avLst>
              <a:gd name="adj" fmla="val 20000"/>
            </a:avLst>
          </a:prstGeom>
          <a:solidFill>
            <a:schemeClr val="accent4"/>
          </a:solidFill>
          <a:ln/>
        </p:spPr>
        <p:txBody>
          <a:bodyPr wrap="square" lIns="381" tIns="381" rIns="381" bIns="381" rtlCol="0" anchor="ctr"/>
          <a:lstStyle/>
          <a:p>
            <a:pPr algn="ctr" indent="0" marL="0">
              <a:buNone/>
            </a:pPr>
            <a:r>
              <a:rPr lang="en-US" sz="1300" b="1" dirty="0">
                <a:solidFill>
                  <a:schemeClr val="bg1"/>
                </a:solidFill>
              </a:rPr>
              <a:t>sat</a:t>
            </a:r>
            <a:endParaRPr lang="en-US" sz="1300" dirty="0"/>
          </a:p>
        </p:txBody>
      </p:sp>
      <p:sp>
        <p:nvSpPr>
          <p:cNvPr id="11" name="Text 70"/>
          <p:cNvSpPr txBox="1"/>
          <p:nvPr/>
        </p:nvSpPr>
        <p:spPr>
          <a:xfrm>
            <a:off x="3200400" y="1828800"/>
            <a:ext cx="228600" cy="365760"/>
          </a:xfrm>
          <a:prstGeom prst="rect">
            <a:avLst/>
          </a:prstGeom>
          <a:noFill/>
          <a:ln/>
        </p:spPr>
        <p:txBody>
          <a:bodyPr wrap="square" lIns="0" tIns="0" rIns="0" bIns="0" rtlCol="0" anchor="ctr"/>
          <a:lstStyle/>
          <a:p>
            <a:pPr algn="ctr" indent="0" marL="0">
              <a:buNone/>
            </a:pPr>
            <a:r>
              <a:rPr lang="en-US" sz="1800" b="1" dirty="0">
                <a:solidFill>
                  <a:schemeClr val="accent4"/>
                </a:solidFill>
              </a:rPr>
              <a:t>›</a:t>
            </a:r>
            <a:endParaRPr lang="en-US" sz="1800" dirty="0"/>
          </a:p>
        </p:txBody>
      </p:sp>
      <p:sp>
        <p:nvSpPr>
          <p:cNvPr id="12" name="Chip 71"/>
          <p:cNvSpPr txBox="1"/>
          <p:nvPr/>
        </p:nvSpPr>
        <p:spPr>
          <a:xfrm>
            <a:off x="3429000" y="1828800"/>
            <a:ext cx="685800" cy="365760"/>
          </a:xfrm>
          <a:prstGeom prst="roundRect">
            <a:avLst>
              <a:gd name="adj" fmla="val 20000"/>
            </a:avLst>
          </a:prstGeom>
          <a:solidFill>
            <a:schemeClr val="accent4"/>
          </a:solidFill>
          <a:ln/>
        </p:spPr>
        <p:txBody>
          <a:bodyPr wrap="square" lIns="381" tIns="381" rIns="381" bIns="381" rtlCol="0" anchor="ctr"/>
          <a:lstStyle/>
          <a:p>
            <a:pPr algn="ctr" indent="0" marL="0">
              <a:buNone/>
            </a:pPr>
            <a:r>
              <a:rPr lang="en-US" sz="1300" b="1" dirty="0">
                <a:solidFill>
                  <a:schemeClr val="bg1"/>
                </a:solidFill>
              </a:rPr>
              <a:t>down</a:t>
            </a:r>
            <a:endParaRPr lang="en-US" sz="1300" dirty="0"/>
          </a:p>
        </p:txBody>
      </p:sp>
      <p:sp>
        <p:nvSpPr>
          <p:cNvPr id="13" name="Text 72"/>
          <p:cNvSpPr txBox="1"/>
          <p:nvPr/>
        </p:nvSpPr>
        <p:spPr>
          <a:xfrm>
            <a:off x="685800" y="2606040"/>
            <a:ext cx="356616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Reads one word at a time</a:t>
            </a:r>
            <a:endParaRPr lang="en-US" sz="1600" dirty="0"/>
          </a:p>
          <a:p>
            <a:pPr marL="342900" indent="-342900">
              <a:spcAft>
                <a:spcPts val="800"/>
              </a:spcAft>
              <a:buSzPct val="100000"/>
              <a:buChar char="•"/>
            </a:pPr>
            <a:r>
              <a:rPr lang="en-US" sz="1600" dirty="0">
                <a:solidFill>
                  <a:schemeClr val="tx1"/>
                </a:solidFill>
              </a:rPr>
              <a:t>Slow: cannot run in parallel</a:t>
            </a:r>
            <a:endParaRPr lang="en-US" sz="1600" dirty="0"/>
          </a:p>
          <a:p>
            <a:pPr marL="342900" indent="-342900">
              <a:spcAft>
                <a:spcPts val="800"/>
              </a:spcAft>
              <a:buSzPct val="100000"/>
              <a:buChar char="•"/>
            </a:pPr>
            <a:r>
              <a:rPr lang="en-US" sz="1600" dirty="0">
                <a:solidFill>
                  <a:schemeClr val="tx1"/>
                </a:solidFill>
              </a:rPr>
              <a:t>Forgets words far back</a:t>
            </a:r>
            <a:endParaRPr lang="en-US" sz="1600" dirty="0"/>
          </a:p>
        </p:txBody>
      </p:sp>
      <p:sp>
        <p:nvSpPr>
          <p:cNvPr id="14" name="Card 73"/>
          <p:cNvSpPr/>
          <p:nvPr/>
        </p:nvSpPr>
        <p:spPr>
          <a:xfrm>
            <a:off x="4709160" y="1143000"/>
            <a:ext cx="3977640" cy="3520440"/>
          </a:xfrm>
          <a:prstGeom prst="roundRect">
            <a:avLst>
              <a:gd name="adj" fmla="val 2078"/>
            </a:avLst>
          </a:prstGeom>
          <a:solidFill>
            <a:schemeClr val="tx2"/>
          </a:solidFill>
          <a:ln/>
        </p:spPr>
      </p:sp>
      <p:sp>
        <p:nvSpPr>
          <p:cNvPr id="15" name="Text 74"/>
          <p:cNvSpPr txBox="1"/>
          <p:nvPr/>
        </p:nvSpPr>
        <p:spPr>
          <a:xfrm>
            <a:off x="4937760" y="1280160"/>
            <a:ext cx="3566160" cy="365760"/>
          </a:xfrm>
          <a:prstGeom prst="rect">
            <a:avLst/>
          </a:prstGeom>
          <a:noFill/>
          <a:ln/>
        </p:spPr>
        <p:txBody>
          <a:bodyPr wrap="square" lIns="0" tIns="0" rIns="0" bIns="0" rtlCol="0" anchor="t"/>
          <a:lstStyle/>
          <a:p>
            <a:pPr indent="0" marL="0">
              <a:buNone/>
            </a:pPr>
            <a:r>
              <a:rPr lang="en-US" sz="1800" b="1" dirty="0">
                <a:solidFill>
                  <a:schemeClr val="accent2"/>
                </a:solidFill>
              </a:rPr>
              <a:t>After: Transformer (2017)</a:t>
            </a:r>
            <a:endParaRPr lang="en-US" sz="1800" dirty="0"/>
          </a:p>
        </p:txBody>
      </p:sp>
      <p:sp>
        <p:nvSpPr>
          <p:cNvPr id="16" name="Chip 75"/>
          <p:cNvSpPr txBox="1"/>
          <p:nvPr/>
        </p:nvSpPr>
        <p:spPr>
          <a:xfrm>
            <a:off x="4937760" y="1828800"/>
            <a:ext cx="685800" cy="365760"/>
          </a:xfrm>
          <a:prstGeom prst="roundRect">
            <a:avLst>
              <a:gd name="adj" fmla="val 20000"/>
            </a:avLst>
          </a:prstGeom>
          <a:solidFill>
            <a:schemeClr val="accent3"/>
          </a:solidFill>
          <a:ln/>
        </p:spPr>
        <p:txBody>
          <a:bodyPr wrap="square" lIns="381" tIns="381" rIns="381" bIns="381" rtlCol="0" anchor="ctr"/>
          <a:lstStyle/>
          <a:p>
            <a:pPr algn="ctr" indent="0" marL="0">
              <a:buNone/>
            </a:pPr>
            <a:r>
              <a:rPr lang="en-US" sz="1300" b="1" dirty="0">
                <a:solidFill>
                  <a:schemeClr val="bg1"/>
                </a:solidFill>
              </a:rPr>
              <a:t>The</a:t>
            </a:r>
            <a:endParaRPr lang="en-US" sz="1300" dirty="0"/>
          </a:p>
        </p:txBody>
      </p:sp>
      <p:sp>
        <p:nvSpPr>
          <p:cNvPr id="17" name="Line 76"/>
          <p:cNvSpPr/>
          <p:nvPr/>
        </p:nvSpPr>
        <p:spPr>
          <a:xfrm>
            <a:off x="5280660" y="2194560"/>
            <a:ext cx="0" cy="182880"/>
          </a:xfrm>
          <a:prstGeom prst="line">
            <a:avLst/>
          </a:prstGeom>
          <a:noFill/>
          <a:ln w="25400">
            <a:solidFill>
              <a:schemeClr val="accent2"/>
            </a:solidFill>
            <a:prstDash val="solid"/>
          </a:ln>
        </p:spPr>
      </p:sp>
      <p:sp>
        <p:nvSpPr>
          <p:cNvPr id="18" name="Chip 77"/>
          <p:cNvSpPr txBox="1"/>
          <p:nvPr/>
        </p:nvSpPr>
        <p:spPr>
          <a:xfrm>
            <a:off x="5852160" y="1828800"/>
            <a:ext cx="685800" cy="365760"/>
          </a:xfrm>
          <a:prstGeom prst="roundRect">
            <a:avLst>
              <a:gd name="adj" fmla="val 20000"/>
            </a:avLst>
          </a:prstGeom>
          <a:solidFill>
            <a:schemeClr val="accent3"/>
          </a:solidFill>
          <a:ln/>
        </p:spPr>
        <p:txBody>
          <a:bodyPr wrap="square" lIns="381" tIns="381" rIns="381" bIns="381" rtlCol="0" anchor="ctr"/>
          <a:lstStyle/>
          <a:p>
            <a:pPr algn="ctr" indent="0" marL="0">
              <a:buNone/>
            </a:pPr>
            <a:r>
              <a:rPr lang="en-US" sz="1300" b="1" dirty="0">
                <a:solidFill>
                  <a:schemeClr val="bg1"/>
                </a:solidFill>
              </a:rPr>
              <a:t>cat</a:t>
            </a:r>
            <a:endParaRPr lang="en-US" sz="1300" dirty="0"/>
          </a:p>
        </p:txBody>
      </p:sp>
      <p:sp>
        <p:nvSpPr>
          <p:cNvPr id="19" name="Line 78"/>
          <p:cNvSpPr/>
          <p:nvPr/>
        </p:nvSpPr>
        <p:spPr>
          <a:xfrm>
            <a:off x="6195060" y="2194560"/>
            <a:ext cx="0" cy="182880"/>
          </a:xfrm>
          <a:prstGeom prst="line">
            <a:avLst/>
          </a:prstGeom>
          <a:noFill/>
          <a:ln w="25400">
            <a:solidFill>
              <a:schemeClr val="accent2"/>
            </a:solidFill>
            <a:prstDash val="solid"/>
          </a:ln>
        </p:spPr>
      </p:sp>
      <p:sp>
        <p:nvSpPr>
          <p:cNvPr id="20" name="Chip 79"/>
          <p:cNvSpPr txBox="1"/>
          <p:nvPr/>
        </p:nvSpPr>
        <p:spPr>
          <a:xfrm>
            <a:off x="6766560" y="1828800"/>
            <a:ext cx="685800" cy="365760"/>
          </a:xfrm>
          <a:prstGeom prst="roundRect">
            <a:avLst>
              <a:gd name="adj" fmla="val 20000"/>
            </a:avLst>
          </a:prstGeom>
          <a:solidFill>
            <a:schemeClr val="accent3"/>
          </a:solidFill>
          <a:ln/>
        </p:spPr>
        <p:txBody>
          <a:bodyPr wrap="square" lIns="381" tIns="381" rIns="381" bIns="381" rtlCol="0" anchor="ctr"/>
          <a:lstStyle/>
          <a:p>
            <a:pPr algn="ctr" indent="0" marL="0">
              <a:buNone/>
            </a:pPr>
            <a:r>
              <a:rPr lang="en-US" sz="1300" b="1" dirty="0">
                <a:solidFill>
                  <a:schemeClr val="bg1"/>
                </a:solidFill>
              </a:rPr>
              <a:t>sat</a:t>
            </a:r>
            <a:endParaRPr lang="en-US" sz="1300" dirty="0"/>
          </a:p>
        </p:txBody>
      </p:sp>
      <p:sp>
        <p:nvSpPr>
          <p:cNvPr id="21" name="Line 80"/>
          <p:cNvSpPr/>
          <p:nvPr/>
        </p:nvSpPr>
        <p:spPr>
          <a:xfrm>
            <a:off x="7109460" y="2194560"/>
            <a:ext cx="0" cy="182880"/>
          </a:xfrm>
          <a:prstGeom prst="line">
            <a:avLst/>
          </a:prstGeom>
          <a:noFill/>
          <a:ln w="25400">
            <a:solidFill>
              <a:schemeClr val="accent2"/>
            </a:solidFill>
            <a:prstDash val="solid"/>
          </a:ln>
        </p:spPr>
      </p:sp>
      <p:sp>
        <p:nvSpPr>
          <p:cNvPr id="22" name="Chip 81"/>
          <p:cNvSpPr txBox="1"/>
          <p:nvPr/>
        </p:nvSpPr>
        <p:spPr>
          <a:xfrm>
            <a:off x="7680960" y="1828800"/>
            <a:ext cx="685800" cy="365760"/>
          </a:xfrm>
          <a:prstGeom prst="roundRect">
            <a:avLst>
              <a:gd name="adj" fmla="val 20000"/>
            </a:avLst>
          </a:prstGeom>
          <a:solidFill>
            <a:schemeClr val="accent3"/>
          </a:solidFill>
          <a:ln/>
        </p:spPr>
        <p:txBody>
          <a:bodyPr wrap="square" lIns="381" tIns="381" rIns="381" bIns="381" rtlCol="0" anchor="ctr"/>
          <a:lstStyle/>
          <a:p>
            <a:pPr algn="ctr" indent="0" marL="0">
              <a:buNone/>
            </a:pPr>
            <a:r>
              <a:rPr lang="en-US" sz="1300" b="1" dirty="0">
                <a:solidFill>
                  <a:schemeClr val="bg1"/>
                </a:solidFill>
              </a:rPr>
              <a:t>down</a:t>
            </a:r>
            <a:endParaRPr lang="en-US" sz="1300" dirty="0"/>
          </a:p>
        </p:txBody>
      </p:sp>
      <p:sp>
        <p:nvSpPr>
          <p:cNvPr id="23" name="Line 82"/>
          <p:cNvSpPr/>
          <p:nvPr/>
        </p:nvSpPr>
        <p:spPr>
          <a:xfrm>
            <a:off x="8023860" y="2194560"/>
            <a:ext cx="0" cy="182880"/>
          </a:xfrm>
          <a:prstGeom prst="line">
            <a:avLst/>
          </a:prstGeom>
          <a:noFill/>
          <a:ln w="25400">
            <a:solidFill>
              <a:schemeClr val="accent2"/>
            </a:solidFill>
            <a:prstDash val="solid"/>
          </a:ln>
        </p:spPr>
      </p:sp>
      <p:sp>
        <p:nvSpPr>
          <p:cNvPr id="24" name="Bar 83"/>
          <p:cNvSpPr/>
          <p:nvPr/>
        </p:nvSpPr>
        <p:spPr>
          <a:xfrm>
            <a:off x="5280660" y="2377440"/>
            <a:ext cx="2743200" cy="73152"/>
          </a:xfrm>
          <a:prstGeom prst="rect">
            <a:avLst/>
          </a:prstGeom>
          <a:solidFill>
            <a:schemeClr val="accent2"/>
          </a:solidFill>
          <a:ln/>
        </p:spPr>
      </p:sp>
      <p:sp>
        <p:nvSpPr>
          <p:cNvPr id="25" name="Text 84"/>
          <p:cNvSpPr txBox="1"/>
          <p:nvPr/>
        </p:nvSpPr>
        <p:spPr>
          <a:xfrm>
            <a:off x="4937760" y="2606040"/>
            <a:ext cx="356616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Reads the whole sentence at once</a:t>
            </a:r>
            <a:endParaRPr lang="en-US" sz="1600" dirty="0"/>
          </a:p>
          <a:p>
            <a:pPr marL="342900" indent="-342900">
              <a:spcAft>
                <a:spcPts val="800"/>
              </a:spcAft>
              <a:buSzPct val="100000"/>
              <a:buChar char="•"/>
            </a:pPr>
            <a:r>
              <a:rPr lang="en-US" sz="1600" dirty="0">
                <a:solidFill>
                  <a:schemeClr val="bg1"/>
                </a:solidFill>
              </a:rPr>
              <a:t>Fast: parallel on GPUs</a:t>
            </a:r>
            <a:endParaRPr lang="en-US" sz="1600" dirty="0"/>
          </a:p>
          <a:p>
            <a:pPr marL="342900" indent="-342900">
              <a:spcAft>
                <a:spcPts val="800"/>
              </a:spcAft>
              <a:buSzPct val="100000"/>
              <a:buChar char="•"/>
            </a:pPr>
            <a:r>
              <a:rPr lang="en-US" sz="1600" dirty="0">
                <a:solidFill>
                  <a:schemeClr val="bg1"/>
                </a:solidFill>
              </a:rPr>
              <a:t>Attention links any two words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Transformer: The Big Picture</a:t>
            </a:r>
            <a:endParaRPr lang="en-US" sz="3000" dirty="0"/>
          </a:p>
        </p:txBody>
      </p:sp>
      <p:sp>
        <p:nvSpPr>
          <p:cNvPr id="4" name="Card 85"/>
          <p:cNvSpPr/>
          <p:nvPr/>
        </p:nvSpPr>
        <p:spPr>
          <a:xfrm>
            <a:off x="457200" y="1188720"/>
            <a:ext cx="2194560" cy="1554480"/>
          </a:xfrm>
          <a:prstGeom prst="roundRect">
            <a:avLst>
              <a:gd name="adj" fmla="val 4706"/>
            </a:avLst>
          </a:prstGeom>
          <a:solidFill>
            <a:schemeClr val="bg2"/>
          </a:solidFill>
          <a:ln/>
        </p:spPr>
      </p:sp>
      <p:sp>
        <p:nvSpPr>
          <p:cNvPr id="5" name="Text 86"/>
          <p:cNvSpPr txBox="1"/>
          <p:nvPr/>
        </p:nvSpPr>
        <p:spPr>
          <a:xfrm>
            <a:off x="640080" y="1325880"/>
            <a:ext cx="1828800" cy="228600"/>
          </a:xfrm>
          <a:prstGeom prst="rect">
            <a:avLst/>
          </a:prstGeom>
          <a:noFill/>
          <a:ln/>
        </p:spPr>
        <p:txBody>
          <a:bodyPr wrap="square" lIns="0" tIns="0" rIns="0" bIns="0" rtlCol="0" anchor="t"/>
          <a:lstStyle/>
          <a:p>
            <a:pPr indent="0" marL="0">
              <a:buNone/>
            </a:pPr>
            <a:r>
              <a:rPr lang="en-US" sz="1100" b="1" dirty="0">
                <a:solidFill>
                  <a:schemeClr val="accent1"/>
                </a:solidFill>
              </a:rPr>
              <a:t>YOU TYPE</a:t>
            </a:r>
            <a:endParaRPr lang="en-US" sz="1100" dirty="0"/>
          </a:p>
        </p:txBody>
      </p:sp>
      <p:sp>
        <p:nvSpPr>
          <p:cNvPr id="6" name="Text 87"/>
          <p:cNvSpPr txBox="1"/>
          <p:nvPr/>
        </p:nvSpPr>
        <p:spPr>
          <a:xfrm>
            <a:off x="640080" y="1645920"/>
            <a:ext cx="1828800" cy="914400"/>
          </a:xfrm>
          <a:prstGeom prst="rect">
            <a:avLst/>
          </a:prstGeom>
          <a:noFill/>
          <a:ln/>
        </p:spPr>
        <p:txBody>
          <a:bodyPr wrap="square" lIns="0" tIns="0" rIns="0" bIns="0" rtlCol="0" anchor="t"/>
          <a:lstStyle/>
          <a:p>
            <a:pPr indent="0" marL="0">
              <a:buNone/>
            </a:pPr>
            <a:r>
              <a:rPr lang="en-US" sz="1600" b="1" dirty="0">
                <a:solidFill>
                  <a:schemeClr val="tx2"/>
                </a:solidFill>
              </a:rPr>
              <a:t>“Write a poem about rain”</a:t>
            </a:r>
            <a:endParaRPr lang="en-US" sz="1600" dirty="0"/>
          </a:p>
        </p:txBody>
      </p:sp>
      <p:sp>
        <p:nvSpPr>
          <p:cNvPr id="7" name="Arrow 88"/>
          <p:cNvSpPr/>
          <p:nvPr/>
        </p:nvSpPr>
        <p:spPr>
          <a:xfrm>
            <a:off x="2651760" y="1965960"/>
            <a:ext cx="274320" cy="0"/>
          </a:xfrm>
          <a:prstGeom prst="line">
            <a:avLst/>
          </a:prstGeom>
          <a:noFill/>
          <a:ln w="31750">
            <a:solidFill>
              <a:schemeClr val="accent2"/>
            </a:solidFill>
            <a:prstDash val="solid"/>
            <a:tailEnd type="triangle"/>
          </a:ln>
        </p:spPr>
      </p:sp>
      <p:sp>
        <p:nvSpPr>
          <p:cNvPr id="8" name="Card 89"/>
          <p:cNvSpPr/>
          <p:nvPr/>
        </p:nvSpPr>
        <p:spPr>
          <a:xfrm>
            <a:off x="2926080" y="1188720"/>
            <a:ext cx="2926080" cy="1554480"/>
          </a:xfrm>
          <a:prstGeom prst="roundRect">
            <a:avLst>
              <a:gd name="adj" fmla="val 4706"/>
            </a:avLst>
          </a:prstGeom>
          <a:solidFill>
            <a:schemeClr val="tx2"/>
          </a:solidFill>
          <a:ln/>
        </p:spPr>
      </p:sp>
      <p:sp>
        <p:nvSpPr>
          <p:cNvPr id="9" name="IconBg 90"/>
          <p:cNvSpPr/>
          <p:nvPr/>
        </p:nvSpPr>
        <p:spPr>
          <a:xfrm>
            <a:off x="4114800" y="1298448"/>
            <a:ext cx="548640" cy="548640"/>
          </a:xfrm>
          <a:prstGeom prst="ellipse">
            <a:avLst/>
          </a:prstGeom>
          <a:solidFill>
            <a:schemeClr val="accent5"/>
          </a:solidFill>
          <a:ln/>
        </p:spPr>
      </p:sp>
      <p:pic>
        <p:nvPicPr>
          <p:cNvPr id="10" name="Image 0" descr="Brain icon">    </p:cNvPr>
          <p:cNvPicPr>
            <a:picLocks noChangeAspect="1"/>
          </p:cNvPicPr>
          <p:nvPr/>
        </p:nvPicPr>
        <p:blipFill>
          <a:blip r:embed="rId1"/>
          <a:stretch>
            <a:fillRect/>
          </a:stretch>
        </p:blipFill>
        <p:spPr>
          <a:xfrm>
            <a:off x="4251960" y="1435608"/>
            <a:ext cx="274320" cy="274320"/>
          </a:xfrm>
          <a:prstGeom prst="rect">
            <a:avLst/>
          </a:prstGeom>
        </p:spPr>
      </p:pic>
      <p:sp>
        <p:nvSpPr>
          <p:cNvPr id="11" name="Text 91"/>
          <p:cNvSpPr txBox="1"/>
          <p:nvPr/>
        </p:nvSpPr>
        <p:spPr>
          <a:xfrm>
            <a:off x="3017520" y="1938528"/>
            <a:ext cx="2743200" cy="365760"/>
          </a:xfrm>
          <a:prstGeom prst="rect">
            <a:avLst/>
          </a:prstGeom>
          <a:noFill/>
          <a:ln/>
        </p:spPr>
        <p:txBody>
          <a:bodyPr wrap="square" lIns="0" tIns="0" rIns="0" bIns="0" rtlCol="0" anchor="t"/>
          <a:lstStyle/>
          <a:p>
            <a:pPr algn="ctr" indent="0" marL="0">
              <a:buNone/>
            </a:pPr>
            <a:r>
              <a:rPr lang="en-US" sz="2000" b="1" dirty="0">
                <a:solidFill>
                  <a:schemeClr val="bg1"/>
                </a:solidFill>
              </a:rPr>
              <a:t>Transformer</a:t>
            </a:r>
            <a:endParaRPr lang="en-US" sz="2000" dirty="0"/>
          </a:p>
        </p:txBody>
      </p:sp>
      <p:sp>
        <p:nvSpPr>
          <p:cNvPr id="12" name="Text 92"/>
          <p:cNvSpPr txBox="1"/>
          <p:nvPr/>
        </p:nvSpPr>
        <p:spPr>
          <a:xfrm>
            <a:off x="3017520" y="2331720"/>
            <a:ext cx="2743200" cy="274320"/>
          </a:xfrm>
          <a:prstGeom prst="rect">
            <a:avLst/>
          </a:prstGeom>
          <a:noFill/>
          <a:ln/>
        </p:spPr>
        <p:txBody>
          <a:bodyPr wrap="square" lIns="0" tIns="0" rIns="0" bIns="0" rtlCol="0" anchor="t"/>
          <a:lstStyle/>
          <a:p>
            <a:pPr algn="ctr" indent="0" marL="0">
              <a:buNone/>
            </a:pPr>
            <a:r>
              <a:rPr lang="en-US" sz="1200" dirty="0">
                <a:solidFill>
                  <a:schemeClr val="bg2"/>
                </a:solidFill>
              </a:rPr>
              <a:t>attention + neural network</a:t>
            </a:r>
            <a:endParaRPr lang="en-US" sz="1200" dirty="0"/>
          </a:p>
        </p:txBody>
      </p:sp>
      <p:sp>
        <p:nvSpPr>
          <p:cNvPr id="13" name="Arrow 93"/>
          <p:cNvSpPr/>
          <p:nvPr/>
        </p:nvSpPr>
        <p:spPr>
          <a:xfrm>
            <a:off x="5852160" y="1965960"/>
            <a:ext cx="274320" cy="0"/>
          </a:xfrm>
          <a:prstGeom prst="line">
            <a:avLst/>
          </a:prstGeom>
          <a:noFill/>
          <a:ln w="31750">
            <a:solidFill>
              <a:schemeClr val="accent2"/>
            </a:solidFill>
            <a:prstDash val="solid"/>
            <a:tailEnd type="triangle"/>
          </a:ln>
        </p:spPr>
      </p:sp>
      <p:sp>
        <p:nvSpPr>
          <p:cNvPr id="14" name="Card 94"/>
          <p:cNvSpPr/>
          <p:nvPr/>
        </p:nvSpPr>
        <p:spPr>
          <a:xfrm>
            <a:off x="6126480" y="1188720"/>
            <a:ext cx="2560320" cy="1554480"/>
          </a:xfrm>
          <a:prstGeom prst="roundRect">
            <a:avLst>
              <a:gd name="adj" fmla="val 4706"/>
            </a:avLst>
          </a:prstGeom>
          <a:solidFill>
            <a:schemeClr val="accent3"/>
          </a:solidFill>
          <a:ln/>
        </p:spPr>
      </p:sp>
      <p:sp>
        <p:nvSpPr>
          <p:cNvPr id="15" name="Text 95"/>
          <p:cNvSpPr txBox="1"/>
          <p:nvPr/>
        </p:nvSpPr>
        <p:spPr>
          <a:xfrm>
            <a:off x="6309360" y="1325880"/>
            <a:ext cx="2194560" cy="228600"/>
          </a:xfrm>
          <a:prstGeom prst="rect">
            <a:avLst/>
          </a:prstGeom>
          <a:noFill/>
          <a:ln/>
        </p:spPr>
        <p:txBody>
          <a:bodyPr wrap="square" lIns="0" tIns="0" rIns="0" bIns="0" rtlCol="0" anchor="t"/>
          <a:lstStyle/>
          <a:p>
            <a:pPr indent="0" marL="0">
              <a:buNone/>
            </a:pPr>
            <a:r>
              <a:rPr lang="en-US" sz="1100" b="1" dirty="0">
                <a:solidFill>
                  <a:schemeClr val="bg1"/>
                </a:solidFill>
              </a:rPr>
              <a:t>AI REPLIES</a:t>
            </a:r>
            <a:endParaRPr lang="en-US" sz="1100" dirty="0"/>
          </a:p>
        </p:txBody>
      </p:sp>
      <p:sp>
        <p:nvSpPr>
          <p:cNvPr id="16" name="Text 96"/>
          <p:cNvSpPr txBox="1"/>
          <p:nvPr/>
        </p:nvSpPr>
        <p:spPr>
          <a:xfrm>
            <a:off x="6309360" y="1645920"/>
            <a:ext cx="2194560" cy="914400"/>
          </a:xfrm>
          <a:prstGeom prst="rect">
            <a:avLst/>
          </a:prstGeom>
          <a:noFill/>
          <a:ln/>
        </p:spPr>
        <p:txBody>
          <a:bodyPr wrap="square" lIns="0" tIns="0" rIns="0" bIns="0" rtlCol="0" anchor="t"/>
          <a:lstStyle/>
          <a:p>
            <a:pPr indent="0" marL="0">
              <a:buNone/>
            </a:pPr>
            <a:r>
              <a:rPr lang="en-US" sz="1500" i="1" dirty="0">
                <a:solidFill>
                  <a:schemeClr val="bg1"/>
                </a:solidFill>
              </a:rPr>
              <a:t>“Rain taps the window, soft and slow…”</a:t>
            </a:r>
            <a:endParaRPr lang="en-US" sz="1500" dirty="0"/>
          </a:p>
        </p:txBody>
      </p:sp>
      <p:sp>
        <p:nvSpPr>
          <p:cNvPr id="17" name="Card 97"/>
          <p:cNvSpPr/>
          <p:nvPr/>
        </p:nvSpPr>
        <p:spPr>
          <a:xfrm>
            <a:off x="457200" y="3017520"/>
            <a:ext cx="8229600" cy="1645920"/>
          </a:xfrm>
          <a:prstGeom prst="roundRect">
            <a:avLst>
              <a:gd name="adj" fmla="val 4444"/>
            </a:avLst>
          </a:prstGeom>
          <a:solidFill>
            <a:schemeClr val="bg2"/>
          </a:solidFill>
          <a:ln/>
        </p:spPr>
      </p:sp>
      <p:sp>
        <p:nvSpPr>
          <p:cNvPr id="18" name="Text 98"/>
          <p:cNvSpPr txBox="1"/>
          <p:nvPr/>
        </p:nvSpPr>
        <p:spPr>
          <a:xfrm>
            <a:off x="685800" y="3200400"/>
            <a:ext cx="4480560" cy="73152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Transformer = Neural Network + Attention</a:t>
            </a:r>
            <a:endParaRPr lang="en-US" sz="2100" dirty="0"/>
          </a:p>
        </p:txBody>
      </p:sp>
      <p:sp>
        <p:nvSpPr>
          <p:cNvPr id="19" name="Text 99"/>
          <p:cNvSpPr txBox="1"/>
          <p:nvPr/>
        </p:nvSpPr>
        <p:spPr>
          <a:xfrm>
            <a:off x="685800" y="3931920"/>
            <a:ext cx="4480560" cy="640080"/>
          </a:xfrm>
          <a:prstGeom prst="rect">
            <a:avLst/>
          </a:prstGeom>
          <a:noFill/>
          <a:ln/>
        </p:spPr>
        <p:txBody>
          <a:bodyPr wrap="square" lIns="0" tIns="0" rIns="0" bIns="0" rtlCol="0" anchor="t"/>
          <a:lstStyle/>
          <a:p>
            <a:pPr indent="0" marL="0">
              <a:buNone/>
            </a:pPr>
            <a:r>
              <a:rPr lang="en-US" sz="1500" dirty="0">
                <a:solidFill>
                  <a:schemeClr val="tx1"/>
                </a:solidFill>
              </a:rPr>
              <a:t>It looks at all the words together and decides which ones matter most.</a:t>
            </a:r>
            <a:endParaRPr lang="en-US" sz="1500" dirty="0"/>
          </a:p>
        </p:txBody>
      </p:sp>
      <p:sp>
        <p:nvSpPr>
          <p:cNvPr id="20" name="Text 100"/>
          <p:cNvSpPr txBox="1"/>
          <p:nvPr/>
        </p:nvSpPr>
        <p:spPr>
          <a:xfrm>
            <a:off x="5486400" y="3200400"/>
            <a:ext cx="1188720" cy="548640"/>
          </a:xfrm>
          <a:prstGeom prst="rect">
            <a:avLst/>
          </a:prstGeom>
          <a:noFill/>
          <a:ln/>
        </p:spPr>
        <p:txBody>
          <a:bodyPr wrap="square" lIns="0" tIns="0" rIns="0" bIns="0" rtlCol="0" anchor="ctr"/>
          <a:lstStyle/>
          <a:p>
            <a:pPr indent="0" marL="0">
              <a:buNone/>
            </a:pPr>
            <a:r>
              <a:rPr lang="en-US" sz="3000" b="1" dirty="0">
                <a:solidFill>
                  <a:schemeClr val="accent1"/>
                </a:solidFill>
              </a:rPr>
              <a:t>2017</a:t>
            </a:r>
            <a:endParaRPr lang="en-US" sz="3000" dirty="0"/>
          </a:p>
        </p:txBody>
      </p:sp>
      <p:sp>
        <p:nvSpPr>
          <p:cNvPr id="21" name="Text 101"/>
          <p:cNvSpPr txBox="1"/>
          <p:nvPr/>
        </p:nvSpPr>
        <p:spPr>
          <a:xfrm>
            <a:off x="6720840" y="3200400"/>
            <a:ext cx="1828800" cy="548640"/>
          </a:xfrm>
          <a:prstGeom prst="rect">
            <a:avLst/>
          </a:prstGeom>
          <a:noFill/>
          <a:ln/>
        </p:spPr>
        <p:txBody>
          <a:bodyPr wrap="square" lIns="0" tIns="0" rIns="0" bIns="0" rtlCol="0" anchor="ctr"/>
          <a:lstStyle/>
          <a:p>
            <a:pPr indent="0" marL="0">
              <a:buNone/>
            </a:pPr>
            <a:r>
              <a:rPr lang="en-US" sz="1200" dirty="0">
                <a:solidFill>
                  <a:schemeClr val="tx1"/>
                </a:solidFill>
              </a:rPr>
              <a:t>Google paper “Attention Is All You Need”</a:t>
            </a:r>
            <a:endParaRPr lang="en-US" sz="1200" dirty="0"/>
          </a:p>
        </p:txBody>
      </p:sp>
      <p:sp>
        <p:nvSpPr>
          <p:cNvPr id="22" name="Text 102"/>
          <p:cNvSpPr txBox="1"/>
          <p:nvPr/>
        </p:nvSpPr>
        <p:spPr>
          <a:xfrm>
            <a:off x="5486400" y="3931920"/>
            <a:ext cx="1188720" cy="548640"/>
          </a:xfrm>
          <a:prstGeom prst="rect">
            <a:avLst/>
          </a:prstGeom>
          <a:noFill/>
          <a:ln/>
        </p:spPr>
        <p:txBody>
          <a:bodyPr wrap="square" lIns="0" tIns="0" rIns="0" bIns="0" rtlCol="0" anchor="ctr"/>
          <a:lstStyle/>
          <a:p>
            <a:pPr indent="0" marL="0">
              <a:buNone/>
            </a:pPr>
            <a:r>
              <a:rPr lang="en-US" sz="3000" b="1" dirty="0">
                <a:solidFill>
                  <a:schemeClr val="accent3"/>
                </a:solidFill>
              </a:rPr>
              <a:t>LLMs</a:t>
            </a:r>
            <a:endParaRPr lang="en-US" sz="3000" dirty="0"/>
          </a:p>
        </p:txBody>
      </p:sp>
      <p:sp>
        <p:nvSpPr>
          <p:cNvPr id="23" name="Text 103"/>
          <p:cNvSpPr txBox="1"/>
          <p:nvPr/>
        </p:nvSpPr>
        <p:spPr>
          <a:xfrm>
            <a:off x="6720840" y="3931920"/>
            <a:ext cx="1828800" cy="548640"/>
          </a:xfrm>
          <a:prstGeom prst="rect">
            <a:avLst/>
          </a:prstGeom>
          <a:noFill/>
          <a:ln/>
        </p:spPr>
        <p:txBody>
          <a:bodyPr wrap="square" lIns="0" tIns="0" rIns="0" bIns="0" rtlCol="0" anchor="ctr"/>
          <a:lstStyle/>
          <a:p>
            <a:pPr indent="0" marL="0">
              <a:buNone/>
            </a:pPr>
            <a:r>
              <a:rPr lang="en-US" sz="1200" dirty="0">
                <a:solidFill>
                  <a:schemeClr val="tx1"/>
                </a:solidFill>
              </a:rPr>
              <a:t>GPT, Claude, Gemini and Llama are all Transformers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Step 1: Tokenization</a:t>
            </a:r>
            <a:endParaRPr lang="en-US" sz="3000" dirty="0"/>
          </a:p>
        </p:txBody>
      </p:sp>
      <p:sp>
        <p:nvSpPr>
          <p:cNvPr id="4" name="Text 104"/>
          <p:cNvSpPr txBox="1"/>
          <p:nvPr/>
        </p:nvSpPr>
        <p:spPr>
          <a:xfrm>
            <a:off x="457200" y="1143000"/>
            <a:ext cx="8229600" cy="685800"/>
          </a:xfrm>
          <a:prstGeom prst="rect">
            <a:avLst/>
          </a:prstGeom>
          <a:noFill/>
          <a:ln/>
        </p:spPr>
        <p:txBody>
          <a:bodyPr wrap="square" lIns="0" tIns="0" rIns="0" bIns="0" rtlCol="0" anchor="t"/>
          <a:lstStyle/>
          <a:p>
            <a:pPr indent="0" marL="0">
              <a:buNone/>
            </a:pPr>
            <a:r>
              <a:rPr lang="en-US" sz="1600" dirty="0">
                <a:solidFill>
                  <a:schemeClr val="tx1"/>
                </a:solidFill>
              </a:rPr>
              <a:t>Computers only understand numbers, so text is first cut into small pieces called tokens. One token is roughly ¾ of an English word.</a:t>
            </a:r>
            <a:endParaRPr lang="en-US" sz="1600" dirty="0"/>
          </a:p>
        </p:txBody>
      </p:sp>
      <p:sp>
        <p:nvSpPr>
          <p:cNvPr id="5" name="Text 105"/>
          <p:cNvSpPr txBox="1"/>
          <p:nvPr/>
        </p:nvSpPr>
        <p:spPr>
          <a:xfrm>
            <a:off x="457200" y="2011680"/>
            <a:ext cx="2743200" cy="228600"/>
          </a:xfrm>
          <a:prstGeom prst="rect">
            <a:avLst/>
          </a:prstGeom>
          <a:noFill/>
          <a:ln/>
        </p:spPr>
        <p:txBody>
          <a:bodyPr wrap="square" lIns="0" tIns="0" rIns="0" bIns="0" rtlCol="0" anchor="t"/>
          <a:lstStyle/>
          <a:p>
            <a:pPr indent="0" marL="0">
              <a:buNone/>
            </a:pPr>
            <a:r>
              <a:rPr lang="en-US" sz="1100" b="1" dirty="0">
                <a:solidFill>
                  <a:schemeClr val="accent1"/>
                </a:solidFill>
              </a:rPr>
              <a:t>1. YOUR TEXT</a:t>
            </a:r>
            <a:endParaRPr lang="en-US" sz="1100" dirty="0"/>
          </a:p>
        </p:txBody>
      </p:sp>
      <p:sp>
        <p:nvSpPr>
          <p:cNvPr id="6" name="Chip 106"/>
          <p:cNvSpPr txBox="1"/>
          <p:nvPr/>
        </p:nvSpPr>
        <p:spPr>
          <a:xfrm>
            <a:off x="457200" y="2267712"/>
            <a:ext cx="8229600" cy="457200"/>
          </a:xfrm>
          <a:prstGeom prst="roundRect">
            <a:avLst>
              <a:gd name="adj" fmla="val 16000"/>
            </a:avLst>
          </a:prstGeom>
          <a:solidFill>
            <a:schemeClr val="bg2"/>
          </a:solidFill>
          <a:ln/>
        </p:spPr>
        <p:txBody>
          <a:bodyPr wrap="square" lIns="381" tIns="381" rIns="381" bIns="381" rtlCol="0" anchor="ctr"/>
          <a:lstStyle/>
          <a:p>
            <a:pPr algn="ctr" indent="0" marL="0">
              <a:buNone/>
            </a:pPr>
            <a:r>
              <a:rPr lang="en-US" sz="1800" dirty="0">
                <a:solidFill>
                  <a:schemeClr val="tx2"/>
                </a:solidFill>
              </a:rPr>
              <a:t>I love learning AI!</a:t>
            </a:r>
            <a:endParaRPr lang="en-US" sz="1800" dirty="0"/>
          </a:p>
        </p:txBody>
      </p:sp>
      <p:sp>
        <p:nvSpPr>
          <p:cNvPr id="7" name="Text 107"/>
          <p:cNvSpPr txBox="1"/>
          <p:nvPr/>
        </p:nvSpPr>
        <p:spPr>
          <a:xfrm>
            <a:off x="457200" y="2880360"/>
            <a:ext cx="2743200" cy="228600"/>
          </a:xfrm>
          <a:prstGeom prst="rect">
            <a:avLst/>
          </a:prstGeom>
          <a:noFill/>
          <a:ln/>
        </p:spPr>
        <p:txBody>
          <a:bodyPr wrap="square" lIns="0" tIns="0" rIns="0" bIns="0" rtlCol="0" anchor="t"/>
          <a:lstStyle/>
          <a:p>
            <a:pPr indent="0" marL="0">
              <a:buNone/>
            </a:pPr>
            <a:r>
              <a:rPr lang="en-US" sz="1100" b="1" dirty="0">
                <a:solidFill>
                  <a:schemeClr val="accent1"/>
                </a:solidFill>
              </a:rPr>
              <a:t>2. TOKENS</a:t>
            </a:r>
            <a:endParaRPr lang="en-US" sz="1100" dirty="0"/>
          </a:p>
        </p:txBody>
      </p:sp>
      <p:sp>
        <p:nvSpPr>
          <p:cNvPr id="8" name="Chip 108"/>
          <p:cNvSpPr txBox="1"/>
          <p:nvPr/>
        </p:nvSpPr>
        <p:spPr>
          <a:xfrm>
            <a:off x="457200" y="3136392"/>
            <a:ext cx="1188720" cy="457200"/>
          </a:xfrm>
          <a:prstGeom prst="roundRect">
            <a:avLst>
              <a:gd name="adj" fmla="val 16000"/>
            </a:avLst>
          </a:prstGeom>
          <a:solidFill>
            <a:schemeClr val="accent1"/>
          </a:solidFill>
          <a:ln/>
        </p:spPr>
        <p:txBody>
          <a:bodyPr wrap="square" lIns="381" tIns="381" rIns="381" bIns="381" rtlCol="0" anchor="ctr"/>
          <a:lstStyle/>
          <a:p>
            <a:pPr algn="ctr" indent="0" marL="0">
              <a:buNone/>
            </a:pPr>
            <a:r>
              <a:rPr lang="en-US" sz="1800" b="1" dirty="0">
                <a:solidFill>
                  <a:schemeClr val="bg1"/>
                </a:solidFill>
              </a:rPr>
              <a:t>I</a:t>
            </a:r>
            <a:endParaRPr lang="en-US" sz="1800" dirty="0"/>
          </a:p>
        </p:txBody>
      </p:sp>
      <p:sp>
        <p:nvSpPr>
          <p:cNvPr id="9" name="Chip 109"/>
          <p:cNvSpPr txBox="1"/>
          <p:nvPr/>
        </p:nvSpPr>
        <p:spPr>
          <a:xfrm>
            <a:off x="1828800" y="3136392"/>
            <a:ext cx="1188720" cy="457200"/>
          </a:xfrm>
          <a:prstGeom prst="roundRect">
            <a:avLst>
              <a:gd name="adj" fmla="val 16000"/>
            </a:avLst>
          </a:prstGeom>
          <a:solidFill>
            <a:schemeClr val="accent5"/>
          </a:solidFill>
          <a:ln/>
        </p:spPr>
        <p:txBody>
          <a:bodyPr wrap="square" lIns="381" tIns="381" rIns="381" bIns="381" rtlCol="0" anchor="ctr"/>
          <a:lstStyle/>
          <a:p>
            <a:pPr algn="ctr" indent="0" marL="0">
              <a:buNone/>
            </a:pPr>
            <a:r>
              <a:rPr lang="en-US" sz="1800" b="1" dirty="0">
                <a:solidFill>
                  <a:schemeClr val="bg1"/>
                </a:solidFill>
              </a:rPr>
              <a:t>love</a:t>
            </a:r>
            <a:endParaRPr lang="en-US" sz="1800" dirty="0"/>
          </a:p>
        </p:txBody>
      </p:sp>
      <p:sp>
        <p:nvSpPr>
          <p:cNvPr id="10" name="Chip 110"/>
          <p:cNvSpPr txBox="1"/>
          <p:nvPr/>
        </p:nvSpPr>
        <p:spPr>
          <a:xfrm>
            <a:off x="3200400" y="3136392"/>
            <a:ext cx="1188720" cy="457200"/>
          </a:xfrm>
          <a:prstGeom prst="roundRect">
            <a:avLst>
              <a:gd name="adj" fmla="val 16000"/>
            </a:avLst>
          </a:prstGeom>
          <a:solidFill>
            <a:schemeClr val="accent3"/>
          </a:solidFill>
          <a:ln/>
        </p:spPr>
        <p:txBody>
          <a:bodyPr wrap="square" lIns="381" tIns="381" rIns="381" bIns="381" rtlCol="0" anchor="ctr"/>
          <a:lstStyle/>
          <a:p>
            <a:pPr algn="ctr" indent="0" marL="0">
              <a:buNone/>
            </a:pPr>
            <a:r>
              <a:rPr lang="en-US" sz="1800" b="1" dirty="0">
                <a:solidFill>
                  <a:schemeClr val="bg1"/>
                </a:solidFill>
              </a:rPr>
              <a:t>learn</a:t>
            </a:r>
            <a:endParaRPr lang="en-US" sz="1800" dirty="0"/>
          </a:p>
        </p:txBody>
      </p:sp>
      <p:sp>
        <p:nvSpPr>
          <p:cNvPr id="11" name="Chip 111"/>
          <p:cNvSpPr txBox="1"/>
          <p:nvPr/>
        </p:nvSpPr>
        <p:spPr>
          <a:xfrm>
            <a:off x="4572000" y="3136392"/>
            <a:ext cx="1188720" cy="457200"/>
          </a:xfrm>
          <a:prstGeom prst="roundRect">
            <a:avLst>
              <a:gd name="adj" fmla="val 16000"/>
            </a:avLst>
          </a:prstGeom>
          <a:solidFill>
            <a:schemeClr val="accent3"/>
          </a:solidFill>
          <a:ln/>
        </p:spPr>
        <p:txBody>
          <a:bodyPr wrap="square" lIns="381" tIns="381" rIns="381" bIns="381" rtlCol="0" anchor="ctr"/>
          <a:lstStyle/>
          <a:p>
            <a:pPr algn="ctr" indent="0" marL="0">
              <a:buNone/>
            </a:pPr>
            <a:r>
              <a:rPr lang="en-US" sz="1800" b="1" dirty="0">
                <a:solidFill>
                  <a:schemeClr val="bg1"/>
                </a:solidFill>
              </a:rPr>
              <a:t>ing</a:t>
            </a:r>
            <a:endParaRPr lang="en-US" sz="1800" dirty="0"/>
          </a:p>
        </p:txBody>
      </p:sp>
      <p:sp>
        <p:nvSpPr>
          <p:cNvPr id="12" name="Chip 112"/>
          <p:cNvSpPr txBox="1"/>
          <p:nvPr/>
        </p:nvSpPr>
        <p:spPr>
          <a:xfrm>
            <a:off x="5943600" y="3136392"/>
            <a:ext cx="1188720" cy="457200"/>
          </a:xfrm>
          <a:prstGeom prst="roundRect">
            <a:avLst>
              <a:gd name="adj" fmla="val 16000"/>
            </a:avLst>
          </a:prstGeom>
          <a:solidFill>
            <a:schemeClr val="accent4"/>
          </a:solidFill>
          <a:ln/>
        </p:spPr>
        <p:txBody>
          <a:bodyPr wrap="square" lIns="381" tIns="381" rIns="381" bIns="381" rtlCol="0" anchor="ctr"/>
          <a:lstStyle/>
          <a:p>
            <a:pPr algn="ctr" indent="0" marL="0">
              <a:buNone/>
            </a:pPr>
            <a:r>
              <a:rPr lang="en-US" sz="1800" b="1" dirty="0">
                <a:solidFill>
                  <a:schemeClr val="bg1"/>
                </a:solidFill>
              </a:rPr>
              <a:t>AI</a:t>
            </a:r>
            <a:endParaRPr lang="en-US" sz="1800" dirty="0"/>
          </a:p>
        </p:txBody>
      </p:sp>
      <p:sp>
        <p:nvSpPr>
          <p:cNvPr id="13" name="Chip 113"/>
          <p:cNvSpPr txBox="1"/>
          <p:nvPr/>
        </p:nvSpPr>
        <p:spPr>
          <a:xfrm>
            <a:off x="7315200" y="3136392"/>
            <a:ext cx="1188720" cy="457200"/>
          </a:xfrm>
          <a:prstGeom prst="roundRect">
            <a:avLst>
              <a:gd name="adj" fmla="val 16000"/>
            </a:avLst>
          </a:prstGeom>
          <a:solidFill>
            <a:schemeClr val="accent2"/>
          </a:solidFill>
          <a:ln/>
        </p:spPr>
        <p:txBody>
          <a:bodyPr wrap="square" lIns="381" tIns="381" rIns="381" bIns="381" rtlCol="0" anchor="ctr"/>
          <a:lstStyle/>
          <a:p>
            <a:pPr algn="ctr" indent="0" marL="0">
              <a:buNone/>
            </a:pPr>
            <a:r>
              <a:rPr lang="en-US" sz="1800" b="1" dirty="0">
                <a:solidFill>
                  <a:schemeClr val="tx1"/>
                </a:solidFill>
              </a:rPr>
              <a:t>!</a:t>
            </a:r>
            <a:endParaRPr lang="en-US" sz="1800" dirty="0"/>
          </a:p>
        </p:txBody>
      </p:sp>
      <p:sp>
        <p:nvSpPr>
          <p:cNvPr id="14" name="Text 114"/>
          <p:cNvSpPr txBox="1"/>
          <p:nvPr/>
        </p:nvSpPr>
        <p:spPr>
          <a:xfrm>
            <a:off x="457200" y="3749040"/>
            <a:ext cx="3657600" cy="228600"/>
          </a:xfrm>
          <a:prstGeom prst="rect">
            <a:avLst/>
          </a:prstGeom>
          <a:noFill/>
          <a:ln/>
        </p:spPr>
        <p:txBody>
          <a:bodyPr wrap="square" lIns="0" tIns="0" rIns="0" bIns="0" rtlCol="0" anchor="t"/>
          <a:lstStyle/>
          <a:p>
            <a:pPr indent="0" marL="0">
              <a:buNone/>
            </a:pPr>
            <a:r>
              <a:rPr lang="en-US" sz="1100" b="1" dirty="0">
                <a:solidFill>
                  <a:schemeClr val="accent1"/>
                </a:solidFill>
              </a:rPr>
              <a:t>3. TOKEN IDs (illustrative)</a:t>
            </a:r>
            <a:endParaRPr lang="en-US" sz="1100" dirty="0"/>
          </a:p>
        </p:txBody>
      </p:sp>
      <p:sp>
        <p:nvSpPr>
          <p:cNvPr id="15" name="Chip 115"/>
          <p:cNvSpPr txBox="1"/>
          <p:nvPr/>
        </p:nvSpPr>
        <p:spPr>
          <a:xfrm>
            <a:off x="457200" y="4005072"/>
            <a:ext cx="118872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40</a:t>
            </a:r>
            <a:endParaRPr lang="en-US" sz="1800" dirty="0"/>
          </a:p>
        </p:txBody>
      </p:sp>
      <p:sp>
        <p:nvSpPr>
          <p:cNvPr id="16" name="Chip 116"/>
          <p:cNvSpPr txBox="1"/>
          <p:nvPr/>
        </p:nvSpPr>
        <p:spPr>
          <a:xfrm>
            <a:off x="1828800" y="4005072"/>
            <a:ext cx="118872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3021</a:t>
            </a:r>
            <a:endParaRPr lang="en-US" sz="1800" dirty="0"/>
          </a:p>
        </p:txBody>
      </p:sp>
      <p:sp>
        <p:nvSpPr>
          <p:cNvPr id="17" name="Chip 117"/>
          <p:cNvSpPr txBox="1"/>
          <p:nvPr/>
        </p:nvSpPr>
        <p:spPr>
          <a:xfrm>
            <a:off x="3200400" y="4005072"/>
            <a:ext cx="118872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5018</a:t>
            </a:r>
            <a:endParaRPr lang="en-US" sz="1800" dirty="0"/>
          </a:p>
        </p:txBody>
      </p:sp>
      <p:sp>
        <p:nvSpPr>
          <p:cNvPr id="18" name="Chip 118"/>
          <p:cNvSpPr txBox="1"/>
          <p:nvPr/>
        </p:nvSpPr>
        <p:spPr>
          <a:xfrm>
            <a:off x="4572000" y="4005072"/>
            <a:ext cx="118872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278</a:t>
            </a:r>
            <a:endParaRPr lang="en-US" sz="1800" dirty="0"/>
          </a:p>
        </p:txBody>
      </p:sp>
      <p:sp>
        <p:nvSpPr>
          <p:cNvPr id="19" name="Chip 119"/>
          <p:cNvSpPr txBox="1"/>
          <p:nvPr/>
        </p:nvSpPr>
        <p:spPr>
          <a:xfrm>
            <a:off x="5943600" y="4005072"/>
            <a:ext cx="118872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15836</a:t>
            </a:r>
            <a:endParaRPr lang="en-US" sz="1800" dirty="0"/>
          </a:p>
        </p:txBody>
      </p:sp>
      <p:sp>
        <p:nvSpPr>
          <p:cNvPr id="20" name="Chip 120"/>
          <p:cNvSpPr txBox="1"/>
          <p:nvPr/>
        </p:nvSpPr>
        <p:spPr>
          <a:xfrm>
            <a:off x="7315200" y="4005072"/>
            <a:ext cx="118872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0</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Step 2: Embeddings</a:t>
            </a:r>
            <a:endParaRPr lang="en-US" sz="3000" dirty="0"/>
          </a:p>
        </p:txBody>
      </p:sp>
      <p:sp>
        <p:nvSpPr>
          <p:cNvPr id="4" name="Card 121"/>
          <p:cNvSpPr/>
          <p:nvPr/>
        </p:nvSpPr>
        <p:spPr>
          <a:xfrm>
            <a:off x="457200" y="1143000"/>
            <a:ext cx="4572000" cy="3520440"/>
          </a:xfrm>
          <a:prstGeom prst="roundRect">
            <a:avLst>
              <a:gd name="adj" fmla="val 2078"/>
            </a:avLst>
          </a:prstGeom>
          <a:solidFill>
            <a:schemeClr val="bg2"/>
          </a:solidFill>
          <a:ln/>
        </p:spPr>
      </p:sp>
      <p:sp>
        <p:nvSpPr>
          <p:cNvPr id="5" name="Text 122"/>
          <p:cNvSpPr txBox="1"/>
          <p:nvPr/>
        </p:nvSpPr>
        <p:spPr>
          <a:xfrm>
            <a:off x="640080" y="1234440"/>
            <a:ext cx="4206240" cy="228600"/>
          </a:xfrm>
          <a:prstGeom prst="rect">
            <a:avLst/>
          </a:prstGeom>
          <a:noFill/>
          <a:ln/>
        </p:spPr>
        <p:txBody>
          <a:bodyPr wrap="square" lIns="0" tIns="0" rIns="0" bIns="0" rtlCol="0" anchor="t"/>
          <a:lstStyle/>
          <a:p>
            <a:pPr indent="0" marL="0">
              <a:buNone/>
            </a:pPr>
            <a:r>
              <a:rPr lang="en-US" sz="1100" dirty="0">
                <a:solidFill>
                  <a:schemeClr val="tx1"/>
                </a:solidFill>
              </a:rPr>
              <a:t>Meaning map (simplified to 2 dimensions)</a:t>
            </a:r>
            <a:endParaRPr lang="en-US" sz="1100" dirty="0"/>
          </a:p>
        </p:txBody>
      </p:sp>
      <p:sp>
        <p:nvSpPr>
          <p:cNvPr id="6" name="Cluster 123"/>
          <p:cNvSpPr/>
          <p:nvPr/>
        </p:nvSpPr>
        <p:spPr>
          <a:xfrm>
            <a:off x="777240" y="1554480"/>
            <a:ext cx="1737360" cy="1371600"/>
          </a:xfrm>
          <a:prstGeom prst="ellipse">
            <a:avLst/>
          </a:prstGeom>
          <a:solidFill>
            <a:schemeClr val="accent3">
              <a:alpha val="20000"/>
            </a:schemeClr>
          </a:solidFill>
          <a:ln/>
        </p:spPr>
      </p:sp>
      <p:sp>
        <p:nvSpPr>
          <p:cNvPr id="7" name="Dot 124"/>
          <p:cNvSpPr/>
          <p:nvPr/>
        </p:nvSpPr>
        <p:spPr>
          <a:xfrm>
            <a:off x="1097280" y="1920240"/>
            <a:ext cx="128016" cy="128016"/>
          </a:xfrm>
          <a:prstGeom prst="ellipse">
            <a:avLst/>
          </a:prstGeom>
          <a:solidFill>
            <a:schemeClr val="accent3"/>
          </a:solidFill>
          <a:ln/>
        </p:spPr>
      </p:sp>
      <p:sp>
        <p:nvSpPr>
          <p:cNvPr id="8" name="Text 125"/>
          <p:cNvSpPr txBox="1"/>
          <p:nvPr/>
        </p:nvSpPr>
        <p:spPr>
          <a:xfrm>
            <a:off x="1280160" y="1865376"/>
            <a:ext cx="685800" cy="237744"/>
          </a:xfrm>
          <a:prstGeom prst="rect">
            <a:avLst/>
          </a:prstGeom>
          <a:noFill/>
          <a:ln/>
        </p:spPr>
        <p:txBody>
          <a:bodyPr wrap="square" lIns="0" tIns="0" rIns="0" bIns="0" rtlCol="0" anchor="ctr"/>
          <a:lstStyle/>
          <a:p>
            <a:pPr indent="0" marL="0">
              <a:buNone/>
            </a:pPr>
            <a:r>
              <a:rPr lang="en-US" sz="1200" b="1" dirty="0">
                <a:solidFill>
                  <a:schemeClr val="tx2"/>
                </a:solidFill>
              </a:rPr>
              <a:t>cat</a:t>
            </a:r>
            <a:endParaRPr lang="en-US" sz="1200" dirty="0"/>
          </a:p>
        </p:txBody>
      </p:sp>
      <p:sp>
        <p:nvSpPr>
          <p:cNvPr id="9" name="Dot 126"/>
          <p:cNvSpPr/>
          <p:nvPr/>
        </p:nvSpPr>
        <p:spPr>
          <a:xfrm>
            <a:off x="1600200" y="2240280"/>
            <a:ext cx="128016" cy="128016"/>
          </a:xfrm>
          <a:prstGeom prst="ellipse">
            <a:avLst/>
          </a:prstGeom>
          <a:solidFill>
            <a:schemeClr val="accent3"/>
          </a:solidFill>
          <a:ln/>
        </p:spPr>
      </p:sp>
      <p:sp>
        <p:nvSpPr>
          <p:cNvPr id="10" name="Text 127"/>
          <p:cNvSpPr txBox="1"/>
          <p:nvPr/>
        </p:nvSpPr>
        <p:spPr>
          <a:xfrm>
            <a:off x="1783080" y="2185416"/>
            <a:ext cx="685800" cy="237744"/>
          </a:xfrm>
          <a:prstGeom prst="rect">
            <a:avLst/>
          </a:prstGeom>
          <a:noFill/>
          <a:ln/>
        </p:spPr>
        <p:txBody>
          <a:bodyPr wrap="square" lIns="0" tIns="0" rIns="0" bIns="0" rtlCol="0" anchor="ctr"/>
          <a:lstStyle/>
          <a:p>
            <a:pPr indent="0" marL="0">
              <a:buNone/>
            </a:pPr>
            <a:r>
              <a:rPr lang="en-US" sz="1200" b="1" dirty="0">
                <a:solidFill>
                  <a:schemeClr val="tx2"/>
                </a:solidFill>
              </a:rPr>
              <a:t>dog</a:t>
            </a:r>
            <a:endParaRPr lang="en-US" sz="1200" dirty="0"/>
          </a:p>
        </p:txBody>
      </p:sp>
      <p:sp>
        <p:nvSpPr>
          <p:cNvPr id="11" name="Dot 128"/>
          <p:cNvSpPr/>
          <p:nvPr/>
        </p:nvSpPr>
        <p:spPr>
          <a:xfrm>
            <a:off x="1143000" y="2514600"/>
            <a:ext cx="128016" cy="128016"/>
          </a:xfrm>
          <a:prstGeom prst="ellipse">
            <a:avLst/>
          </a:prstGeom>
          <a:solidFill>
            <a:schemeClr val="accent3"/>
          </a:solidFill>
          <a:ln/>
        </p:spPr>
      </p:sp>
      <p:sp>
        <p:nvSpPr>
          <p:cNvPr id="12" name="Text 129"/>
          <p:cNvSpPr txBox="1"/>
          <p:nvPr/>
        </p:nvSpPr>
        <p:spPr>
          <a:xfrm>
            <a:off x="1325880" y="2459736"/>
            <a:ext cx="685800" cy="237744"/>
          </a:xfrm>
          <a:prstGeom prst="rect">
            <a:avLst/>
          </a:prstGeom>
          <a:noFill/>
          <a:ln/>
        </p:spPr>
        <p:txBody>
          <a:bodyPr wrap="square" lIns="0" tIns="0" rIns="0" bIns="0" rtlCol="0" anchor="ctr"/>
          <a:lstStyle/>
          <a:p>
            <a:pPr indent="0" marL="0">
              <a:buNone/>
            </a:pPr>
            <a:r>
              <a:rPr lang="en-US" sz="1200" b="1" dirty="0">
                <a:solidFill>
                  <a:schemeClr val="tx2"/>
                </a:solidFill>
              </a:rPr>
              <a:t>lion</a:t>
            </a:r>
            <a:endParaRPr lang="en-US" sz="1200" dirty="0"/>
          </a:p>
        </p:txBody>
      </p:sp>
      <p:sp>
        <p:nvSpPr>
          <p:cNvPr id="13" name="Cluster 130"/>
          <p:cNvSpPr/>
          <p:nvPr/>
        </p:nvSpPr>
        <p:spPr>
          <a:xfrm>
            <a:off x="3108960" y="1554480"/>
            <a:ext cx="1783080" cy="1371600"/>
          </a:xfrm>
          <a:prstGeom prst="ellipse">
            <a:avLst/>
          </a:prstGeom>
          <a:solidFill>
            <a:schemeClr val="accent5">
              <a:alpha val="20000"/>
            </a:schemeClr>
          </a:solidFill>
          <a:ln/>
        </p:spPr>
      </p:sp>
      <p:sp>
        <p:nvSpPr>
          <p:cNvPr id="14" name="Dot 131"/>
          <p:cNvSpPr/>
          <p:nvPr/>
        </p:nvSpPr>
        <p:spPr>
          <a:xfrm>
            <a:off x="3337560" y="1874520"/>
            <a:ext cx="128016" cy="128016"/>
          </a:xfrm>
          <a:prstGeom prst="ellipse">
            <a:avLst/>
          </a:prstGeom>
          <a:solidFill>
            <a:schemeClr val="accent5"/>
          </a:solidFill>
          <a:ln/>
        </p:spPr>
      </p:sp>
      <p:sp>
        <p:nvSpPr>
          <p:cNvPr id="15" name="Text 132"/>
          <p:cNvSpPr txBox="1"/>
          <p:nvPr/>
        </p:nvSpPr>
        <p:spPr>
          <a:xfrm>
            <a:off x="3520440" y="1819656"/>
            <a:ext cx="685800" cy="237744"/>
          </a:xfrm>
          <a:prstGeom prst="rect">
            <a:avLst/>
          </a:prstGeom>
          <a:noFill/>
          <a:ln/>
        </p:spPr>
        <p:txBody>
          <a:bodyPr wrap="square" lIns="0" tIns="0" rIns="0" bIns="0" rtlCol="0" anchor="ctr"/>
          <a:lstStyle/>
          <a:p>
            <a:pPr indent="0" marL="0">
              <a:buNone/>
            </a:pPr>
            <a:r>
              <a:rPr lang="en-US" sz="1200" b="1" dirty="0">
                <a:solidFill>
                  <a:schemeClr val="tx2"/>
                </a:solidFill>
              </a:rPr>
              <a:t>king</a:t>
            </a:r>
            <a:endParaRPr lang="en-US" sz="1200" dirty="0"/>
          </a:p>
        </p:txBody>
      </p:sp>
      <p:sp>
        <p:nvSpPr>
          <p:cNvPr id="16" name="Dot 133"/>
          <p:cNvSpPr/>
          <p:nvPr/>
        </p:nvSpPr>
        <p:spPr>
          <a:xfrm>
            <a:off x="3840480" y="2194560"/>
            <a:ext cx="128016" cy="128016"/>
          </a:xfrm>
          <a:prstGeom prst="ellipse">
            <a:avLst/>
          </a:prstGeom>
          <a:solidFill>
            <a:schemeClr val="accent5"/>
          </a:solidFill>
          <a:ln/>
        </p:spPr>
      </p:sp>
      <p:sp>
        <p:nvSpPr>
          <p:cNvPr id="17" name="Text 134"/>
          <p:cNvSpPr txBox="1"/>
          <p:nvPr/>
        </p:nvSpPr>
        <p:spPr>
          <a:xfrm>
            <a:off x="4023360" y="2139696"/>
            <a:ext cx="685800" cy="237744"/>
          </a:xfrm>
          <a:prstGeom prst="rect">
            <a:avLst/>
          </a:prstGeom>
          <a:noFill/>
          <a:ln/>
        </p:spPr>
        <p:txBody>
          <a:bodyPr wrap="square" lIns="0" tIns="0" rIns="0" bIns="0" rtlCol="0" anchor="ctr"/>
          <a:lstStyle/>
          <a:p>
            <a:pPr indent="0" marL="0">
              <a:buNone/>
            </a:pPr>
            <a:r>
              <a:rPr lang="en-US" sz="1200" b="1" dirty="0">
                <a:solidFill>
                  <a:schemeClr val="tx2"/>
                </a:solidFill>
              </a:rPr>
              <a:t>queen</a:t>
            </a:r>
            <a:endParaRPr lang="en-US" sz="1200" dirty="0"/>
          </a:p>
        </p:txBody>
      </p:sp>
      <p:sp>
        <p:nvSpPr>
          <p:cNvPr id="18" name="Dot 135"/>
          <p:cNvSpPr/>
          <p:nvPr/>
        </p:nvSpPr>
        <p:spPr>
          <a:xfrm>
            <a:off x="3383280" y="2560320"/>
            <a:ext cx="128016" cy="128016"/>
          </a:xfrm>
          <a:prstGeom prst="ellipse">
            <a:avLst/>
          </a:prstGeom>
          <a:solidFill>
            <a:schemeClr val="accent5"/>
          </a:solidFill>
          <a:ln/>
        </p:spPr>
      </p:sp>
      <p:sp>
        <p:nvSpPr>
          <p:cNvPr id="19" name="Text 136"/>
          <p:cNvSpPr txBox="1"/>
          <p:nvPr/>
        </p:nvSpPr>
        <p:spPr>
          <a:xfrm>
            <a:off x="3566160" y="2505456"/>
            <a:ext cx="685800" cy="237744"/>
          </a:xfrm>
          <a:prstGeom prst="rect">
            <a:avLst/>
          </a:prstGeom>
          <a:noFill/>
          <a:ln/>
        </p:spPr>
        <p:txBody>
          <a:bodyPr wrap="square" lIns="0" tIns="0" rIns="0" bIns="0" rtlCol="0" anchor="ctr"/>
          <a:lstStyle/>
          <a:p>
            <a:pPr indent="0" marL="0">
              <a:buNone/>
            </a:pPr>
            <a:r>
              <a:rPr lang="en-US" sz="1200" b="1" dirty="0">
                <a:solidFill>
                  <a:schemeClr val="tx2"/>
                </a:solidFill>
              </a:rPr>
              <a:t>prince</a:t>
            </a:r>
            <a:endParaRPr lang="en-US" sz="1200" dirty="0"/>
          </a:p>
        </p:txBody>
      </p:sp>
      <p:sp>
        <p:nvSpPr>
          <p:cNvPr id="20" name="Cluster 137"/>
          <p:cNvSpPr/>
          <p:nvPr/>
        </p:nvSpPr>
        <p:spPr>
          <a:xfrm>
            <a:off x="2011680" y="3154680"/>
            <a:ext cx="1920240" cy="1371600"/>
          </a:xfrm>
          <a:prstGeom prst="ellipse">
            <a:avLst/>
          </a:prstGeom>
          <a:solidFill>
            <a:schemeClr val="accent2">
              <a:alpha val="20000"/>
            </a:schemeClr>
          </a:solidFill>
          <a:ln/>
        </p:spPr>
      </p:sp>
      <p:sp>
        <p:nvSpPr>
          <p:cNvPr id="21" name="Dot 138"/>
          <p:cNvSpPr/>
          <p:nvPr/>
        </p:nvSpPr>
        <p:spPr>
          <a:xfrm>
            <a:off x="2331720" y="3520440"/>
            <a:ext cx="128016" cy="128016"/>
          </a:xfrm>
          <a:prstGeom prst="ellipse">
            <a:avLst/>
          </a:prstGeom>
          <a:solidFill>
            <a:schemeClr val="accent2"/>
          </a:solidFill>
          <a:ln/>
        </p:spPr>
      </p:sp>
      <p:sp>
        <p:nvSpPr>
          <p:cNvPr id="22" name="Text 139"/>
          <p:cNvSpPr txBox="1"/>
          <p:nvPr/>
        </p:nvSpPr>
        <p:spPr>
          <a:xfrm>
            <a:off x="2514600" y="3465576"/>
            <a:ext cx="685800" cy="237744"/>
          </a:xfrm>
          <a:prstGeom prst="rect">
            <a:avLst/>
          </a:prstGeom>
          <a:noFill/>
          <a:ln/>
        </p:spPr>
        <p:txBody>
          <a:bodyPr wrap="square" lIns="0" tIns="0" rIns="0" bIns="0" rtlCol="0" anchor="ctr"/>
          <a:lstStyle/>
          <a:p>
            <a:pPr indent="0" marL="0">
              <a:buNone/>
            </a:pPr>
            <a:r>
              <a:rPr lang="en-US" sz="1200" b="1" dirty="0">
                <a:solidFill>
                  <a:schemeClr val="tx2"/>
                </a:solidFill>
              </a:rPr>
              <a:t>car</a:t>
            </a:r>
            <a:endParaRPr lang="en-US" sz="1200" dirty="0"/>
          </a:p>
        </p:txBody>
      </p:sp>
      <p:sp>
        <p:nvSpPr>
          <p:cNvPr id="23" name="Dot 140"/>
          <p:cNvSpPr/>
          <p:nvPr/>
        </p:nvSpPr>
        <p:spPr>
          <a:xfrm>
            <a:off x="2880360" y="3794760"/>
            <a:ext cx="128016" cy="128016"/>
          </a:xfrm>
          <a:prstGeom prst="ellipse">
            <a:avLst/>
          </a:prstGeom>
          <a:solidFill>
            <a:schemeClr val="accent2"/>
          </a:solidFill>
          <a:ln/>
        </p:spPr>
      </p:sp>
      <p:sp>
        <p:nvSpPr>
          <p:cNvPr id="24" name="Text 141"/>
          <p:cNvSpPr txBox="1"/>
          <p:nvPr/>
        </p:nvSpPr>
        <p:spPr>
          <a:xfrm>
            <a:off x="3063240" y="3739896"/>
            <a:ext cx="685800" cy="237744"/>
          </a:xfrm>
          <a:prstGeom prst="rect">
            <a:avLst/>
          </a:prstGeom>
          <a:noFill/>
          <a:ln/>
        </p:spPr>
        <p:txBody>
          <a:bodyPr wrap="square" lIns="0" tIns="0" rIns="0" bIns="0" rtlCol="0" anchor="ctr"/>
          <a:lstStyle/>
          <a:p>
            <a:pPr indent="0" marL="0">
              <a:buNone/>
            </a:pPr>
            <a:r>
              <a:rPr lang="en-US" sz="1200" b="1" dirty="0">
                <a:solidFill>
                  <a:schemeClr val="tx2"/>
                </a:solidFill>
              </a:rPr>
              <a:t>bus</a:t>
            </a:r>
            <a:endParaRPr lang="en-US" sz="1200" dirty="0"/>
          </a:p>
        </p:txBody>
      </p:sp>
      <p:sp>
        <p:nvSpPr>
          <p:cNvPr id="25" name="Dot 142"/>
          <p:cNvSpPr/>
          <p:nvPr/>
        </p:nvSpPr>
        <p:spPr>
          <a:xfrm>
            <a:off x="2377440" y="4114800"/>
            <a:ext cx="128016" cy="128016"/>
          </a:xfrm>
          <a:prstGeom prst="ellipse">
            <a:avLst/>
          </a:prstGeom>
          <a:solidFill>
            <a:schemeClr val="accent2"/>
          </a:solidFill>
          <a:ln/>
        </p:spPr>
      </p:sp>
      <p:sp>
        <p:nvSpPr>
          <p:cNvPr id="26" name="Text 143"/>
          <p:cNvSpPr txBox="1"/>
          <p:nvPr/>
        </p:nvSpPr>
        <p:spPr>
          <a:xfrm>
            <a:off x="2560320" y="4059936"/>
            <a:ext cx="685800" cy="237744"/>
          </a:xfrm>
          <a:prstGeom prst="rect">
            <a:avLst/>
          </a:prstGeom>
          <a:noFill/>
          <a:ln/>
        </p:spPr>
        <p:txBody>
          <a:bodyPr wrap="square" lIns="0" tIns="0" rIns="0" bIns="0" rtlCol="0" anchor="ctr"/>
          <a:lstStyle/>
          <a:p>
            <a:pPr indent="0" marL="0">
              <a:buNone/>
            </a:pPr>
            <a:r>
              <a:rPr lang="en-US" sz="1200" b="1" dirty="0">
                <a:solidFill>
                  <a:schemeClr val="tx2"/>
                </a:solidFill>
              </a:rPr>
              <a:t>train</a:t>
            </a:r>
            <a:endParaRPr lang="en-US" sz="1200" dirty="0"/>
          </a:p>
        </p:txBody>
      </p:sp>
      <p:sp>
        <p:nvSpPr>
          <p:cNvPr id="27" name="Card 144"/>
          <p:cNvSpPr/>
          <p:nvPr/>
        </p:nvSpPr>
        <p:spPr>
          <a:xfrm>
            <a:off x="5303520" y="1143000"/>
            <a:ext cx="3383280" cy="1188720"/>
          </a:xfrm>
          <a:prstGeom prst="roundRect">
            <a:avLst>
              <a:gd name="adj" fmla="val 6154"/>
            </a:avLst>
          </a:prstGeom>
          <a:solidFill>
            <a:schemeClr val="tx2"/>
          </a:solidFill>
          <a:ln/>
        </p:spPr>
      </p:sp>
      <p:sp>
        <p:nvSpPr>
          <p:cNvPr id="28" name="Text 145"/>
          <p:cNvSpPr txBox="1"/>
          <p:nvPr/>
        </p:nvSpPr>
        <p:spPr>
          <a:xfrm>
            <a:off x="5486400" y="1261872"/>
            <a:ext cx="3017520" cy="228600"/>
          </a:xfrm>
          <a:prstGeom prst="rect">
            <a:avLst/>
          </a:prstGeom>
          <a:noFill/>
          <a:ln/>
        </p:spPr>
        <p:txBody>
          <a:bodyPr wrap="square" lIns="0" tIns="0" rIns="0" bIns="0" rtlCol="0" anchor="t"/>
          <a:lstStyle/>
          <a:p>
            <a:pPr indent="0" marL="0">
              <a:buNone/>
            </a:pPr>
            <a:r>
              <a:rPr lang="en-US" sz="1200" dirty="0">
                <a:solidFill>
                  <a:schemeClr val="bg2"/>
                </a:solidFill>
              </a:rPr>
              <a:t>“cat” becomes a vector:</a:t>
            </a:r>
            <a:endParaRPr lang="en-US" sz="1200" dirty="0"/>
          </a:p>
        </p:txBody>
      </p:sp>
      <p:sp>
        <p:nvSpPr>
          <p:cNvPr id="29" name="Text 146"/>
          <p:cNvSpPr txBox="1"/>
          <p:nvPr/>
        </p:nvSpPr>
        <p:spPr>
          <a:xfrm>
            <a:off x="5486400" y="1645920"/>
            <a:ext cx="3017520" cy="457200"/>
          </a:xfrm>
          <a:prstGeom prst="rect">
            <a:avLst/>
          </a:prstGeom>
          <a:noFill/>
          <a:ln/>
        </p:spPr>
        <p:txBody>
          <a:bodyPr wrap="square" lIns="0" tIns="0" rIns="0" bIns="0" rtlCol="0" anchor="ctr"/>
          <a:lstStyle/>
          <a:p>
            <a:pPr indent="0" marL="0">
              <a:buNone/>
            </a:pPr>
            <a:r>
              <a:rPr lang="en-US" sz="1700" b="1" dirty="0">
                <a:solidFill>
                  <a:schemeClr val="accent2"/>
                </a:solidFill>
                <a:latin typeface="Courier New" pitchFamily="34" charset="0"/>
                <a:ea typeface="Courier New" pitchFamily="34" charset="-122"/>
                <a:cs typeface="Courier New" pitchFamily="34" charset="-120"/>
              </a:rPr>
              <a:t>[0.21, -0.40, 0.88, …]</a:t>
            </a:r>
            <a:endParaRPr lang="en-US" sz="1700" dirty="0"/>
          </a:p>
        </p:txBody>
      </p:sp>
      <p:sp>
        <p:nvSpPr>
          <p:cNvPr id="30" name="Text 147"/>
          <p:cNvSpPr txBox="1"/>
          <p:nvPr/>
        </p:nvSpPr>
        <p:spPr>
          <a:xfrm>
            <a:off x="5303520" y="256032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Similar meaning = nearby numbers</a:t>
            </a:r>
            <a:endParaRPr lang="en-US" sz="1500" dirty="0"/>
          </a:p>
          <a:p>
            <a:pPr marL="342900" indent="-342900">
              <a:spcAft>
                <a:spcPts val="800"/>
              </a:spcAft>
              <a:buSzPct val="100000"/>
              <a:buChar char="•"/>
            </a:pPr>
            <a:r>
              <a:rPr lang="en-US" sz="1500" dirty="0">
                <a:solidFill>
                  <a:schemeClr val="tx1"/>
                </a:solidFill>
              </a:rPr>
              <a:t>Real models use 768 to 12,000+ numbers per token</a:t>
            </a:r>
            <a:endParaRPr lang="en-US" sz="1500" dirty="0"/>
          </a:p>
          <a:p>
            <a:pPr marL="342900" indent="-342900">
              <a:spcAft>
                <a:spcPts val="800"/>
              </a:spcAft>
              <a:buSzPct val="100000"/>
              <a:buChar char="•"/>
            </a:pPr>
            <a:r>
              <a:rPr lang="en-US" sz="1500" dirty="0">
                <a:solidFill>
                  <a:schemeClr val="tx1"/>
                </a:solidFill>
              </a:rPr>
              <a:t>Learned automatically during training</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Step 3: Word Order Matters</a:t>
            </a:r>
            <a:endParaRPr lang="en-US" sz="3000" dirty="0"/>
          </a:p>
        </p:txBody>
      </p:sp>
      <p:sp>
        <p:nvSpPr>
          <p:cNvPr id="4" name="Card 148"/>
          <p:cNvSpPr/>
          <p:nvPr/>
        </p:nvSpPr>
        <p:spPr>
          <a:xfrm>
            <a:off x="457200" y="1143000"/>
            <a:ext cx="4023360" cy="1691640"/>
          </a:xfrm>
          <a:prstGeom prst="roundRect">
            <a:avLst>
              <a:gd name="adj" fmla="val 4324"/>
            </a:avLst>
          </a:prstGeom>
          <a:solidFill>
            <a:schemeClr val="bg2"/>
          </a:solidFill>
          <a:ln/>
        </p:spPr>
      </p:sp>
      <p:sp>
        <p:nvSpPr>
          <p:cNvPr id="5" name="Chip 149"/>
          <p:cNvSpPr txBox="1"/>
          <p:nvPr/>
        </p:nvSpPr>
        <p:spPr>
          <a:xfrm>
            <a:off x="685800" y="1325880"/>
            <a:ext cx="1051560" cy="457200"/>
          </a:xfrm>
          <a:prstGeom prst="roundRect">
            <a:avLst>
              <a:gd name="adj" fmla="val 16000"/>
            </a:avLst>
          </a:prstGeom>
          <a:solidFill>
            <a:schemeClr val="accent3"/>
          </a:solidFill>
          <a:ln/>
        </p:spPr>
        <p:txBody>
          <a:bodyPr wrap="square" lIns="381" tIns="381" rIns="381" bIns="381" rtlCol="0" anchor="ctr"/>
          <a:lstStyle/>
          <a:p>
            <a:pPr algn="ctr" indent="0" marL="0">
              <a:buNone/>
            </a:pPr>
            <a:r>
              <a:rPr lang="en-US" sz="1600" b="1" dirty="0">
                <a:solidFill>
                  <a:schemeClr val="bg1"/>
                </a:solidFill>
              </a:rPr>
              <a:t>Dog</a:t>
            </a:r>
            <a:endParaRPr lang="en-US" sz="1600" dirty="0"/>
          </a:p>
        </p:txBody>
      </p:sp>
      <p:sp>
        <p:nvSpPr>
          <p:cNvPr id="6" name="Text 150"/>
          <p:cNvSpPr txBox="1"/>
          <p:nvPr/>
        </p:nvSpPr>
        <p:spPr>
          <a:xfrm>
            <a:off x="685800" y="1828800"/>
            <a:ext cx="1051560" cy="228600"/>
          </a:xfrm>
          <a:prstGeom prst="rect">
            <a:avLst/>
          </a:prstGeom>
          <a:noFill/>
          <a:ln/>
        </p:spPr>
        <p:txBody>
          <a:bodyPr wrap="square" lIns="0" tIns="0" rIns="0" bIns="0" rtlCol="0" anchor="t"/>
          <a:lstStyle/>
          <a:p>
            <a:pPr algn="ctr" indent="0" marL="0">
              <a:buNone/>
            </a:pPr>
            <a:r>
              <a:rPr lang="en-US" sz="1200" dirty="0">
                <a:solidFill>
                  <a:schemeClr val="tx1"/>
                </a:solidFill>
              </a:rPr>
              <a:t>1</a:t>
            </a:r>
            <a:endParaRPr lang="en-US" sz="1200" dirty="0"/>
          </a:p>
        </p:txBody>
      </p:sp>
      <p:sp>
        <p:nvSpPr>
          <p:cNvPr id="7" name="Chip 151"/>
          <p:cNvSpPr txBox="1"/>
          <p:nvPr/>
        </p:nvSpPr>
        <p:spPr>
          <a:xfrm>
            <a:off x="1874520" y="1325880"/>
            <a:ext cx="1051560" cy="457200"/>
          </a:xfrm>
          <a:prstGeom prst="roundRect">
            <a:avLst>
              <a:gd name="adj" fmla="val 16000"/>
            </a:avLst>
          </a:prstGeom>
          <a:solidFill>
            <a:schemeClr val="accent1"/>
          </a:solidFill>
          <a:ln/>
        </p:spPr>
        <p:txBody>
          <a:bodyPr wrap="square" lIns="381" tIns="381" rIns="381" bIns="381" rtlCol="0" anchor="ctr"/>
          <a:lstStyle/>
          <a:p>
            <a:pPr algn="ctr" indent="0" marL="0">
              <a:buNone/>
            </a:pPr>
            <a:r>
              <a:rPr lang="en-US" sz="1600" b="1" dirty="0">
                <a:solidFill>
                  <a:schemeClr val="bg1"/>
                </a:solidFill>
              </a:rPr>
              <a:t>bites</a:t>
            </a:r>
            <a:endParaRPr lang="en-US" sz="1600" dirty="0"/>
          </a:p>
        </p:txBody>
      </p:sp>
      <p:sp>
        <p:nvSpPr>
          <p:cNvPr id="8" name="Text 152"/>
          <p:cNvSpPr txBox="1"/>
          <p:nvPr/>
        </p:nvSpPr>
        <p:spPr>
          <a:xfrm>
            <a:off x="1874520" y="1828800"/>
            <a:ext cx="1051560" cy="228600"/>
          </a:xfrm>
          <a:prstGeom prst="rect">
            <a:avLst/>
          </a:prstGeom>
          <a:noFill/>
          <a:ln/>
        </p:spPr>
        <p:txBody>
          <a:bodyPr wrap="square" lIns="0" tIns="0" rIns="0" bIns="0" rtlCol="0" anchor="t"/>
          <a:lstStyle/>
          <a:p>
            <a:pPr algn="ctr" indent="0" marL="0">
              <a:buNone/>
            </a:pPr>
            <a:r>
              <a:rPr lang="en-US" sz="1200" dirty="0">
                <a:solidFill>
                  <a:schemeClr val="tx1"/>
                </a:solidFill>
              </a:rPr>
              <a:t>2</a:t>
            </a:r>
            <a:endParaRPr lang="en-US" sz="1200" dirty="0"/>
          </a:p>
        </p:txBody>
      </p:sp>
      <p:sp>
        <p:nvSpPr>
          <p:cNvPr id="9" name="Chip 153"/>
          <p:cNvSpPr txBox="1"/>
          <p:nvPr/>
        </p:nvSpPr>
        <p:spPr>
          <a:xfrm>
            <a:off x="3063240" y="1325880"/>
            <a:ext cx="1051560" cy="457200"/>
          </a:xfrm>
          <a:prstGeom prst="roundRect">
            <a:avLst>
              <a:gd name="adj" fmla="val 16000"/>
            </a:avLst>
          </a:prstGeom>
          <a:solidFill>
            <a:schemeClr val="accent4"/>
          </a:solidFill>
          <a:ln/>
        </p:spPr>
        <p:txBody>
          <a:bodyPr wrap="square" lIns="381" tIns="381" rIns="381" bIns="381" rtlCol="0" anchor="ctr"/>
          <a:lstStyle/>
          <a:p>
            <a:pPr algn="ctr" indent="0" marL="0">
              <a:buNone/>
            </a:pPr>
            <a:r>
              <a:rPr lang="en-US" sz="1600" b="1" dirty="0">
                <a:solidFill>
                  <a:schemeClr val="bg1"/>
                </a:solidFill>
              </a:rPr>
              <a:t>man</a:t>
            </a:r>
            <a:endParaRPr lang="en-US" sz="1600" dirty="0"/>
          </a:p>
        </p:txBody>
      </p:sp>
      <p:sp>
        <p:nvSpPr>
          <p:cNvPr id="10" name="Text 154"/>
          <p:cNvSpPr txBox="1"/>
          <p:nvPr/>
        </p:nvSpPr>
        <p:spPr>
          <a:xfrm>
            <a:off x="3063240" y="1828800"/>
            <a:ext cx="1051560" cy="228600"/>
          </a:xfrm>
          <a:prstGeom prst="rect">
            <a:avLst/>
          </a:prstGeom>
          <a:noFill/>
          <a:ln/>
        </p:spPr>
        <p:txBody>
          <a:bodyPr wrap="square" lIns="0" tIns="0" rIns="0" bIns="0" rtlCol="0" anchor="t"/>
          <a:lstStyle/>
          <a:p>
            <a:pPr algn="ctr" indent="0" marL="0">
              <a:buNone/>
            </a:pPr>
            <a:r>
              <a:rPr lang="en-US" sz="1200" dirty="0">
                <a:solidFill>
                  <a:schemeClr val="tx1"/>
                </a:solidFill>
              </a:rPr>
              <a:t>3</a:t>
            </a:r>
            <a:endParaRPr lang="en-US" sz="1200" dirty="0"/>
          </a:p>
        </p:txBody>
      </p:sp>
      <p:sp>
        <p:nvSpPr>
          <p:cNvPr id="11" name="Text 155"/>
          <p:cNvSpPr txBox="1"/>
          <p:nvPr/>
        </p:nvSpPr>
        <p:spPr>
          <a:xfrm>
            <a:off x="685800" y="2194560"/>
            <a:ext cx="3566160" cy="457200"/>
          </a:xfrm>
          <a:prstGeom prst="rect">
            <a:avLst/>
          </a:prstGeom>
          <a:noFill/>
          <a:ln/>
        </p:spPr>
        <p:txBody>
          <a:bodyPr wrap="square" lIns="0" tIns="0" rIns="0" bIns="0" rtlCol="0" anchor="ctr"/>
          <a:lstStyle/>
          <a:p>
            <a:pPr indent="0" marL="0">
              <a:buNone/>
            </a:pPr>
            <a:r>
              <a:rPr lang="en-US" sz="1600" b="1" dirty="0">
                <a:solidFill>
                  <a:schemeClr val="tx2"/>
                </a:solidFill>
              </a:rPr>
              <a:t>The dog does the biting</a:t>
            </a:r>
            <a:endParaRPr lang="en-US" sz="1600" dirty="0"/>
          </a:p>
        </p:txBody>
      </p:sp>
      <p:sp>
        <p:nvSpPr>
          <p:cNvPr id="12" name="Card 156"/>
          <p:cNvSpPr/>
          <p:nvPr/>
        </p:nvSpPr>
        <p:spPr>
          <a:xfrm>
            <a:off x="4663440" y="1143000"/>
            <a:ext cx="4023360" cy="1691640"/>
          </a:xfrm>
          <a:prstGeom prst="roundRect">
            <a:avLst>
              <a:gd name="adj" fmla="val 4324"/>
            </a:avLst>
          </a:prstGeom>
          <a:solidFill>
            <a:schemeClr val="bg2"/>
          </a:solidFill>
          <a:ln/>
        </p:spPr>
      </p:sp>
      <p:sp>
        <p:nvSpPr>
          <p:cNvPr id="13" name="Chip 157"/>
          <p:cNvSpPr txBox="1"/>
          <p:nvPr/>
        </p:nvSpPr>
        <p:spPr>
          <a:xfrm>
            <a:off x="4892040" y="1325880"/>
            <a:ext cx="1051560" cy="457200"/>
          </a:xfrm>
          <a:prstGeom prst="roundRect">
            <a:avLst>
              <a:gd name="adj" fmla="val 16000"/>
            </a:avLst>
          </a:prstGeom>
          <a:solidFill>
            <a:schemeClr val="accent4"/>
          </a:solidFill>
          <a:ln/>
        </p:spPr>
        <p:txBody>
          <a:bodyPr wrap="square" lIns="381" tIns="381" rIns="381" bIns="381" rtlCol="0" anchor="ctr"/>
          <a:lstStyle/>
          <a:p>
            <a:pPr algn="ctr" indent="0" marL="0">
              <a:buNone/>
            </a:pPr>
            <a:r>
              <a:rPr lang="en-US" sz="1600" b="1" dirty="0">
                <a:solidFill>
                  <a:schemeClr val="bg1"/>
                </a:solidFill>
              </a:rPr>
              <a:t>Man</a:t>
            </a:r>
            <a:endParaRPr lang="en-US" sz="1600" dirty="0"/>
          </a:p>
        </p:txBody>
      </p:sp>
      <p:sp>
        <p:nvSpPr>
          <p:cNvPr id="14" name="Text 158"/>
          <p:cNvSpPr txBox="1"/>
          <p:nvPr/>
        </p:nvSpPr>
        <p:spPr>
          <a:xfrm>
            <a:off x="4892040" y="1828800"/>
            <a:ext cx="1051560" cy="228600"/>
          </a:xfrm>
          <a:prstGeom prst="rect">
            <a:avLst/>
          </a:prstGeom>
          <a:noFill/>
          <a:ln/>
        </p:spPr>
        <p:txBody>
          <a:bodyPr wrap="square" lIns="0" tIns="0" rIns="0" bIns="0" rtlCol="0" anchor="t"/>
          <a:lstStyle/>
          <a:p>
            <a:pPr algn="ctr" indent="0" marL="0">
              <a:buNone/>
            </a:pPr>
            <a:r>
              <a:rPr lang="en-US" sz="1200" dirty="0">
                <a:solidFill>
                  <a:schemeClr val="tx1"/>
                </a:solidFill>
              </a:rPr>
              <a:t>1</a:t>
            </a:r>
            <a:endParaRPr lang="en-US" sz="1200" dirty="0"/>
          </a:p>
        </p:txBody>
      </p:sp>
      <p:sp>
        <p:nvSpPr>
          <p:cNvPr id="15" name="Chip 159"/>
          <p:cNvSpPr txBox="1"/>
          <p:nvPr/>
        </p:nvSpPr>
        <p:spPr>
          <a:xfrm>
            <a:off x="6080760" y="1325880"/>
            <a:ext cx="1051560" cy="457200"/>
          </a:xfrm>
          <a:prstGeom prst="roundRect">
            <a:avLst>
              <a:gd name="adj" fmla="val 16000"/>
            </a:avLst>
          </a:prstGeom>
          <a:solidFill>
            <a:schemeClr val="accent1"/>
          </a:solidFill>
          <a:ln/>
        </p:spPr>
        <p:txBody>
          <a:bodyPr wrap="square" lIns="381" tIns="381" rIns="381" bIns="381" rtlCol="0" anchor="ctr"/>
          <a:lstStyle/>
          <a:p>
            <a:pPr algn="ctr" indent="0" marL="0">
              <a:buNone/>
            </a:pPr>
            <a:r>
              <a:rPr lang="en-US" sz="1600" b="1" dirty="0">
                <a:solidFill>
                  <a:schemeClr val="bg1"/>
                </a:solidFill>
              </a:rPr>
              <a:t>bites</a:t>
            </a:r>
            <a:endParaRPr lang="en-US" sz="1600" dirty="0"/>
          </a:p>
        </p:txBody>
      </p:sp>
      <p:sp>
        <p:nvSpPr>
          <p:cNvPr id="16" name="Text 160"/>
          <p:cNvSpPr txBox="1"/>
          <p:nvPr/>
        </p:nvSpPr>
        <p:spPr>
          <a:xfrm>
            <a:off x="6080760" y="1828800"/>
            <a:ext cx="1051560" cy="228600"/>
          </a:xfrm>
          <a:prstGeom prst="rect">
            <a:avLst/>
          </a:prstGeom>
          <a:noFill/>
          <a:ln/>
        </p:spPr>
        <p:txBody>
          <a:bodyPr wrap="square" lIns="0" tIns="0" rIns="0" bIns="0" rtlCol="0" anchor="t"/>
          <a:lstStyle/>
          <a:p>
            <a:pPr algn="ctr" indent="0" marL="0">
              <a:buNone/>
            </a:pPr>
            <a:r>
              <a:rPr lang="en-US" sz="1200" dirty="0">
                <a:solidFill>
                  <a:schemeClr val="tx1"/>
                </a:solidFill>
              </a:rPr>
              <a:t>2</a:t>
            </a:r>
            <a:endParaRPr lang="en-US" sz="1200" dirty="0"/>
          </a:p>
        </p:txBody>
      </p:sp>
      <p:sp>
        <p:nvSpPr>
          <p:cNvPr id="17" name="Chip 161"/>
          <p:cNvSpPr txBox="1"/>
          <p:nvPr/>
        </p:nvSpPr>
        <p:spPr>
          <a:xfrm>
            <a:off x="7269480" y="1325880"/>
            <a:ext cx="1051560" cy="457200"/>
          </a:xfrm>
          <a:prstGeom prst="roundRect">
            <a:avLst>
              <a:gd name="adj" fmla="val 16000"/>
            </a:avLst>
          </a:prstGeom>
          <a:solidFill>
            <a:schemeClr val="accent3"/>
          </a:solidFill>
          <a:ln/>
        </p:spPr>
        <p:txBody>
          <a:bodyPr wrap="square" lIns="381" tIns="381" rIns="381" bIns="381" rtlCol="0" anchor="ctr"/>
          <a:lstStyle/>
          <a:p>
            <a:pPr algn="ctr" indent="0" marL="0">
              <a:buNone/>
            </a:pPr>
            <a:r>
              <a:rPr lang="en-US" sz="1600" b="1" dirty="0">
                <a:solidFill>
                  <a:schemeClr val="bg1"/>
                </a:solidFill>
              </a:rPr>
              <a:t>dog</a:t>
            </a:r>
            <a:endParaRPr lang="en-US" sz="1600" dirty="0"/>
          </a:p>
        </p:txBody>
      </p:sp>
      <p:sp>
        <p:nvSpPr>
          <p:cNvPr id="18" name="Text 162"/>
          <p:cNvSpPr txBox="1"/>
          <p:nvPr/>
        </p:nvSpPr>
        <p:spPr>
          <a:xfrm>
            <a:off x="7269480" y="1828800"/>
            <a:ext cx="1051560" cy="228600"/>
          </a:xfrm>
          <a:prstGeom prst="rect">
            <a:avLst/>
          </a:prstGeom>
          <a:noFill/>
          <a:ln/>
        </p:spPr>
        <p:txBody>
          <a:bodyPr wrap="square" lIns="0" tIns="0" rIns="0" bIns="0" rtlCol="0" anchor="t"/>
          <a:lstStyle/>
          <a:p>
            <a:pPr algn="ctr" indent="0" marL="0">
              <a:buNone/>
            </a:pPr>
            <a:r>
              <a:rPr lang="en-US" sz="1200" dirty="0">
                <a:solidFill>
                  <a:schemeClr val="tx1"/>
                </a:solidFill>
              </a:rPr>
              <a:t>3</a:t>
            </a:r>
            <a:endParaRPr lang="en-US" sz="1200" dirty="0"/>
          </a:p>
        </p:txBody>
      </p:sp>
      <p:sp>
        <p:nvSpPr>
          <p:cNvPr id="19" name="Text 163"/>
          <p:cNvSpPr txBox="1"/>
          <p:nvPr/>
        </p:nvSpPr>
        <p:spPr>
          <a:xfrm>
            <a:off x="4892040" y="2194560"/>
            <a:ext cx="3566160" cy="457200"/>
          </a:xfrm>
          <a:prstGeom prst="rect">
            <a:avLst/>
          </a:prstGeom>
          <a:noFill/>
          <a:ln/>
        </p:spPr>
        <p:txBody>
          <a:bodyPr wrap="square" lIns="0" tIns="0" rIns="0" bIns="0" rtlCol="0" anchor="ctr"/>
          <a:lstStyle/>
          <a:p>
            <a:pPr indent="0" marL="0">
              <a:buNone/>
            </a:pPr>
            <a:r>
              <a:rPr lang="en-US" sz="1600" b="1" dirty="0">
                <a:solidFill>
                  <a:schemeClr val="tx2"/>
                </a:solidFill>
              </a:rPr>
              <a:t>The man does the biting</a:t>
            </a:r>
            <a:endParaRPr lang="en-US" sz="1600" dirty="0"/>
          </a:p>
        </p:txBody>
      </p:sp>
      <p:sp>
        <p:nvSpPr>
          <p:cNvPr id="20" name="Text 164"/>
          <p:cNvSpPr txBox="1"/>
          <p:nvPr/>
        </p:nvSpPr>
        <p:spPr>
          <a:xfrm>
            <a:off x="457200" y="3017520"/>
            <a:ext cx="8229600" cy="365760"/>
          </a:xfrm>
          <a:prstGeom prst="rect">
            <a:avLst/>
          </a:prstGeom>
          <a:noFill/>
          <a:ln/>
        </p:spPr>
        <p:txBody>
          <a:bodyPr wrap="square" lIns="0" tIns="0" rIns="0" bIns="0" rtlCol="0" anchor="t"/>
          <a:lstStyle/>
          <a:p>
            <a:pPr indent="0" marL="0">
              <a:buNone/>
            </a:pPr>
            <a:r>
              <a:rPr lang="en-US" sz="1800" b="1" dirty="0">
                <a:solidFill>
                  <a:schemeClr val="tx2"/>
                </a:solidFill>
              </a:rPr>
              <a:t>Fix: add a position signal to every word</a:t>
            </a:r>
            <a:endParaRPr lang="en-US" sz="1800" dirty="0"/>
          </a:p>
        </p:txBody>
      </p:sp>
      <p:sp>
        <p:nvSpPr>
          <p:cNvPr id="21" name="Chip 165"/>
          <p:cNvSpPr txBox="1"/>
          <p:nvPr/>
        </p:nvSpPr>
        <p:spPr>
          <a:xfrm>
            <a:off x="457200" y="3520440"/>
            <a:ext cx="2377440" cy="914400"/>
          </a:xfrm>
          <a:prstGeom prst="roundRect">
            <a:avLst>
              <a:gd name="adj" fmla="val 8000"/>
            </a:avLst>
          </a:prstGeom>
          <a:solidFill>
            <a:schemeClr val="accent1"/>
          </a:solidFill>
          <a:ln/>
        </p:spPr>
        <p:txBody>
          <a:bodyPr wrap="square" lIns="381" tIns="381" rIns="381" bIns="381" rtlCol="0" anchor="ctr"/>
          <a:lstStyle/>
          <a:p>
            <a:pPr algn="ctr" indent="0" marL="0">
              <a:buNone/>
            </a:pPr>
            <a:r>
              <a:rPr lang="en-US" sz="1700" b="1" dirty="0">
                <a:solidFill>
                  <a:schemeClr val="bg1"/>
                </a:solidFill>
              </a:rPr>
              <a:t>Word embedding</a:t>
            </a:r>
            <a:endParaRPr lang="en-US" sz="1700" dirty="0"/>
          </a:p>
        </p:txBody>
      </p:sp>
      <p:sp>
        <p:nvSpPr>
          <p:cNvPr id="22" name="Chip 166"/>
          <p:cNvSpPr txBox="1"/>
          <p:nvPr/>
        </p:nvSpPr>
        <p:spPr>
          <a:xfrm>
            <a:off x="3246120" y="3520440"/>
            <a:ext cx="2377440" cy="914400"/>
          </a:xfrm>
          <a:prstGeom prst="roundRect">
            <a:avLst>
              <a:gd name="adj" fmla="val 8000"/>
            </a:avLst>
          </a:prstGeom>
          <a:solidFill>
            <a:schemeClr val="accent2"/>
          </a:solidFill>
          <a:ln/>
        </p:spPr>
        <p:txBody>
          <a:bodyPr wrap="square" lIns="381" tIns="381" rIns="381" bIns="381" rtlCol="0" anchor="ctr"/>
          <a:lstStyle/>
          <a:p>
            <a:pPr algn="ctr" indent="0" marL="0">
              <a:buNone/>
            </a:pPr>
            <a:r>
              <a:rPr lang="en-US" sz="1700" b="1" dirty="0">
                <a:solidFill>
                  <a:schemeClr val="tx1"/>
                </a:solidFill>
              </a:rPr>
              <a:t>Position signal</a:t>
            </a:r>
            <a:endParaRPr lang="en-US" sz="1700" dirty="0"/>
          </a:p>
        </p:txBody>
      </p:sp>
      <p:sp>
        <p:nvSpPr>
          <p:cNvPr id="23" name="Chip 167"/>
          <p:cNvSpPr txBox="1"/>
          <p:nvPr/>
        </p:nvSpPr>
        <p:spPr>
          <a:xfrm>
            <a:off x="6035040" y="3520440"/>
            <a:ext cx="2651760" cy="914400"/>
          </a:xfrm>
          <a:prstGeom prst="roundRect">
            <a:avLst>
              <a:gd name="adj" fmla="val 8000"/>
            </a:avLst>
          </a:prstGeom>
          <a:solidFill>
            <a:schemeClr val="accent3"/>
          </a:solidFill>
          <a:ln/>
        </p:spPr>
        <p:txBody>
          <a:bodyPr wrap="square" lIns="381" tIns="381" rIns="381" bIns="381" rtlCol="0" anchor="ctr"/>
          <a:lstStyle/>
          <a:p>
            <a:pPr algn="ctr" indent="0" marL="0">
              <a:buNone/>
            </a:pPr>
            <a:r>
              <a:rPr lang="en-US" sz="1700" b="1" dirty="0">
                <a:solidFill>
                  <a:schemeClr val="bg1"/>
                </a:solidFill>
              </a:rPr>
              <a:t>Input to Transformer</a:t>
            </a:r>
            <a:endParaRPr lang="en-US" sz="1700" dirty="0"/>
          </a:p>
        </p:txBody>
      </p:sp>
      <p:sp>
        <p:nvSpPr>
          <p:cNvPr id="24" name="Text 168"/>
          <p:cNvSpPr txBox="1"/>
          <p:nvPr/>
        </p:nvSpPr>
        <p:spPr>
          <a:xfrm>
            <a:off x="2834640" y="3520440"/>
            <a:ext cx="411480" cy="914400"/>
          </a:xfrm>
          <a:prstGeom prst="rect">
            <a:avLst/>
          </a:prstGeom>
          <a:noFill/>
          <a:ln/>
        </p:spPr>
        <p:txBody>
          <a:bodyPr wrap="square" lIns="0" tIns="0" rIns="0" bIns="0" rtlCol="0" anchor="ctr"/>
          <a:lstStyle/>
          <a:p>
            <a:pPr algn="ctr" indent="0" marL="0">
              <a:buNone/>
            </a:pPr>
            <a:r>
              <a:rPr lang="en-US" sz="3000" b="1" dirty="0">
                <a:solidFill>
                  <a:schemeClr val="tx2"/>
                </a:solidFill>
              </a:rPr>
              <a:t>+</a:t>
            </a:r>
            <a:endParaRPr lang="en-US" sz="3000" dirty="0"/>
          </a:p>
        </p:txBody>
      </p:sp>
      <p:sp>
        <p:nvSpPr>
          <p:cNvPr id="25" name="Text 169"/>
          <p:cNvSpPr txBox="1"/>
          <p:nvPr/>
        </p:nvSpPr>
        <p:spPr>
          <a:xfrm>
            <a:off x="5623560" y="3520440"/>
            <a:ext cx="411480" cy="914400"/>
          </a:xfrm>
          <a:prstGeom prst="rect">
            <a:avLst/>
          </a:prstGeom>
          <a:noFill/>
          <a:ln/>
        </p:spPr>
        <p:txBody>
          <a:bodyPr wrap="square" lIns="0" tIns="0" rIns="0" bIns="0" rtlCol="0" anchor="ctr"/>
          <a:lstStyle/>
          <a:p>
            <a:pPr algn="ctr" indent="0" marL="0">
              <a:buNone/>
            </a:pPr>
            <a:r>
              <a:rPr lang="en-US" sz="3000" b="1" dirty="0">
                <a:solidFill>
                  <a:schemeClr val="tx2"/>
                </a:solidFill>
              </a:rPr>
              <a:t>=</a:t>
            </a: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Self-Attention: The Core Idea</a:t>
            </a:r>
            <a:endParaRPr lang="en-US" sz="3000" dirty="0"/>
          </a:p>
        </p:txBody>
      </p:sp>
      <p:sp>
        <p:nvSpPr>
          <p:cNvPr id="4" name="Text 170"/>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700" dirty="0">
                <a:solidFill>
                  <a:schemeClr val="tx1"/>
                </a:solidFill>
              </a:rPr>
              <a:t>Reading the word </a:t>
            </a:r>
            <a:pPr indent="0" marL="0">
              <a:buNone/>
            </a:pPr>
            <a:r>
              <a:rPr lang="en-US" sz="1700" b="1" dirty="0">
                <a:solidFill>
                  <a:schemeClr val="accent2"/>
                </a:solidFill>
              </a:rPr>
              <a:t>“it”</a:t>
            </a:r>
            <a:pPr indent="0" marL="0">
              <a:buNone/>
            </a:pPr>
            <a:r>
              <a:rPr lang="en-US" sz="1700" dirty="0">
                <a:solidFill>
                  <a:schemeClr val="tx1"/>
                </a:solidFill>
              </a:rPr>
              <a:t>: how much attention does it give each word?</a:t>
            </a:r>
            <a:endParaRPr lang="en-US" sz="1700" dirty="0"/>
          </a:p>
        </p:txBody>
      </p:sp>
      <p:sp>
        <p:nvSpPr>
          <p:cNvPr id="5" name="Bar 171"/>
          <p:cNvSpPr/>
          <p:nvPr/>
        </p:nvSpPr>
        <p:spPr>
          <a:xfrm>
            <a:off x="685800" y="3310959"/>
            <a:ext cx="548640" cy="72321"/>
          </a:xfrm>
          <a:prstGeom prst="rect">
            <a:avLst/>
          </a:prstGeom>
          <a:solidFill>
            <a:schemeClr val="accent1">
              <a:alpha val="65000"/>
            </a:schemeClr>
          </a:solidFill>
          <a:ln/>
        </p:spPr>
      </p:sp>
      <p:sp>
        <p:nvSpPr>
          <p:cNvPr id="6" name="Text 172"/>
          <p:cNvSpPr txBox="1"/>
          <p:nvPr/>
        </p:nvSpPr>
        <p:spPr>
          <a:xfrm>
            <a:off x="457200" y="3036639"/>
            <a:ext cx="1005840" cy="237744"/>
          </a:xfrm>
          <a:prstGeom prst="rect">
            <a:avLst/>
          </a:prstGeom>
          <a:noFill/>
          <a:ln/>
        </p:spPr>
        <p:txBody>
          <a:bodyPr wrap="square" lIns="0" tIns="0" rIns="0" bIns="0" rtlCol="0" anchor="t"/>
          <a:lstStyle/>
          <a:p>
            <a:pPr algn="ctr" indent="0" marL="0">
              <a:buNone/>
            </a:pPr>
            <a:r>
              <a:rPr lang="en-US" sz="1300" b="1" dirty="0">
                <a:solidFill>
                  <a:schemeClr val="tx2"/>
                </a:solidFill>
              </a:rPr>
              <a:t>3%</a:t>
            </a:r>
            <a:endParaRPr lang="en-US" sz="1300" dirty="0"/>
          </a:p>
        </p:txBody>
      </p:sp>
      <p:sp>
        <p:nvSpPr>
          <p:cNvPr id="7" name="Chip 173"/>
          <p:cNvSpPr txBox="1"/>
          <p:nvPr/>
        </p:nvSpPr>
        <p:spPr>
          <a:xfrm>
            <a:off x="457200" y="3493008"/>
            <a:ext cx="100584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600" b="1" dirty="0">
                <a:solidFill>
                  <a:schemeClr val="bg1"/>
                </a:solidFill>
              </a:rPr>
              <a:t>The</a:t>
            </a:r>
            <a:endParaRPr lang="en-US" sz="1600" dirty="0"/>
          </a:p>
        </p:txBody>
      </p:sp>
      <p:sp>
        <p:nvSpPr>
          <p:cNvPr id="8" name="Bar 174"/>
          <p:cNvSpPr/>
          <p:nvPr/>
        </p:nvSpPr>
        <p:spPr>
          <a:xfrm>
            <a:off x="1874520" y="2057400"/>
            <a:ext cx="548640" cy="1325880"/>
          </a:xfrm>
          <a:prstGeom prst="rect">
            <a:avLst/>
          </a:prstGeom>
          <a:solidFill>
            <a:schemeClr val="accent2"/>
          </a:solidFill>
          <a:ln/>
        </p:spPr>
      </p:sp>
      <p:sp>
        <p:nvSpPr>
          <p:cNvPr id="9" name="Text 175"/>
          <p:cNvSpPr txBox="1"/>
          <p:nvPr/>
        </p:nvSpPr>
        <p:spPr>
          <a:xfrm>
            <a:off x="1645920" y="1783080"/>
            <a:ext cx="1005840" cy="237744"/>
          </a:xfrm>
          <a:prstGeom prst="rect">
            <a:avLst/>
          </a:prstGeom>
          <a:noFill/>
          <a:ln/>
        </p:spPr>
        <p:txBody>
          <a:bodyPr wrap="square" lIns="0" tIns="0" rIns="0" bIns="0" rtlCol="0" anchor="t"/>
          <a:lstStyle/>
          <a:p>
            <a:pPr algn="ctr" indent="0" marL="0">
              <a:buNone/>
            </a:pPr>
            <a:r>
              <a:rPr lang="en-US" sz="1300" b="1" dirty="0">
                <a:solidFill>
                  <a:schemeClr val="tx2"/>
                </a:solidFill>
              </a:rPr>
              <a:t>55%</a:t>
            </a:r>
            <a:endParaRPr lang="en-US" sz="1300" dirty="0"/>
          </a:p>
        </p:txBody>
      </p:sp>
      <p:sp>
        <p:nvSpPr>
          <p:cNvPr id="10" name="Chip 176"/>
          <p:cNvSpPr txBox="1"/>
          <p:nvPr/>
        </p:nvSpPr>
        <p:spPr>
          <a:xfrm>
            <a:off x="1645920" y="3493008"/>
            <a:ext cx="100584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600" b="1" dirty="0">
                <a:solidFill>
                  <a:schemeClr val="bg1"/>
                </a:solidFill>
              </a:rPr>
              <a:t>animal</a:t>
            </a:r>
            <a:endParaRPr lang="en-US" sz="1600" dirty="0"/>
          </a:p>
        </p:txBody>
      </p:sp>
      <p:sp>
        <p:nvSpPr>
          <p:cNvPr id="11" name="Bar 177"/>
          <p:cNvSpPr/>
          <p:nvPr/>
        </p:nvSpPr>
        <p:spPr>
          <a:xfrm>
            <a:off x="3063240" y="3286852"/>
            <a:ext cx="548640" cy="96428"/>
          </a:xfrm>
          <a:prstGeom prst="rect">
            <a:avLst/>
          </a:prstGeom>
          <a:solidFill>
            <a:schemeClr val="accent1">
              <a:alpha val="65000"/>
            </a:schemeClr>
          </a:solidFill>
          <a:ln/>
        </p:spPr>
      </p:sp>
      <p:sp>
        <p:nvSpPr>
          <p:cNvPr id="12" name="Text 178"/>
          <p:cNvSpPr txBox="1"/>
          <p:nvPr/>
        </p:nvSpPr>
        <p:spPr>
          <a:xfrm>
            <a:off x="2834640" y="3012532"/>
            <a:ext cx="1005840" cy="237744"/>
          </a:xfrm>
          <a:prstGeom prst="rect">
            <a:avLst/>
          </a:prstGeom>
          <a:noFill/>
          <a:ln/>
        </p:spPr>
        <p:txBody>
          <a:bodyPr wrap="square" lIns="0" tIns="0" rIns="0" bIns="0" rtlCol="0" anchor="t"/>
          <a:lstStyle/>
          <a:p>
            <a:pPr algn="ctr" indent="0" marL="0">
              <a:buNone/>
            </a:pPr>
            <a:r>
              <a:rPr lang="en-US" sz="1300" b="1" dirty="0">
                <a:solidFill>
                  <a:schemeClr val="tx2"/>
                </a:solidFill>
              </a:rPr>
              <a:t>4%</a:t>
            </a:r>
            <a:endParaRPr lang="en-US" sz="1300" dirty="0"/>
          </a:p>
        </p:txBody>
      </p:sp>
      <p:sp>
        <p:nvSpPr>
          <p:cNvPr id="13" name="Chip 179"/>
          <p:cNvSpPr txBox="1"/>
          <p:nvPr/>
        </p:nvSpPr>
        <p:spPr>
          <a:xfrm>
            <a:off x="2834640" y="3493008"/>
            <a:ext cx="100584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600" b="1" dirty="0">
                <a:solidFill>
                  <a:schemeClr val="bg1"/>
                </a:solidFill>
              </a:rPr>
              <a:t>was</a:t>
            </a:r>
            <a:endParaRPr lang="en-US" sz="1600" dirty="0"/>
          </a:p>
        </p:txBody>
      </p:sp>
      <p:sp>
        <p:nvSpPr>
          <p:cNvPr id="14" name="Bar 180"/>
          <p:cNvSpPr/>
          <p:nvPr/>
        </p:nvSpPr>
        <p:spPr>
          <a:xfrm>
            <a:off x="4251960" y="2852928"/>
            <a:ext cx="548640" cy="530352"/>
          </a:xfrm>
          <a:prstGeom prst="rect">
            <a:avLst/>
          </a:prstGeom>
          <a:solidFill>
            <a:schemeClr val="accent1">
              <a:alpha val="65000"/>
            </a:schemeClr>
          </a:solidFill>
          <a:ln/>
        </p:spPr>
      </p:sp>
      <p:sp>
        <p:nvSpPr>
          <p:cNvPr id="15" name="Text 181"/>
          <p:cNvSpPr txBox="1"/>
          <p:nvPr/>
        </p:nvSpPr>
        <p:spPr>
          <a:xfrm>
            <a:off x="4023360" y="2578608"/>
            <a:ext cx="1005840" cy="237744"/>
          </a:xfrm>
          <a:prstGeom prst="rect">
            <a:avLst/>
          </a:prstGeom>
          <a:noFill/>
          <a:ln/>
        </p:spPr>
        <p:txBody>
          <a:bodyPr wrap="square" lIns="0" tIns="0" rIns="0" bIns="0" rtlCol="0" anchor="t"/>
          <a:lstStyle/>
          <a:p>
            <a:pPr algn="ctr" indent="0" marL="0">
              <a:buNone/>
            </a:pPr>
            <a:r>
              <a:rPr lang="en-US" sz="1300" b="1" dirty="0">
                <a:solidFill>
                  <a:schemeClr val="tx2"/>
                </a:solidFill>
              </a:rPr>
              <a:t>22%</a:t>
            </a:r>
            <a:endParaRPr lang="en-US" sz="1300" dirty="0"/>
          </a:p>
        </p:txBody>
      </p:sp>
      <p:sp>
        <p:nvSpPr>
          <p:cNvPr id="16" name="Chip 182"/>
          <p:cNvSpPr txBox="1"/>
          <p:nvPr/>
        </p:nvSpPr>
        <p:spPr>
          <a:xfrm>
            <a:off x="4023360" y="3493008"/>
            <a:ext cx="100584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600" b="1" dirty="0">
                <a:solidFill>
                  <a:schemeClr val="bg1"/>
                </a:solidFill>
              </a:rPr>
              <a:t>tired</a:t>
            </a:r>
            <a:endParaRPr lang="en-US" sz="1600" dirty="0"/>
          </a:p>
        </p:txBody>
      </p:sp>
      <p:sp>
        <p:nvSpPr>
          <p:cNvPr id="17" name="Bar 183"/>
          <p:cNvSpPr/>
          <p:nvPr/>
        </p:nvSpPr>
        <p:spPr>
          <a:xfrm>
            <a:off x="5440680" y="3310959"/>
            <a:ext cx="548640" cy="72321"/>
          </a:xfrm>
          <a:prstGeom prst="rect">
            <a:avLst/>
          </a:prstGeom>
          <a:solidFill>
            <a:schemeClr val="accent1">
              <a:alpha val="65000"/>
            </a:schemeClr>
          </a:solidFill>
          <a:ln/>
        </p:spPr>
      </p:sp>
      <p:sp>
        <p:nvSpPr>
          <p:cNvPr id="18" name="Text 184"/>
          <p:cNvSpPr txBox="1"/>
          <p:nvPr/>
        </p:nvSpPr>
        <p:spPr>
          <a:xfrm>
            <a:off x="5212080" y="3036639"/>
            <a:ext cx="1005840" cy="237744"/>
          </a:xfrm>
          <a:prstGeom prst="rect">
            <a:avLst/>
          </a:prstGeom>
          <a:noFill/>
          <a:ln/>
        </p:spPr>
        <p:txBody>
          <a:bodyPr wrap="square" lIns="0" tIns="0" rIns="0" bIns="0" rtlCol="0" anchor="t"/>
          <a:lstStyle/>
          <a:p>
            <a:pPr algn="ctr" indent="0" marL="0">
              <a:buNone/>
            </a:pPr>
            <a:r>
              <a:rPr lang="en-US" sz="1300" b="1" dirty="0">
                <a:solidFill>
                  <a:schemeClr val="tx2"/>
                </a:solidFill>
              </a:rPr>
              <a:t>3%</a:t>
            </a:r>
            <a:endParaRPr lang="en-US" sz="1300" dirty="0"/>
          </a:p>
        </p:txBody>
      </p:sp>
      <p:sp>
        <p:nvSpPr>
          <p:cNvPr id="19" name="Chip 185"/>
          <p:cNvSpPr txBox="1"/>
          <p:nvPr/>
        </p:nvSpPr>
        <p:spPr>
          <a:xfrm>
            <a:off x="5212080" y="3493008"/>
            <a:ext cx="100584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600" b="1" dirty="0">
                <a:solidFill>
                  <a:schemeClr val="bg1"/>
                </a:solidFill>
              </a:rPr>
              <a:t>so</a:t>
            </a:r>
            <a:endParaRPr lang="en-US" sz="1600" dirty="0"/>
          </a:p>
        </p:txBody>
      </p:sp>
      <p:sp>
        <p:nvSpPr>
          <p:cNvPr id="20" name="Bar 186"/>
          <p:cNvSpPr/>
          <p:nvPr/>
        </p:nvSpPr>
        <p:spPr>
          <a:xfrm>
            <a:off x="6629400" y="3190425"/>
            <a:ext cx="548640" cy="192855"/>
          </a:xfrm>
          <a:prstGeom prst="rect">
            <a:avLst/>
          </a:prstGeom>
          <a:solidFill>
            <a:schemeClr val="accent1">
              <a:alpha val="65000"/>
            </a:schemeClr>
          </a:solidFill>
          <a:ln/>
        </p:spPr>
      </p:sp>
      <p:sp>
        <p:nvSpPr>
          <p:cNvPr id="21" name="Text 187"/>
          <p:cNvSpPr txBox="1"/>
          <p:nvPr/>
        </p:nvSpPr>
        <p:spPr>
          <a:xfrm>
            <a:off x="6400800" y="2916105"/>
            <a:ext cx="1005840" cy="237744"/>
          </a:xfrm>
          <a:prstGeom prst="rect">
            <a:avLst/>
          </a:prstGeom>
          <a:noFill/>
          <a:ln/>
        </p:spPr>
        <p:txBody>
          <a:bodyPr wrap="square" lIns="0" tIns="0" rIns="0" bIns="0" rtlCol="0" anchor="t"/>
          <a:lstStyle/>
          <a:p>
            <a:pPr algn="ctr" indent="0" marL="0">
              <a:buNone/>
            </a:pPr>
            <a:r>
              <a:rPr lang="en-US" sz="1300" b="1" dirty="0">
                <a:solidFill>
                  <a:schemeClr val="tx2"/>
                </a:solidFill>
              </a:rPr>
              <a:t>8%</a:t>
            </a:r>
            <a:endParaRPr lang="en-US" sz="1300" dirty="0"/>
          </a:p>
        </p:txBody>
      </p:sp>
      <p:sp>
        <p:nvSpPr>
          <p:cNvPr id="22" name="Chip 188"/>
          <p:cNvSpPr txBox="1"/>
          <p:nvPr/>
        </p:nvSpPr>
        <p:spPr>
          <a:xfrm>
            <a:off x="6400800" y="3493008"/>
            <a:ext cx="1005840" cy="457200"/>
          </a:xfrm>
          <a:prstGeom prst="roundRect">
            <a:avLst>
              <a:gd name="adj" fmla="val 16000"/>
            </a:avLst>
          </a:prstGeom>
          <a:solidFill>
            <a:schemeClr val="accent2"/>
          </a:solidFill>
          <a:ln/>
        </p:spPr>
        <p:txBody>
          <a:bodyPr wrap="square" lIns="381" tIns="381" rIns="381" bIns="381" rtlCol="0" anchor="ctr"/>
          <a:lstStyle/>
          <a:p>
            <a:pPr algn="ctr" indent="0" marL="0">
              <a:buNone/>
            </a:pPr>
            <a:r>
              <a:rPr lang="en-US" sz="1600" b="1" dirty="0">
                <a:solidFill>
                  <a:schemeClr val="tx1"/>
                </a:solidFill>
              </a:rPr>
              <a:t>it</a:t>
            </a:r>
            <a:endParaRPr lang="en-US" sz="1600" dirty="0"/>
          </a:p>
        </p:txBody>
      </p:sp>
      <p:sp>
        <p:nvSpPr>
          <p:cNvPr id="23" name="Bar 189"/>
          <p:cNvSpPr/>
          <p:nvPr/>
        </p:nvSpPr>
        <p:spPr>
          <a:xfrm>
            <a:off x="7818120" y="3262745"/>
            <a:ext cx="548640" cy="120535"/>
          </a:xfrm>
          <a:prstGeom prst="rect">
            <a:avLst/>
          </a:prstGeom>
          <a:solidFill>
            <a:schemeClr val="accent1">
              <a:alpha val="65000"/>
            </a:schemeClr>
          </a:solidFill>
          <a:ln/>
        </p:spPr>
      </p:sp>
      <p:sp>
        <p:nvSpPr>
          <p:cNvPr id="24" name="Text 190"/>
          <p:cNvSpPr txBox="1"/>
          <p:nvPr/>
        </p:nvSpPr>
        <p:spPr>
          <a:xfrm>
            <a:off x="7589520" y="2988425"/>
            <a:ext cx="1005840" cy="237744"/>
          </a:xfrm>
          <a:prstGeom prst="rect">
            <a:avLst/>
          </a:prstGeom>
          <a:noFill/>
          <a:ln/>
        </p:spPr>
        <p:txBody>
          <a:bodyPr wrap="square" lIns="0" tIns="0" rIns="0" bIns="0" rtlCol="0" anchor="t"/>
          <a:lstStyle/>
          <a:p>
            <a:pPr algn="ctr" indent="0" marL="0">
              <a:buNone/>
            </a:pPr>
            <a:r>
              <a:rPr lang="en-US" sz="1300" b="1" dirty="0">
                <a:solidFill>
                  <a:schemeClr val="tx2"/>
                </a:solidFill>
              </a:rPr>
              <a:t>5%</a:t>
            </a:r>
            <a:endParaRPr lang="en-US" sz="1300" dirty="0"/>
          </a:p>
        </p:txBody>
      </p:sp>
      <p:sp>
        <p:nvSpPr>
          <p:cNvPr id="25" name="Chip 191"/>
          <p:cNvSpPr txBox="1"/>
          <p:nvPr/>
        </p:nvSpPr>
        <p:spPr>
          <a:xfrm>
            <a:off x="7589520" y="3493008"/>
            <a:ext cx="1005840" cy="457200"/>
          </a:xfrm>
          <a:prstGeom prst="roundRect">
            <a:avLst>
              <a:gd name="adj" fmla="val 16000"/>
            </a:avLst>
          </a:prstGeom>
          <a:solidFill>
            <a:schemeClr val="tx2"/>
          </a:solidFill>
          <a:ln/>
        </p:spPr>
        <p:txBody>
          <a:bodyPr wrap="square" lIns="381" tIns="381" rIns="381" bIns="381" rtlCol="0" anchor="ctr"/>
          <a:lstStyle/>
          <a:p>
            <a:pPr algn="ctr" indent="0" marL="0">
              <a:buNone/>
            </a:pPr>
            <a:r>
              <a:rPr lang="en-US" sz="1600" b="1" dirty="0">
                <a:solidFill>
                  <a:schemeClr val="bg1"/>
                </a:solidFill>
              </a:rPr>
              <a:t>slept</a:t>
            </a:r>
            <a:endParaRPr lang="en-US" sz="1600" dirty="0"/>
          </a:p>
        </p:txBody>
      </p:sp>
      <p:sp>
        <p:nvSpPr>
          <p:cNvPr id="26" name="Card 192"/>
          <p:cNvSpPr/>
          <p:nvPr/>
        </p:nvSpPr>
        <p:spPr>
          <a:xfrm>
            <a:off x="457200" y="4114800"/>
            <a:ext cx="8229600" cy="548640"/>
          </a:xfrm>
          <a:prstGeom prst="roundRect">
            <a:avLst>
              <a:gd name="adj" fmla="val 13333"/>
            </a:avLst>
          </a:prstGeom>
          <a:solidFill>
            <a:schemeClr val="bg2"/>
          </a:solidFill>
          <a:ln/>
        </p:spPr>
      </p:sp>
      <p:sp>
        <p:nvSpPr>
          <p:cNvPr id="27" name="Text 193"/>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500" dirty="0">
                <a:solidFill>
                  <a:schemeClr val="tx1"/>
                </a:solidFill>
              </a:rPr>
              <a:t>High score = more important. The model links “it” to “animal” and understands the sentence.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Query, Key and Value</a:t>
            </a:r>
            <a:endParaRPr lang="en-US" sz="3000" dirty="0"/>
          </a:p>
        </p:txBody>
      </p:sp>
      <p:sp>
        <p:nvSpPr>
          <p:cNvPr id="4" name="Card 194"/>
          <p:cNvSpPr/>
          <p:nvPr/>
        </p:nvSpPr>
        <p:spPr>
          <a:xfrm>
            <a:off x="457200" y="1143000"/>
            <a:ext cx="2651760" cy="1783080"/>
          </a:xfrm>
          <a:prstGeom prst="roundRect">
            <a:avLst>
              <a:gd name="adj" fmla="val 4103"/>
            </a:avLst>
          </a:prstGeom>
          <a:solidFill>
            <a:schemeClr val="bg2"/>
          </a:solidFill>
          <a:ln/>
        </p:spPr>
      </p:sp>
      <p:sp>
        <p:nvSpPr>
          <p:cNvPr id="5" name="Badge 195"/>
          <p:cNvSpPr txBox="1"/>
          <p:nvPr/>
        </p:nvSpPr>
        <p:spPr>
          <a:xfrm>
            <a:off x="640080" y="1298448"/>
            <a:ext cx="457200" cy="45720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Q</a:t>
            </a:r>
            <a:endParaRPr lang="en-US" sz="2000" dirty="0"/>
          </a:p>
        </p:txBody>
      </p:sp>
      <p:sp>
        <p:nvSpPr>
          <p:cNvPr id="6" name="Text 196"/>
          <p:cNvSpPr txBox="1"/>
          <p:nvPr/>
        </p:nvSpPr>
        <p:spPr>
          <a:xfrm>
            <a:off x="1234440" y="1298448"/>
            <a:ext cx="1737360" cy="457200"/>
          </a:xfrm>
          <a:prstGeom prst="rect">
            <a:avLst/>
          </a:prstGeom>
          <a:noFill/>
          <a:ln/>
        </p:spPr>
        <p:txBody>
          <a:bodyPr wrap="square" lIns="0" tIns="0" rIns="0" bIns="0" rtlCol="0" anchor="ctr"/>
          <a:lstStyle/>
          <a:p>
            <a:pPr indent="0" marL="0">
              <a:buNone/>
            </a:pPr>
            <a:r>
              <a:rPr lang="en-US" sz="1900" b="1" dirty="0">
                <a:solidFill>
                  <a:schemeClr val="tx2"/>
                </a:solidFill>
              </a:rPr>
              <a:t>Query</a:t>
            </a:r>
            <a:endParaRPr lang="en-US" sz="1900" dirty="0"/>
          </a:p>
        </p:txBody>
      </p:sp>
      <p:sp>
        <p:nvSpPr>
          <p:cNvPr id="7" name="Text 197"/>
          <p:cNvSpPr txBox="1"/>
          <p:nvPr/>
        </p:nvSpPr>
        <p:spPr>
          <a:xfrm>
            <a:off x="640080" y="1920240"/>
            <a:ext cx="2286000" cy="960120"/>
          </a:xfrm>
          <a:prstGeom prst="rect">
            <a:avLst/>
          </a:prstGeom>
          <a:noFill/>
          <a:ln/>
        </p:spPr>
        <p:txBody>
          <a:bodyPr wrap="square" lIns="0" tIns="0" rIns="0" bIns="0" rtlCol="0" anchor="t"/>
          <a:lstStyle/>
          <a:p>
            <a:pPr indent="0" marL="0">
              <a:buNone/>
            </a:pPr>
            <a:r>
              <a:rPr lang="en-US" sz="1400" dirty="0">
                <a:solidFill>
                  <a:schemeClr val="tx1"/>
                </a:solidFill>
              </a:rPr>
              <a:t>What am I looking for? Like the search you type into a library catalogue.</a:t>
            </a:r>
            <a:endParaRPr lang="en-US" sz="1400" dirty="0"/>
          </a:p>
        </p:txBody>
      </p:sp>
      <p:sp>
        <p:nvSpPr>
          <p:cNvPr id="8" name="Card 198"/>
          <p:cNvSpPr/>
          <p:nvPr/>
        </p:nvSpPr>
        <p:spPr>
          <a:xfrm>
            <a:off x="3246120" y="1143000"/>
            <a:ext cx="2651760" cy="1783080"/>
          </a:xfrm>
          <a:prstGeom prst="roundRect">
            <a:avLst>
              <a:gd name="adj" fmla="val 4103"/>
            </a:avLst>
          </a:prstGeom>
          <a:solidFill>
            <a:schemeClr val="bg2"/>
          </a:solidFill>
          <a:ln/>
        </p:spPr>
      </p:sp>
      <p:sp>
        <p:nvSpPr>
          <p:cNvPr id="9" name="Badge 199"/>
          <p:cNvSpPr txBox="1"/>
          <p:nvPr/>
        </p:nvSpPr>
        <p:spPr>
          <a:xfrm>
            <a:off x="3429000" y="1298448"/>
            <a:ext cx="457200" cy="457200"/>
          </a:xfrm>
          <a:prstGeom prst="ellipse">
            <a:avLst/>
          </a:prstGeom>
          <a:solidFill>
            <a:schemeClr val="accent5"/>
          </a:solidFill>
          <a:ln/>
        </p:spPr>
        <p:txBody>
          <a:bodyPr wrap="square" lIns="0" tIns="0" rIns="0" bIns="0" rtlCol="0" anchor="ctr"/>
          <a:lstStyle/>
          <a:p>
            <a:pPr algn="ctr" indent="0" marL="0">
              <a:buNone/>
            </a:pPr>
            <a:r>
              <a:rPr lang="en-US" sz="2000" b="1" dirty="0">
                <a:solidFill>
                  <a:schemeClr val="bg1"/>
                </a:solidFill>
              </a:rPr>
              <a:t>K</a:t>
            </a:r>
            <a:endParaRPr lang="en-US" sz="2000" dirty="0"/>
          </a:p>
        </p:txBody>
      </p:sp>
      <p:sp>
        <p:nvSpPr>
          <p:cNvPr id="10" name="Text 200"/>
          <p:cNvSpPr txBox="1"/>
          <p:nvPr/>
        </p:nvSpPr>
        <p:spPr>
          <a:xfrm>
            <a:off x="4023360" y="1298448"/>
            <a:ext cx="1737360" cy="457200"/>
          </a:xfrm>
          <a:prstGeom prst="rect">
            <a:avLst/>
          </a:prstGeom>
          <a:noFill/>
          <a:ln/>
        </p:spPr>
        <p:txBody>
          <a:bodyPr wrap="square" lIns="0" tIns="0" rIns="0" bIns="0" rtlCol="0" anchor="ctr"/>
          <a:lstStyle/>
          <a:p>
            <a:pPr indent="0" marL="0">
              <a:buNone/>
            </a:pPr>
            <a:r>
              <a:rPr lang="en-US" sz="1900" b="1" dirty="0">
                <a:solidFill>
                  <a:schemeClr val="tx2"/>
                </a:solidFill>
              </a:rPr>
              <a:t>Key</a:t>
            </a:r>
            <a:endParaRPr lang="en-US" sz="1900" dirty="0"/>
          </a:p>
        </p:txBody>
      </p:sp>
      <p:sp>
        <p:nvSpPr>
          <p:cNvPr id="11" name="Text 201"/>
          <p:cNvSpPr txBox="1"/>
          <p:nvPr/>
        </p:nvSpPr>
        <p:spPr>
          <a:xfrm>
            <a:off x="3429000" y="1920240"/>
            <a:ext cx="2286000" cy="960120"/>
          </a:xfrm>
          <a:prstGeom prst="rect">
            <a:avLst/>
          </a:prstGeom>
          <a:noFill/>
          <a:ln/>
        </p:spPr>
        <p:txBody>
          <a:bodyPr wrap="square" lIns="0" tIns="0" rIns="0" bIns="0" rtlCol="0" anchor="t"/>
          <a:lstStyle/>
          <a:p>
            <a:pPr indent="0" marL="0">
              <a:buNone/>
            </a:pPr>
            <a:r>
              <a:rPr lang="en-US" sz="1400" dirty="0">
                <a:solidFill>
                  <a:schemeClr val="tx1"/>
                </a:solidFill>
              </a:rPr>
              <a:t>What do I offer? Like the label on each book's spine.</a:t>
            </a:r>
            <a:endParaRPr lang="en-US" sz="1400" dirty="0"/>
          </a:p>
        </p:txBody>
      </p:sp>
      <p:sp>
        <p:nvSpPr>
          <p:cNvPr id="12" name="Card 202"/>
          <p:cNvSpPr/>
          <p:nvPr/>
        </p:nvSpPr>
        <p:spPr>
          <a:xfrm>
            <a:off x="6035040" y="1143000"/>
            <a:ext cx="2651760" cy="1783080"/>
          </a:xfrm>
          <a:prstGeom prst="roundRect">
            <a:avLst>
              <a:gd name="adj" fmla="val 4103"/>
            </a:avLst>
          </a:prstGeom>
          <a:solidFill>
            <a:schemeClr val="bg2"/>
          </a:solidFill>
          <a:ln/>
        </p:spPr>
      </p:sp>
      <p:sp>
        <p:nvSpPr>
          <p:cNvPr id="13" name="Badge 203"/>
          <p:cNvSpPr txBox="1"/>
          <p:nvPr/>
        </p:nvSpPr>
        <p:spPr>
          <a:xfrm>
            <a:off x="6217920" y="1298448"/>
            <a:ext cx="457200" cy="45720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V</a:t>
            </a:r>
            <a:endParaRPr lang="en-US" sz="2000" dirty="0"/>
          </a:p>
        </p:txBody>
      </p:sp>
      <p:sp>
        <p:nvSpPr>
          <p:cNvPr id="14" name="Text 204"/>
          <p:cNvSpPr txBox="1"/>
          <p:nvPr/>
        </p:nvSpPr>
        <p:spPr>
          <a:xfrm>
            <a:off x="6812280" y="1298448"/>
            <a:ext cx="1737360" cy="457200"/>
          </a:xfrm>
          <a:prstGeom prst="rect">
            <a:avLst/>
          </a:prstGeom>
          <a:noFill/>
          <a:ln/>
        </p:spPr>
        <p:txBody>
          <a:bodyPr wrap="square" lIns="0" tIns="0" rIns="0" bIns="0" rtlCol="0" anchor="ctr"/>
          <a:lstStyle/>
          <a:p>
            <a:pPr indent="0" marL="0">
              <a:buNone/>
            </a:pPr>
            <a:r>
              <a:rPr lang="en-US" sz="1900" b="1" dirty="0">
                <a:solidFill>
                  <a:schemeClr val="tx2"/>
                </a:solidFill>
              </a:rPr>
              <a:t>Value</a:t>
            </a:r>
            <a:endParaRPr lang="en-US" sz="1900" dirty="0"/>
          </a:p>
        </p:txBody>
      </p:sp>
      <p:sp>
        <p:nvSpPr>
          <p:cNvPr id="15" name="Text 205"/>
          <p:cNvSpPr txBox="1"/>
          <p:nvPr/>
        </p:nvSpPr>
        <p:spPr>
          <a:xfrm>
            <a:off x="6217920" y="1920240"/>
            <a:ext cx="2286000" cy="960120"/>
          </a:xfrm>
          <a:prstGeom prst="rect">
            <a:avLst/>
          </a:prstGeom>
          <a:noFill/>
          <a:ln/>
        </p:spPr>
        <p:txBody>
          <a:bodyPr wrap="square" lIns="0" tIns="0" rIns="0" bIns="0" rtlCol="0" anchor="t"/>
          <a:lstStyle/>
          <a:p>
            <a:pPr indent="0" marL="0">
              <a:buNone/>
            </a:pPr>
            <a:r>
              <a:rPr lang="en-US" sz="1400" dirty="0">
                <a:solidFill>
                  <a:schemeClr val="tx1"/>
                </a:solidFill>
              </a:rPr>
              <a:t>The real content. Like the information inside the book.</a:t>
            </a:r>
            <a:endParaRPr lang="en-US" sz="1400" dirty="0"/>
          </a:p>
        </p:txBody>
      </p:sp>
      <p:sp>
        <p:nvSpPr>
          <p:cNvPr id="16" name="Card 206"/>
          <p:cNvSpPr/>
          <p:nvPr/>
        </p:nvSpPr>
        <p:spPr>
          <a:xfrm>
            <a:off x="457200" y="3108960"/>
            <a:ext cx="8229600" cy="1554480"/>
          </a:xfrm>
          <a:prstGeom prst="roundRect">
            <a:avLst>
              <a:gd name="adj" fmla="val 4706"/>
            </a:avLst>
          </a:prstGeom>
          <a:solidFill>
            <a:schemeClr val="tx2"/>
          </a:solidFill>
          <a:ln/>
        </p:spPr>
      </p:sp>
      <p:sp>
        <p:nvSpPr>
          <p:cNvPr id="17" name="Text 207"/>
          <p:cNvSpPr txBox="1"/>
          <p:nvPr/>
        </p:nvSpPr>
        <p:spPr>
          <a:xfrm>
            <a:off x="685800" y="3200400"/>
            <a:ext cx="7772400" cy="457200"/>
          </a:xfrm>
          <a:prstGeom prst="rect">
            <a:avLst/>
          </a:prstGeom>
          <a:noFill/>
          <a:ln/>
        </p:spPr>
        <p:txBody>
          <a:bodyPr wrap="square" lIns="0" tIns="0" rIns="0" bIns="0" rtlCol="0" anchor="ctr"/>
          <a:lstStyle/>
          <a:p>
            <a:pPr indent="0" marL="0">
              <a:buNone/>
            </a:pPr>
            <a:r>
              <a:rPr lang="en-US" sz="1900" b="1" dirty="0">
                <a:solidFill>
                  <a:schemeClr val="bg1"/>
                </a:solidFill>
                <a:latin typeface="Courier New" pitchFamily="34" charset="0"/>
                <a:ea typeface="Courier New" pitchFamily="34" charset="-122"/>
                <a:cs typeface="Courier New" pitchFamily="34" charset="-120"/>
              </a:rPr>
              <a:t>Attention = softmax( Q · K^T / √d ) · V</a:t>
            </a:r>
            <a:endParaRPr lang="en-US" sz="1900" dirty="0"/>
          </a:p>
        </p:txBody>
      </p:sp>
      <p:sp>
        <p:nvSpPr>
          <p:cNvPr id="18" name="Text 208"/>
          <p:cNvSpPr txBox="1"/>
          <p:nvPr/>
        </p:nvSpPr>
        <p:spPr>
          <a:xfrm>
            <a:off x="685800" y="3749040"/>
            <a:ext cx="2468880" cy="274320"/>
          </a:xfrm>
          <a:prstGeom prst="rect">
            <a:avLst/>
          </a:prstGeom>
          <a:noFill/>
          <a:ln/>
        </p:spPr>
        <p:txBody>
          <a:bodyPr wrap="square" lIns="0" tIns="0" rIns="0" bIns="0" rtlCol="0" anchor="t"/>
          <a:lstStyle/>
          <a:p>
            <a:pPr indent="0" marL="0">
              <a:buNone/>
            </a:pPr>
            <a:r>
              <a:rPr lang="en-US" sz="1500" b="1" dirty="0">
                <a:solidFill>
                  <a:schemeClr val="accent2"/>
                </a:solidFill>
              </a:rPr>
              <a:t>1  Score</a:t>
            </a:r>
            <a:endParaRPr lang="en-US" sz="1500" dirty="0"/>
          </a:p>
        </p:txBody>
      </p:sp>
      <p:sp>
        <p:nvSpPr>
          <p:cNvPr id="19" name="Text 209"/>
          <p:cNvSpPr txBox="1"/>
          <p:nvPr/>
        </p:nvSpPr>
        <p:spPr>
          <a:xfrm>
            <a:off x="685800" y="4041648"/>
            <a:ext cx="2377440" cy="548640"/>
          </a:xfrm>
          <a:prstGeom prst="rect">
            <a:avLst/>
          </a:prstGeom>
          <a:noFill/>
          <a:ln/>
        </p:spPr>
        <p:txBody>
          <a:bodyPr wrap="square" lIns="0" tIns="0" rIns="0" bIns="0" rtlCol="0" anchor="t"/>
          <a:lstStyle/>
          <a:p>
            <a:pPr indent="0" marL="0">
              <a:buNone/>
            </a:pPr>
            <a:r>
              <a:rPr lang="en-US" sz="1400" dirty="0">
                <a:solidFill>
                  <a:schemeClr val="bg1"/>
                </a:solidFill>
              </a:rPr>
              <a:t>Match each Query with every Key</a:t>
            </a:r>
            <a:endParaRPr lang="en-US" sz="1400" dirty="0"/>
          </a:p>
        </p:txBody>
      </p:sp>
      <p:sp>
        <p:nvSpPr>
          <p:cNvPr id="20" name="Text 210"/>
          <p:cNvSpPr txBox="1"/>
          <p:nvPr/>
        </p:nvSpPr>
        <p:spPr>
          <a:xfrm>
            <a:off x="3337560" y="3749040"/>
            <a:ext cx="2468880" cy="274320"/>
          </a:xfrm>
          <a:prstGeom prst="rect">
            <a:avLst/>
          </a:prstGeom>
          <a:noFill/>
          <a:ln/>
        </p:spPr>
        <p:txBody>
          <a:bodyPr wrap="square" lIns="0" tIns="0" rIns="0" bIns="0" rtlCol="0" anchor="t"/>
          <a:lstStyle/>
          <a:p>
            <a:pPr indent="0" marL="0">
              <a:buNone/>
            </a:pPr>
            <a:r>
              <a:rPr lang="en-US" sz="1500" b="1" dirty="0">
                <a:solidFill>
                  <a:schemeClr val="accent2"/>
                </a:solidFill>
              </a:rPr>
              <a:t>2  Normalise</a:t>
            </a:r>
            <a:endParaRPr lang="en-US" sz="1500" dirty="0"/>
          </a:p>
        </p:txBody>
      </p:sp>
      <p:sp>
        <p:nvSpPr>
          <p:cNvPr id="21" name="Text 211"/>
          <p:cNvSpPr txBox="1"/>
          <p:nvPr/>
        </p:nvSpPr>
        <p:spPr>
          <a:xfrm>
            <a:off x="3337560" y="4041648"/>
            <a:ext cx="2377440" cy="548640"/>
          </a:xfrm>
          <a:prstGeom prst="rect">
            <a:avLst/>
          </a:prstGeom>
          <a:noFill/>
          <a:ln/>
        </p:spPr>
        <p:txBody>
          <a:bodyPr wrap="square" lIns="0" tIns="0" rIns="0" bIns="0" rtlCol="0" anchor="t"/>
          <a:lstStyle/>
          <a:p>
            <a:pPr indent="0" marL="0">
              <a:buNone/>
            </a:pPr>
            <a:r>
              <a:rPr lang="en-US" sz="1400" dirty="0">
                <a:solidFill>
                  <a:schemeClr val="bg1"/>
                </a:solidFill>
              </a:rPr>
              <a:t>Softmax turns scores into percentages</a:t>
            </a:r>
            <a:endParaRPr lang="en-US" sz="1400" dirty="0"/>
          </a:p>
        </p:txBody>
      </p:sp>
      <p:sp>
        <p:nvSpPr>
          <p:cNvPr id="22" name="Text 212"/>
          <p:cNvSpPr txBox="1"/>
          <p:nvPr/>
        </p:nvSpPr>
        <p:spPr>
          <a:xfrm>
            <a:off x="5989320" y="3749040"/>
            <a:ext cx="2468880" cy="274320"/>
          </a:xfrm>
          <a:prstGeom prst="rect">
            <a:avLst/>
          </a:prstGeom>
          <a:noFill/>
          <a:ln/>
        </p:spPr>
        <p:txBody>
          <a:bodyPr wrap="square" lIns="0" tIns="0" rIns="0" bIns="0" rtlCol="0" anchor="t"/>
          <a:lstStyle/>
          <a:p>
            <a:pPr indent="0" marL="0">
              <a:buNone/>
            </a:pPr>
            <a:r>
              <a:rPr lang="en-US" sz="1500" b="1" dirty="0">
                <a:solidFill>
                  <a:schemeClr val="accent2"/>
                </a:solidFill>
              </a:rPr>
              <a:t>3  Blend</a:t>
            </a:r>
            <a:endParaRPr lang="en-US" sz="1500" dirty="0"/>
          </a:p>
        </p:txBody>
      </p:sp>
      <p:sp>
        <p:nvSpPr>
          <p:cNvPr id="23" name="Text 213"/>
          <p:cNvSpPr txBox="1"/>
          <p:nvPr/>
        </p:nvSpPr>
        <p:spPr>
          <a:xfrm>
            <a:off x="5989320" y="4041648"/>
            <a:ext cx="2377440" cy="548640"/>
          </a:xfrm>
          <a:prstGeom prst="rect">
            <a:avLst/>
          </a:prstGeom>
          <a:noFill/>
          <a:ln/>
        </p:spPr>
        <p:txBody>
          <a:bodyPr wrap="square" lIns="0" tIns="0" rIns="0" bIns="0" rtlCol="0" anchor="t"/>
          <a:lstStyle/>
          <a:p>
            <a:pPr indent="0" marL="0">
              <a:buNone/>
            </a:pPr>
            <a:r>
              <a:rPr lang="en-US" sz="1400" dirty="0">
                <a:solidFill>
                  <a:schemeClr val="bg1"/>
                </a:solidFill>
              </a:rPr>
              <a:t>Mix the Values using those percentages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Many Heads + Feed-Forward</a:t>
            </a:r>
            <a:endParaRPr lang="en-US" sz="3000" dirty="0"/>
          </a:p>
        </p:txBody>
      </p:sp>
      <p:sp>
        <p:nvSpPr>
          <p:cNvPr id="4" name="Card 214"/>
          <p:cNvSpPr/>
          <p:nvPr/>
        </p:nvSpPr>
        <p:spPr>
          <a:xfrm>
            <a:off x="457200" y="1143000"/>
            <a:ext cx="4023360" cy="3520440"/>
          </a:xfrm>
          <a:prstGeom prst="roundRect">
            <a:avLst>
              <a:gd name="adj" fmla="val 2078"/>
            </a:avLst>
          </a:prstGeom>
          <a:solidFill>
            <a:schemeClr val="bg2"/>
          </a:solidFill>
          <a:ln/>
        </p:spPr>
      </p:sp>
      <p:sp>
        <p:nvSpPr>
          <p:cNvPr id="5" name="Text 215"/>
          <p:cNvSpPr txBox="1"/>
          <p:nvPr/>
        </p:nvSpPr>
        <p:spPr>
          <a:xfrm>
            <a:off x="640080" y="1280160"/>
            <a:ext cx="3657600" cy="365760"/>
          </a:xfrm>
          <a:prstGeom prst="rect">
            <a:avLst/>
          </a:prstGeom>
          <a:noFill/>
          <a:ln/>
        </p:spPr>
        <p:txBody>
          <a:bodyPr wrap="square" lIns="0" tIns="0" rIns="0" bIns="0" rtlCol="0" anchor="t"/>
          <a:lstStyle/>
          <a:p>
            <a:pPr indent="0" marL="0">
              <a:buNone/>
            </a:pPr>
            <a:r>
              <a:rPr lang="en-US" sz="1900" b="1" dirty="0">
                <a:solidFill>
                  <a:schemeClr val="tx2"/>
                </a:solidFill>
              </a:rPr>
              <a:t>Multi-Head Attention</a:t>
            </a:r>
            <a:endParaRPr lang="en-US" sz="1900" dirty="0"/>
          </a:p>
        </p:txBody>
      </p:sp>
      <p:sp>
        <p:nvSpPr>
          <p:cNvPr id="6" name="Text 216"/>
          <p:cNvSpPr txBox="1"/>
          <p:nvPr/>
        </p:nvSpPr>
        <p:spPr>
          <a:xfrm>
            <a:off x="640080" y="1737360"/>
            <a:ext cx="3657600" cy="731520"/>
          </a:xfrm>
          <a:prstGeom prst="rect">
            <a:avLst/>
          </a:prstGeom>
          <a:noFill/>
          <a:ln/>
        </p:spPr>
        <p:txBody>
          <a:bodyPr wrap="square" lIns="0" tIns="0" rIns="0" bIns="0" rtlCol="0" anchor="t"/>
          <a:lstStyle/>
          <a:p>
            <a:pPr indent="0" marL="0">
              <a:buNone/>
            </a:pPr>
            <a:r>
              <a:rPr lang="en-US" sz="1400" dirty="0">
                <a:solidFill>
                  <a:schemeClr val="tx1"/>
                </a:solidFill>
              </a:rPr>
              <a:t>Several attention “heads” read the same sentence in parallel, each focusing on something different.</a:t>
            </a:r>
            <a:endParaRPr lang="en-US" sz="1400" dirty="0"/>
          </a:p>
        </p:txBody>
      </p:sp>
      <p:sp>
        <p:nvSpPr>
          <p:cNvPr id="7" name="Chip 217"/>
          <p:cNvSpPr txBox="1"/>
          <p:nvPr/>
        </p:nvSpPr>
        <p:spPr>
          <a:xfrm>
            <a:off x="640080" y="2697480"/>
            <a:ext cx="2286000" cy="411480"/>
          </a:xfrm>
          <a:prstGeom prst="roundRect">
            <a:avLst>
              <a:gd name="adj" fmla="val 17778"/>
            </a:avLst>
          </a:prstGeom>
          <a:solidFill>
            <a:schemeClr val="accent1"/>
          </a:solidFill>
          <a:ln/>
        </p:spPr>
        <p:txBody>
          <a:bodyPr wrap="square" lIns="381" tIns="381" rIns="381" bIns="381" rtlCol="0" anchor="ctr"/>
          <a:lstStyle/>
          <a:p>
            <a:pPr algn="ctr" indent="0" marL="0">
              <a:buNone/>
            </a:pPr>
            <a:r>
              <a:rPr lang="en-US" sz="1400" b="1" dirty="0">
                <a:solidFill>
                  <a:schemeClr val="bg1"/>
                </a:solidFill>
              </a:rPr>
              <a:t>Head 1: grammar</a:t>
            </a:r>
            <a:endParaRPr lang="en-US" sz="1400" dirty="0"/>
          </a:p>
        </p:txBody>
      </p:sp>
      <p:sp>
        <p:nvSpPr>
          <p:cNvPr id="8" name="Line 218"/>
          <p:cNvSpPr/>
          <p:nvPr/>
        </p:nvSpPr>
        <p:spPr>
          <a:xfrm>
            <a:off x="2926080" y="2903220"/>
            <a:ext cx="228600" cy="0"/>
          </a:xfrm>
          <a:prstGeom prst="line">
            <a:avLst/>
          </a:prstGeom>
          <a:noFill/>
          <a:ln w="19050">
            <a:solidFill>
              <a:schemeClr val="tx2"/>
            </a:solidFill>
            <a:prstDash val="solid"/>
          </a:ln>
        </p:spPr>
      </p:sp>
      <p:sp>
        <p:nvSpPr>
          <p:cNvPr id="9" name="Chip 219"/>
          <p:cNvSpPr txBox="1"/>
          <p:nvPr/>
        </p:nvSpPr>
        <p:spPr>
          <a:xfrm>
            <a:off x="640080" y="3227832"/>
            <a:ext cx="2286000" cy="411480"/>
          </a:xfrm>
          <a:prstGeom prst="roundRect">
            <a:avLst>
              <a:gd name="adj" fmla="val 17778"/>
            </a:avLst>
          </a:prstGeom>
          <a:solidFill>
            <a:schemeClr val="accent5"/>
          </a:solidFill>
          <a:ln/>
        </p:spPr>
        <p:txBody>
          <a:bodyPr wrap="square" lIns="381" tIns="381" rIns="381" bIns="381" rtlCol="0" anchor="ctr"/>
          <a:lstStyle/>
          <a:p>
            <a:pPr algn="ctr" indent="0" marL="0">
              <a:buNone/>
            </a:pPr>
            <a:r>
              <a:rPr lang="en-US" sz="1400" b="1" dirty="0">
                <a:solidFill>
                  <a:schemeClr val="bg1"/>
                </a:solidFill>
              </a:rPr>
              <a:t>Head 2: meaning</a:t>
            </a:r>
            <a:endParaRPr lang="en-US" sz="1400" dirty="0"/>
          </a:p>
        </p:txBody>
      </p:sp>
      <p:sp>
        <p:nvSpPr>
          <p:cNvPr id="10" name="Line 220"/>
          <p:cNvSpPr/>
          <p:nvPr/>
        </p:nvSpPr>
        <p:spPr>
          <a:xfrm>
            <a:off x="2926080" y="3433572"/>
            <a:ext cx="228600" cy="0"/>
          </a:xfrm>
          <a:prstGeom prst="line">
            <a:avLst/>
          </a:prstGeom>
          <a:noFill/>
          <a:ln w="19050">
            <a:solidFill>
              <a:schemeClr val="tx2"/>
            </a:solidFill>
            <a:prstDash val="solid"/>
          </a:ln>
        </p:spPr>
      </p:sp>
      <p:sp>
        <p:nvSpPr>
          <p:cNvPr id="11" name="Chip 221"/>
          <p:cNvSpPr txBox="1"/>
          <p:nvPr/>
        </p:nvSpPr>
        <p:spPr>
          <a:xfrm>
            <a:off x="640080" y="3758184"/>
            <a:ext cx="2286000" cy="411480"/>
          </a:xfrm>
          <a:prstGeom prst="roundRect">
            <a:avLst>
              <a:gd name="adj" fmla="val 17778"/>
            </a:avLst>
          </a:prstGeom>
          <a:solidFill>
            <a:schemeClr val="accent3"/>
          </a:solidFill>
          <a:ln/>
        </p:spPr>
        <p:txBody>
          <a:bodyPr wrap="square" lIns="381" tIns="381" rIns="381" bIns="381" rtlCol="0" anchor="ctr"/>
          <a:lstStyle/>
          <a:p>
            <a:pPr algn="ctr" indent="0" marL="0">
              <a:buNone/>
            </a:pPr>
            <a:r>
              <a:rPr lang="en-US" sz="1400" b="1" dirty="0">
                <a:solidFill>
                  <a:schemeClr val="bg1"/>
                </a:solidFill>
              </a:rPr>
              <a:t>Head 3: who is “it”?</a:t>
            </a:r>
            <a:endParaRPr lang="en-US" sz="1400" dirty="0"/>
          </a:p>
        </p:txBody>
      </p:sp>
      <p:sp>
        <p:nvSpPr>
          <p:cNvPr id="12" name="Line 222"/>
          <p:cNvSpPr/>
          <p:nvPr/>
        </p:nvSpPr>
        <p:spPr>
          <a:xfrm>
            <a:off x="2926080" y="3963924"/>
            <a:ext cx="228600" cy="0"/>
          </a:xfrm>
          <a:prstGeom prst="line">
            <a:avLst/>
          </a:prstGeom>
          <a:noFill/>
          <a:ln w="19050">
            <a:solidFill>
              <a:schemeClr val="tx2"/>
            </a:solidFill>
            <a:prstDash val="solid"/>
          </a:ln>
        </p:spPr>
      </p:sp>
      <p:sp>
        <p:nvSpPr>
          <p:cNvPr id="13" name="Chip 223"/>
          <p:cNvSpPr txBox="1"/>
          <p:nvPr/>
        </p:nvSpPr>
        <p:spPr>
          <a:xfrm>
            <a:off x="3154680" y="2697480"/>
            <a:ext cx="1143000" cy="1472184"/>
          </a:xfrm>
          <a:prstGeom prst="roundRect">
            <a:avLst>
              <a:gd name="adj" fmla="val 6400"/>
            </a:avLst>
          </a:prstGeom>
          <a:solidFill>
            <a:schemeClr val="accent2"/>
          </a:solidFill>
          <a:ln/>
        </p:spPr>
        <p:txBody>
          <a:bodyPr wrap="square" lIns="381" tIns="381" rIns="381" bIns="381" rtlCol="0" anchor="ctr"/>
          <a:lstStyle/>
          <a:p>
            <a:pPr algn="ctr" indent="0" marL="0">
              <a:buNone/>
            </a:pPr>
            <a:r>
              <a:rPr lang="en-US" sz="1600" b="1" dirty="0">
                <a:solidFill>
                  <a:schemeClr val="tx1"/>
                </a:solidFill>
              </a:rPr>
              <a:t>Combine</a:t>
            </a:r>
            <a:endParaRPr lang="en-US" sz="1600" dirty="0"/>
          </a:p>
        </p:txBody>
      </p:sp>
      <p:sp>
        <p:nvSpPr>
          <p:cNvPr id="14" name="Card 224"/>
          <p:cNvSpPr/>
          <p:nvPr/>
        </p:nvSpPr>
        <p:spPr>
          <a:xfrm>
            <a:off x="4663440" y="1143000"/>
            <a:ext cx="4023360" cy="3520440"/>
          </a:xfrm>
          <a:prstGeom prst="roundRect">
            <a:avLst>
              <a:gd name="adj" fmla="val 2078"/>
            </a:avLst>
          </a:prstGeom>
          <a:solidFill>
            <a:schemeClr val="bg2"/>
          </a:solidFill>
          <a:ln/>
        </p:spPr>
      </p:sp>
      <p:sp>
        <p:nvSpPr>
          <p:cNvPr id="15" name="Text 225"/>
          <p:cNvSpPr txBox="1"/>
          <p:nvPr/>
        </p:nvSpPr>
        <p:spPr>
          <a:xfrm>
            <a:off x="4846320" y="1280160"/>
            <a:ext cx="3657600" cy="365760"/>
          </a:xfrm>
          <a:prstGeom prst="rect">
            <a:avLst/>
          </a:prstGeom>
          <a:noFill/>
          <a:ln/>
        </p:spPr>
        <p:txBody>
          <a:bodyPr wrap="square" lIns="0" tIns="0" rIns="0" bIns="0" rtlCol="0" anchor="t"/>
          <a:lstStyle/>
          <a:p>
            <a:pPr indent="0" marL="0">
              <a:buNone/>
            </a:pPr>
            <a:r>
              <a:rPr lang="en-US" sz="1900" b="1" dirty="0">
                <a:solidFill>
                  <a:schemeClr val="tx2"/>
                </a:solidFill>
              </a:rPr>
              <a:t>Feed-Forward + Add &amp; Norm</a:t>
            </a:r>
            <a:endParaRPr lang="en-US" sz="1900" dirty="0"/>
          </a:p>
        </p:txBody>
      </p:sp>
      <p:sp>
        <p:nvSpPr>
          <p:cNvPr id="16" name="Text 226"/>
          <p:cNvSpPr txBox="1"/>
          <p:nvPr/>
        </p:nvSpPr>
        <p:spPr>
          <a:xfrm>
            <a:off x="4846320" y="1737360"/>
            <a:ext cx="3657600" cy="731520"/>
          </a:xfrm>
          <a:prstGeom prst="rect">
            <a:avLst/>
          </a:prstGeom>
          <a:noFill/>
          <a:ln/>
        </p:spPr>
        <p:txBody>
          <a:bodyPr wrap="square" lIns="0" tIns="0" rIns="0" bIns="0" rtlCol="0" anchor="t"/>
          <a:lstStyle/>
          <a:p>
            <a:pPr indent="0" marL="0">
              <a:buNone/>
            </a:pPr>
            <a:r>
              <a:rPr lang="en-US" sz="1400" dirty="0">
                <a:solidFill>
                  <a:schemeClr val="tx1"/>
                </a:solidFill>
              </a:rPr>
              <a:t>A small neural network refines each token. Shortcut connections keep training stable.</a:t>
            </a:r>
            <a:endParaRPr lang="en-US" sz="1400" dirty="0"/>
          </a:p>
        </p:txBody>
      </p:sp>
      <p:sp>
        <p:nvSpPr>
          <p:cNvPr id="17" name="Chip 227"/>
          <p:cNvSpPr txBox="1"/>
          <p:nvPr/>
        </p:nvSpPr>
        <p:spPr>
          <a:xfrm>
            <a:off x="4846320" y="2697480"/>
            <a:ext cx="2286000" cy="411480"/>
          </a:xfrm>
          <a:prstGeom prst="roundRect">
            <a:avLst>
              <a:gd name="adj" fmla="val 17778"/>
            </a:avLst>
          </a:prstGeom>
          <a:solidFill>
            <a:schemeClr val="accent1"/>
          </a:solidFill>
          <a:ln/>
        </p:spPr>
        <p:txBody>
          <a:bodyPr wrap="square" lIns="381" tIns="381" rIns="381" bIns="381" rtlCol="0" anchor="ctr"/>
          <a:lstStyle/>
          <a:p>
            <a:pPr algn="ctr" indent="0" marL="0">
              <a:buNone/>
            </a:pPr>
            <a:r>
              <a:rPr lang="en-US" sz="1400" b="1" dirty="0">
                <a:solidFill>
                  <a:schemeClr val="bg1"/>
                </a:solidFill>
              </a:rPr>
              <a:t>Attention output</a:t>
            </a:r>
            <a:endParaRPr lang="en-US" sz="1400" dirty="0"/>
          </a:p>
        </p:txBody>
      </p:sp>
      <p:sp>
        <p:nvSpPr>
          <p:cNvPr id="18" name="Chip 228"/>
          <p:cNvSpPr txBox="1"/>
          <p:nvPr/>
        </p:nvSpPr>
        <p:spPr>
          <a:xfrm>
            <a:off x="4846320" y="3227832"/>
            <a:ext cx="2286000" cy="411480"/>
          </a:xfrm>
          <a:prstGeom prst="roundRect">
            <a:avLst>
              <a:gd name="adj" fmla="val 17778"/>
            </a:avLst>
          </a:prstGeom>
          <a:solidFill>
            <a:schemeClr val="accent3"/>
          </a:solidFill>
          <a:ln/>
        </p:spPr>
        <p:txBody>
          <a:bodyPr wrap="square" lIns="381" tIns="381" rIns="381" bIns="381" rtlCol="0" anchor="ctr"/>
          <a:lstStyle/>
          <a:p>
            <a:pPr algn="ctr" indent="0" marL="0">
              <a:buNone/>
            </a:pPr>
            <a:r>
              <a:rPr lang="en-US" sz="1400" b="1" dirty="0">
                <a:solidFill>
                  <a:schemeClr val="bg1"/>
                </a:solidFill>
              </a:rPr>
              <a:t>Feed-forward network</a:t>
            </a:r>
            <a:endParaRPr lang="en-US" sz="1400" dirty="0"/>
          </a:p>
        </p:txBody>
      </p:sp>
      <p:sp>
        <p:nvSpPr>
          <p:cNvPr id="19" name="Chip 229"/>
          <p:cNvSpPr txBox="1"/>
          <p:nvPr/>
        </p:nvSpPr>
        <p:spPr>
          <a:xfrm>
            <a:off x="4846320" y="3758184"/>
            <a:ext cx="2286000" cy="411480"/>
          </a:xfrm>
          <a:prstGeom prst="roundRect">
            <a:avLst>
              <a:gd name="adj" fmla="val 17778"/>
            </a:avLst>
          </a:prstGeom>
          <a:solidFill>
            <a:schemeClr val="accent5"/>
          </a:solidFill>
          <a:ln/>
        </p:spPr>
        <p:txBody>
          <a:bodyPr wrap="square" lIns="381" tIns="381" rIns="381" bIns="381" rtlCol="0" anchor="ctr"/>
          <a:lstStyle/>
          <a:p>
            <a:pPr algn="ctr" indent="0" marL="0">
              <a:buNone/>
            </a:pPr>
            <a:r>
              <a:rPr lang="en-US" sz="1400" b="1" dirty="0">
                <a:solidFill>
                  <a:schemeClr val="bg1"/>
                </a:solidFill>
              </a:rPr>
              <a:t>Add &amp; Norm</a:t>
            </a:r>
            <a:endParaRPr lang="en-US" sz="1400" dirty="0"/>
          </a:p>
        </p:txBody>
      </p:sp>
      <p:sp>
        <p:nvSpPr>
          <p:cNvPr id="20" name="Chip 230"/>
          <p:cNvSpPr txBox="1"/>
          <p:nvPr/>
        </p:nvSpPr>
        <p:spPr>
          <a:xfrm>
            <a:off x="7315200" y="2697480"/>
            <a:ext cx="1188720" cy="1472184"/>
          </a:xfrm>
          <a:prstGeom prst="roundRect">
            <a:avLst>
              <a:gd name="adj" fmla="val 6154"/>
            </a:avLst>
          </a:prstGeom>
          <a:solidFill>
            <a:schemeClr val="accent2"/>
          </a:solidFill>
          <a:ln/>
        </p:spPr>
        <p:txBody>
          <a:bodyPr wrap="square" lIns="381" tIns="381" rIns="381" bIns="381" rtlCol="0" anchor="ctr"/>
          <a:lstStyle/>
          <a:p>
            <a:pPr algn="ctr" indent="0" marL="0">
              <a:buNone/>
            </a:pPr>
            <a:r>
              <a:rPr lang="en-US" sz="1500" b="1" dirty="0">
                <a:solidFill>
                  <a:schemeClr val="tx1"/>
                </a:solidFill>
              </a:rPr>
              <a:t>Repeat ×N layers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Transformer Block Diagram</a:t>
            </a:r>
            <a:endParaRPr lang="en-US" sz="3000" dirty="0"/>
          </a:p>
        </p:txBody>
      </p:sp>
      <p:sp>
        <p:nvSpPr>
          <p:cNvPr id="4" name="Text 231"/>
          <p:cNvSpPr txBox="1"/>
          <p:nvPr/>
        </p:nvSpPr>
        <p:spPr>
          <a:xfrm>
            <a:off x="914400" y="1188720"/>
            <a:ext cx="2743200" cy="640080"/>
          </a:xfrm>
          <a:prstGeom prst="rect">
            <a:avLst/>
          </a:prstGeom>
          <a:noFill/>
          <a:ln/>
        </p:spPr>
        <p:txBody>
          <a:bodyPr wrap="square" lIns="0" tIns="0" rIns="0" bIns="0" rtlCol="0" anchor="t"/>
          <a:lstStyle/>
          <a:p>
            <a:pPr algn="ctr" indent="0" marL="0">
              <a:buNone/>
            </a:pPr>
            <a:r>
              <a:rPr lang="en-US" sz="1400" dirty="0">
                <a:solidFill>
                  <a:schemeClr val="tx1"/>
                </a:solidFill>
              </a:rPr>
              <a:t>Reads the full input and builds an understanding of it.</a:t>
            </a:r>
            <a:endParaRPr lang="en-US" sz="1400" dirty="0"/>
          </a:p>
        </p:txBody>
      </p:sp>
      <p:sp>
        <p:nvSpPr>
          <p:cNvPr id="5" name="Chip 232"/>
          <p:cNvSpPr txBox="1"/>
          <p:nvPr/>
        </p:nvSpPr>
        <p:spPr>
          <a:xfrm>
            <a:off x="914400" y="4389120"/>
            <a:ext cx="2743200" cy="274320"/>
          </a:xfrm>
          <a:prstGeom prst="roundRect">
            <a:avLst>
              <a:gd name="adj" fmla="val 26667"/>
            </a:avLst>
          </a:prstGeom>
          <a:solidFill>
            <a:schemeClr val="tx2"/>
          </a:solidFill>
          <a:ln/>
        </p:spPr>
        <p:txBody>
          <a:bodyPr wrap="square" lIns="381" tIns="381" rIns="381" bIns="381" rtlCol="0" anchor="ctr"/>
          <a:lstStyle/>
          <a:p>
            <a:pPr algn="ctr" indent="0" marL="0">
              <a:buNone/>
            </a:pPr>
            <a:r>
              <a:rPr lang="en-US" sz="1100" dirty="0">
                <a:solidFill>
                  <a:schemeClr val="bg1"/>
                </a:solidFill>
              </a:rPr>
              <a:t>Input tokens: “I love AI”</a:t>
            </a:r>
            <a:endParaRPr lang="en-US" sz="1100" dirty="0"/>
          </a:p>
        </p:txBody>
      </p:sp>
      <p:sp>
        <p:nvSpPr>
          <p:cNvPr id="6" name="Chip 233"/>
          <p:cNvSpPr txBox="1"/>
          <p:nvPr/>
        </p:nvSpPr>
        <p:spPr>
          <a:xfrm>
            <a:off x="914400" y="3986784"/>
            <a:ext cx="2743200" cy="310896"/>
          </a:xfrm>
          <a:prstGeom prst="roundRect">
            <a:avLst>
              <a:gd name="adj" fmla="val 23529"/>
            </a:avLst>
          </a:prstGeom>
          <a:solidFill>
            <a:schemeClr val="accent2"/>
          </a:solidFill>
          <a:ln/>
        </p:spPr>
        <p:txBody>
          <a:bodyPr wrap="square" lIns="381" tIns="381" rIns="381" bIns="381" rtlCol="0" anchor="ctr"/>
          <a:lstStyle/>
          <a:p>
            <a:pPr algn="ctr" indent="0" marL="0">
              <a:buNone/>
            </a:pPr>
            <a:r>
              <a:rPr lang="en-US" sz="1200" b="1" dirty="0">
                <a:solidFill>
                  <a:schemeClr val="tx1"/>
                </a:solidFill>
              </a:rPr>
              <a:t>Embedding + Position</a:t>
            </a:r>
            <a:endParaRPr lang="en-US" sz="1200" dirty="0"/>
          </a:p>
        </p:txBody>
      </p:sp>
      <p:sp>
        <p:nvSpPr>
          <p:cNvPr id="7" name="Card 234"/>
          <p:cNvSpPr/>
          <p:nvPr/>
        </p:nvSpPr>
        <p:spPr>
          <a:xfrm>
            <a:off x="914400" y="2331720"/>
            <a:ext cx="2743200" cy="1563624"/>
          </a:xfrm>
          <a:prstGeom prst="roundRect">
            <a:avLst>
              <a:gd name="adj" fmla="val 4678"/>
            </a:avLst>
          </a:prstGeom>
          <a:solidFill>
            <a:srgbClr val="E3E5F6"/>
          </a:solidFill>
          <a:ln/>
        </p:spPr>
      </p:sp>
      <p:sp>
        <p:nvSpPr>
          <p:cNvPr id="8" name="Chip 235"/>
          <p:cNvSpPr txBox="1"/>
          <p:nvPr/>
        </p:nvSpPr>
        <p:spPr>
          <a:xfrm>
            <a:off x="1051560" y="2423160"/>
            <a:ext cx="2468880" cy="310896"/>
          </a:xfrm>
          <a:prstGeom prst="roundRect">
            <a:avLst>
              <a:gd name="adj" fmla="val 23529"/>
            </a:avLst>
          </a:prstGeom>
          <a:solidFill>
            <a:schemeClr val="bg1"/>
          </a:solidFill>
          <a:ln w="9525">
            <a:solidFill>
              <a:srgbClr val="8D91D8"/>
            </a:solidFill>
          </a:ln>
        </p:spPr>
        <p:txBody>
          <a:bodyPr wrap="square" lIns="381" tIns="381" rIns="381" bIns="381" rtlCol="0" anchor="ctr"/>
          <a:lstStyle/>
          <a:p>
            <a:pPr algn="ctr" indent="0" marL="0">
              <a:buNone/>
            </a:pPr>
            <a:r>
              <a:rPr lang="en-US" sz="1100" b="1" dirty="0">
                <a:solidFill>
                  <a:schemeClr val="tx1"/>
                </a:solidFill>
              </a:rPr>
              <a:t>Add &amp; Norm</a:t>
            </a:r>
            <a:endParaRPr lang="en-US" sz="1100" dirty="0"/>
          </a:p>
        </p:txBody>
      </p:sp>
      <p:sp>
        <p:nvSpPr>
          <p:cNvPr id="9" name="Chip 236"/>
          <p:cNvSpPr txBox="1"/>
          <p:nvPr/>
        </p:nvSpPr>
        <p:spPr>
          <a:xfrm>
            <a:off x="1051560" y="2779776"/>
            <a:ext cx="2468880" cy="310896"/>
          </a:xfrm>
          <a:prstGeom prst="roundRect">
            <a:avLst>
              <a:gd name="adj" fmla="val 23529"/>
            </a:avLst>
          </a:prstGeom>
          <a:solidFill>
            <a:schemeClr val="accent3"/>
          </a:solidFill>
          <a:ln/>
        </p:spPr>
        <p:txBody>
          <a:bodyPr wrap="square" lIns="381" tIns="381" rIns="381" bIns="381" rtlCol="0" anchor="ctr"/>
          <a:lstStyle/>
          <a:p>
            <a:pPr algn="ctr" indent="0" marL="0">
              <a:buNone/>
            </a:pPr>
            <a:r>
              <a:rPr lang="en-US" sz="1100" b="1" dirty="0">
                <a:solidFill>
                  <a:schemeClr val="bg1"/>
                </a:solidFill>
              </a:rPr>
              <a:t>Feed-Forward</a:t>
            </a:r>
            <a:endParaRPr lang="en-US" sz="1100" dirty="0"/>
          </a:p>
        </p:txBody>
      </p:sp>
      <p:sp>
        <p:nvSpPr>
          <p:cNvPr id="10" name="Chip 237"/>
          <p:cNvSpPr txBox="1"/>
          <p:nvPr/>
        </p:nvSpPr>
        <p:spPr>
          <a:xfrm>
            <a:off x="1051560" y="3136392"/>
            <a:ext cx="2468880" cy="310896"/>
          </a:xfrm>
          <a:prstGeom prst="roundRect">
            <a:avLst>
              <a:gd name="adj" fmla="val 23529"/>
            </a:avLst>
          </a:prstGeom>
          <a:solidFill>
            <a:schemeClr val="bg1"/>
          </a:solidFill>
          <a:ln w="9525">
            <a:solidFill>
              <a:srgbClr val="8D91D8"/>
            </a:solidFill>
          </a:ln>
        </p:spPr>
        <p:txBody>
          <a:bodyPr wrap="square" lIns="381" tIns="381" rIns="381" bIns="381" rtlCol="0" anchor="ctr"/>
          <a:lstStyle/>
          <a:p>
            <a:pPr algn="ctr" indent="0" marL="0">
              <a:buNone/>
            </a:pPr>
            <a:r>
              <a:rPr lang="en-US" sz="1100" b="1" dirty="0">
                <a:solidFill>
                  <a:schemeClr val="tx1"/>
                </a:solidFill>
              </a:rPr>
              <a:t>Add &amp; Norm</a:t>
            </a:r>
            <a:endParaRPr lang="en-US" sz="1100" dirty="0"/>
          </a:p>
        </p:txBody>
      </p:sp>
      <p:sp>
        <p:nvSpPr>
          <p:cNvPr id="11" name="Chip 238"/>
          <p:cNvSpPr txBox="1"/>
          <p:nvPr/>
        </p:nvSpPr>
        <p:spPr>
          <a:xfrm>
            <a:off x="1051560" y="3493008"/>
            <a:ext cx="2468880" cy="310896"/>
          </a:xfrm>
          <a:prstGeom prst="roundRect">
            <a:avLst>
              <a:gd name="adj" fmla="val 23529"/>
            </a:avLst>
          </a:prstGeom>
          <a:solidFill>
            <a:schemeClr val="accent1"/>
          </a:solidFill>
          <a:ln/>
        </p:spPr>
        <p:txBody>
          <a:bodyPr wrap="square" lIns="381" tIns="381" rIns="381" bIns="381" rtlCol="0" anchor="ctr"/>
          <a:lstStyle/>
          <a:p>
            <a:pPr algn="ctr" indent="0" marL="0">
              <a:buNone/>
            </a:pPr>
            <a:r>
              <a:rPr lang="en-US" sz="1100" b="1" dirty="0">
                <a:solidFill>
                  <a:schemeClr val="bg1"/>
                </a:solidFill>
              </a:rPr>
              <a:t>Multi-Head Self-Attention</a:t>
            </a:r>
            <a:endParaRPr lang="en-US" sz="1100" dirty="0"/>
          </a:p>
        </p:txBody>
      </p:sp>
      <p:sp>
        <p:nvSpPr>
          <p:cNvPr id="12" name="Text 239"/>
          <p:cNvSpPr txBox="1"/>
          <p:nvPr/>
        </p:nvSpPr>
        <p:spPr>
          <a:xfrm>
            <a:off x="914400" y="2057400"/>
            <a:ext cx="2743200" cy="237744"/>
          </a:xfrm>
          <a:prstGeom prst="rect">
            <a:avLst/>
          </a:prstGeom>
          <a:noFill/>
          <a:ln/>
        </p:spPr>
        <p:txBody>
          <a:bodyPr wrap="square" lIns="0" tIns="0" rIns="0" bIns="0" rtlCol="0" anchor="t"/>
          <a:lstStyle/>
          <a:p>
            <a:pPr algn="ctr" indent="0" marL="0">
              <a:buNone/>
            </a:pPr>
            <a:r>
              <a:rPr lang="en-US" sz="1300" b="1" dirty="0">
                <a:solidFill>
                  <a:schemeClr val="tx2"/>
                </a:solidFill>
              </a:rPr>
              <a:t>ENCODER  ×N</a:t>
            </a:r>
            <a:endParaRPr lang="en-US" sz="1300" dirty="0"/>
          </a:p>
        </p:txBody>
      </p:sp>
      <p:sp>
        <p:nvSpPr>
          <p:cNvPr id="13" name="Chip 240"/>
          <p:cNvSpPr txBox="1"/>
          <p:nvPr/>
        </p:nvSpPr>
        <p:spPr>
          <a:xfrm>
            <a:off x="4754880" y="1024128"/>
            <a:ext cx="2743200" cy="292608"/>
          </a:xfrm>
          <a:prstGeom prst="roundRect">
            <a:avLst>
              <a:gd name="adj" fmla="val 25000"/>
            </a:avLst>
          </a:prstGeom>
          <a:solidFill>
            <a:schemeClr val="accent4"/>
          </a:solidFill>
          <a:ln/>
        </p:spPr>
        <p:txBody>
          <a:bodyPr wrap="square" lIns="381" tIns="381" rIns="381" bIns="381" rtlCol="0" anchor="ctr"/>
          <a:lstStyle/>
          <a:p>
            <a:pPr algn="ctr" indent="0" marL="0">
              <a:buNone/>
            </a:pPr>
            <a:r>
              <a:rPr lang="en-US" sz="1100" b="1" dirty="0">
                <a:solidFill>
                  <a:schemeClr val="bg1"/>
                </a:solidFill>
              </a:rPr>
              <a:t>Linear + Softmax → next word</a:t>
            </a:r>
            <a:endParaRPr lang="en-US" sz="1100" dirty="0"/>
          </a:p>
        </p:txBody>
      </p:sp>
      <p:sp>
        <p:nvSpPr>
          <p:cNvPr id="14" name="Chip 241"/>
          <p:cNvSpPr txBox="1"/>
          <p:nvPr/>
        </p:nvSpPr>
        <p:spPr>
          <a:xfrm>
            <a:off x="4754880" y="4389120"/>
            <a:ext cx="2743200" cy="274320"/>
          </a:xfrm>
          <a:prstGeom prst="roundRect">
            <a:avLst>
              <a:gd name="adj" fmla="val 26667"/>
            </a:avLst>
          </a:prstGeom>
          <a:solidFill>
            <a:schemeClr val="tx2"/>
          </a:solidFill>
          <a:ln/>
        </p:spPr>
        <p:txBody>
          <a:bodyPr wrap="square" lIns="381" tIns="381" rIns="381" bIns="381" rtlCol="0" anchor="ctr"/>
          <a:lstStyle/>
          <a:p>
            <a:pPr algn="ctr" indent="0" marL="0">
              <a:buNone/>
            </a:pPr>
            <a:r>
              <a:rPr lang="en-US" sz="1100" dirty="0">
                <a:solidFill>
                  <a:schemeClr val="bg1"/>
                </a:solidFill>
              </a:rPr>
              <a:t>Output so far (shifted)</a:t>
            </a:r>
            <a:endParaRPr lang="en-US" sz="1100" dirty="0"/>
          </a:p>
        </p:txBody>
      </p:sp>
      <p:sp>
        <p:nvSpPr>
          <p:cNvPr id="15" name="Chip 242"/>
          <p:cNvSpPr txBox="1"/>
          <p:nvPr/>
        </p:nvSpPr>
        <p:spPr>
          <a:xfrm>
            <a:off x="4754880" y="3986784"/>
            <a:ext cx="2743200" cy="310896"/>
          </a:xfrm>
          <a:prstGeom prst="roundRect">
            <a:avLst>
              <a:gd name="adj" fmla="val 23529"/>
            </a:avLst>
          </a:prstGeom>
          <a:solidFill>
            <a:schemeClr val="accent2"/>
          </a:solidFill>
          <a:ln/>
        </p:spPr>
        <p:txBody>
          <a:bodyPr wrap="square" lIns="381" tIns="381" rIns="381" bIns="381" rtlCol="0" anchor="ctr"/>
          <a:lstStyle/>
          <a:p>
            <a:pPr algn="ctr" indent="0" marL="0">
              <a:buNone/>
            </a:pPr>
            <a:r>
              <a:rPr lang="en-US" sz="1200" b="1" dirty="0">
                <a:solidFill>
                  <a:schemeClr val="tx1"/>
                </a:solidFill>
              </a:rPr>
              <a:t>Embedding + Position</a:t>
            </a:r>
            <a:endParaRPr lang="en-US" sz="1200" dirty="0"/>
          </a:p>
        </p:txBody>
      </p:sp>
      <p:sp>
        <p:nvSpPr>
          <p:cNvPr id="16" name="Card 243"/>
          <p:cNvSpPr/>
          <p:nvPr/>
        </p:nvSpPr>
        <p:spPr>
          <a:xfrm>
            <a:off x="4754880" y="1618488"/>
            <a:ext cx="2743200" cy="2276856"/>
          </a:xfrm>
          <a:prstGeom prst="roundRect">
            <a:avLst>
              <a:gd name="adj" fmla="val 3213"/>
            </a:avLst>
          </a:prstGeom>
          <a:solidFill>
            <a:srgbClr val="E3E5F6"/>
          </a:solidFill>
          <a:ln/>
        </p:spPr>
      </p:sp>
      <p:sp>
        <p:nvSpPr>
          <p:cNvPr id="17" name="Chip 244"/>
          <p:cNvSpPr txBox="1"/>
          <p:nvPr/>
        </p:nvSpPr>
        <p:spPr>
          <a:xfrm>
            <a:off x="4892040" y="1709928"/>
            <a:ext cx="2468880" cy="310896"/>
          </a:xfrm>
          <a:prstGeom prst="roundRect">
            <a:avLst>
              <a:gd name="adj" fmla="val 23529"/>
            </a:avLst>
          </a:prstGeom>
          <a:solidFill>
            <a:schemeClr val="bg1"/>
          </a:solidFill>
          <a:ln w="9525">
            <a:solidFill>
              <a:srgbClr val="8D91D8"/>
            </a:solidFill>
          </a:ln>
        </p:spPr>
        <p:txBody>
          <a:bodyPr wrap="square" lIns="381" tIns="381" rIns="381" bIns="381" rtlCol="0" anchor="ctr"/>
          <a:lstStyle/>
          <a:p>
            <a:pPr algn="ctr" indent="0" marL="0">
              <a:buNone/>
            </a:pPr>
            <a:r>
              <a:rPr lang="en-US" sz="1100" b="1" dirty="0">
                <a:solidFill>
                  <a:schemeClr val="tx1"/>
                </a:solidFill>
              </a:rPr>
              <a:t>Add &amp; Norm</a:t>
            </a:r>
            <a:endParaRPr lang="en-US" sz="1100" dirty="0"/>
          </a:p>
        </p:txBody>
      </p:sp>
      <p:sp>
        <p:nvSpPr>
          <p:cNvPr id="18" name="Chip 245"/>
          <p:cNvSpPr txBox="1"/>
          <p:nvPr/>
        </p:nvSpPr>
        <p:spPr>
          <a:xfrm>
            <a:off x="4892040" y="2066544"/>
            <a:ext cx="2468880" cy="310896"/>
          </a:xfrm>
          <a:prstGeom prst="roundRect">
            <a:avLst>
              <a:gd name="adj" fmla="val 23529"/>
            </a:avLst>
          </a:prstGeom>
          <a:solidFill>
            <a:schemeClr val="accent3"/>
          </a:solidFill>
          <a:ln/>
        </p:spPr>
        <p:txBody>
          <a:bodyPr wrap="square" lIns="381" tIns="381" rIns="381" bIns="381" rtlCol="0" anchor="ctr"/>
          <a:lstStyle/>
          <a:p>
            <a:pPr algn="ctr" indent="0" marL="0">
              <a:buNone/>
            </a:pPr>
            <a:r>
              <a:rPr lang="en-US" sz="1100" b="1" dirty="0">
                <a:solidFill>
                  <a:schemeClr val="bg1"/>
                </a:solidFill>
              </a:rPr>
              <a:t>Feed-Forward</a:t>
            </a:r>
            <a:endParaRPr lang="en-US" sz="1100" dirty="0"/>
          </a:p>
        </p:txBody>
      </p:sp>
      <p:sp>
        <p:nvSpPr>
          <p:cNvPr id="19" name="Chip 246"/>
          <p:cNvSpPr txBox="1"/>
          <p:nvPr/>
        </p:nvSpPr>
        <p:spPr>
          <a:xfrm>
            <a:off x="4892040" y="2423160"/>
            <a:ext cx="2468880" cy="310896"/>
          </a:xfrm>
          <a:prstGeom prst="roundRect">
            <a:avLst>
              <a:gd name="adj" fmla="val 23529"/>
            </a:avLst>
          </a:prstGeom>
          <a:solidFill>
            <a:schemeClr val="bg1"/>
          </a:solidFill>
          <a:ln w="9525">
            <a:solidFill>
              <a:srgbClr val="8D91D8"/>
            </a:solidFill>
          </a:ln>
        </p:spPr>
        <p:txBody>
          <a:bodyPr wrap="square" lIns="381" tIns="381" rIns="381" bIns="381" rtlCol="0" anchor="ctr"/>
          <a:lstStyle/>
          <a:p>
            <a:pPr algn="ctr" indent="0" marL="0">
              <a:buNone/>
            </a:pPr>
            <a:r>
              <a:rPr lang="en-US" sz="1100" b="1" dirty="0">
                <a:solidFill>
                  <a:schemeClr val="tx1"/>
                </a:solidFill>
              </a:rPr>
              <a:t>Add &amp; Norm</a:t>
            </a:r>
            <a:endParaRPr lang="en-US" sz="1100" dirty="0"/>
          </a:p>
        </p:txBody>
      </p:sp>
      <p:sp>
        <p:nvSpPr>
          <p:cNvPr id="20" name="Chip 247"/>
          <p:cNvSpPr txBox="1"/>
          <p:nvPr/>
        </p:nvSpPr>
        <p:spPr>
          <a:xfrm>
            <a:off x="4892040" y="2779776"/>
            <a:ext cx="2468880" cy="310896"/>
          </a:xfrm>
          <a:prstGeom prst="roundRect">
            <a:avLst>
              <a:gd name="adj" fmla="val 23529"/>
            </a:avLst>
          </a:prstGeom>
          <a:solidFill>
            <a:schemeClr val="accent5"/>
          </a:solidFill>
          <a:ln/>
        </p:spPr>
        <p:txBody>
          <a:bodyPr wrap="square" lIns="381" tIns="381" rIns="381" bIns="381" rtlCol="0" anchor="ctr"/>
          <a:lstStyle/>
          <a:p>
            <a:pPr algn="ctr" indent="0" marL="0">
              <a:buNone/>
            </a:pPr>
            <a:r>
              <a:rPr lang="en-US" sz="1100" b="1" dirty="0">
                <a:solidFill>
                  <a:schemeClr val="bg1"/>
                </a:solidFill>
              </a:rPr>
              <a:t>Cross-Attention</a:t>
            </a:r>
            <a:endParaRPr lang="en-US" sz="1100" dirty="0"/>
          </a:p>
        </p:txBody>
      </p:sp>
      <p:sp>
        <p:nvSpPr>
          <p:cNvPr id="21" name="Chip 248"/>
          <p:cNvSpPr txBox="1"/>
          <p:nvPr/>
        </p:nvSpPr>
        <p:spPr>
          <a:xfrm>
            <a:off x="4892040" y="3136392"/>
            <a:ext cx="2468880" cy="310896"/>
          </a:xfrm>
          <a:prstGeom prst="roundRect">
            <a:avLst>
              <a:gd name="adj" fmla="val 23529"/>
            </a:avLst>
          </a:prstGeom>
          <a:solidFill>
            <a:schemeClr val="bg1"/>
          </a:solidFill>
          <a:ln w="9525">
            <a:solidFill>
              <a:srgbClr val="8D91D8"/>
            </a:solidFill>
          </a:ln>
        </p:spPr>
        <p:txBody>
          <a:bodyPr wrap="square" lIns="381" tIns="381" rIns="381" bIns="381" rtlCol="0" anchor="ctr"/>
          <a:lstStyle/>
          <a:p>
            <a:pPr algn="ctr" indent="0" marL="0">
              <a:buNone/>
            </a:pPr>
            <a:r>
              <a:rPr lang="en-US" sz="1100" b="1" dirty="0">
                <a:solidFill>
                  <a:schemeClr val="tx1"/>
                </a:solidFill>
              </a:rPr>
              <a:t>Add &amp; Norm</a:t>
            </a:r>
            <a:endParaRPr lang="en-US" sz="1100" dirty="0"/>
          </a:p>
        </p:txBody>
      </p:sp>
      <p:sp>
        <p:nvSpPr>
          <p:cNvPr id="22" name="Chip 249"/>
          <p:cNvSpPr txBox="1"/>
          <p:nvPr/>
        </p:nvSpPr>
        <p:spPr>
          <a:xfrm>
            <a:off x="4892040" y="3493008"/>
            <a:ext cx="2468880" cy="310896"/>
          </a:xfrm>
          <a:prstGeom prst="roundRect">
            <a:avLst>
              <a:gd name="adj" fmla="val 23529"/>
            </a:avLst>
          </a:prstGeom>
          <a:solidFill>
            <a:schemeClr val="accent1"/>
          </a:solidFill>
          <a:ln/>
        </p:spPr>
        <p:txBody>
          <a:bodyPr wrap="square" lIns="381" tIns="381" rIns="381" bIns="381" rtlCol="0" anchor="ctr"/>
          <a:lstStyle/>
          <a:p>
            <a:pPr algn="ctr" indent="0" marL="0">
              <a:buNone/>
            </a:pPr>
            <a:r>
              <a:rPr lang="en-US" sz="1100" b="1" dirty="0">
                <a:solidFill>
                  <a:schemeClr val="bg1"/>
                </a:solidFill>
              </a:rPr>
              <a:t>Masked Self-Attention</a:t>
            </a:r>
            <a:endParaRPr lang="en-US" sz="1100" dirty="0"/>
          </a:p>
        </p:txBody>
      </p:sp>
      <p:sp>
        <p:nvSpPr>
          <p:cNvPr id="23" name="Text 250"/>
          <p:cNvSpPr txBox="1"/>
          <p:nvPr/>
        </p:nvSpPr>
        <p:spPr>
          <a:xfrm>
            <a:off x="4754880" y="1344168"/>
            <a:ext cx="2743200" cy="237744"/>
          </a:xfrm>
          <a:prstGeom prst="rect">
            <a:avLst/>
          </a:prstGeom>
          <a:noFill/>
          <a:ln/>
        </p:spPr>
        <p:txBody>
          <a:bodyPr wrap="square" lIns="0" tIns="0" rIns="0" bIns="0" rtlCol="0" anchor="t"/>
          <a:lstStyle/>
          <a:p>
            <a:pPr algn="ctr" indent="0" marL="0">
              <a:buNone/>
            </a:pPr>
            <a:r>
              <a:rPr lang="en-US" sz="1300" b="1" dirty="0">
                <a:solidFill>
                  <a:schemeClr val="tx2"/>
                </a:solidFill>
              </a:rPr>
              <a:t>DECODER  ×N</a:t>
            </a:r>
            <a:endParaRPr lang="en-US" sz="1300" dirty="0"/>
          </a:p>
        </p:txBody>
      </p:sp>
      <p:sp>
        <p:nvSpPr>
          <p:cNvPr id="24" name="Arrow 251"/>
          <p:cNvSpPr/>
          <p:nvPr/>
        </p:nvSpPr>
        <p:spPr>
          <a:xfrm>
            <a:off x="3657600" y="2935224"/>
            <a:ext cx="1234440" cy="0"/>
          </a:xfrm>
          <a:prstGeom prst="line">
            <a:avLst/>
          </a:prstGeom>
          <a:noFill/>
          <a:ln w="31750">
            <a:solidFill>
              <a:schemeClr val="accent5"/>
            </a:solidFill>
            <a:prstDash val="solid"/>
            <a:tailEnd type="triangle"/>
          </a:ln>
        </p:spPr>
      </p:sp>
      <p:sp>
        <p:nvSpPr>
          <p:cNvPr id="25" name="Text 252"/>
          <p:cNvSpPr txBox="1"/>
          <p:nvPr/>
        </p:nvSpPr>
        <p:spPr>
          <a:xfrm>
            <a:off x="3657600" y="2679192"/>
            <a:ext cx="1097280" cy="219456"/>
          </a:xfrm>
          <a:prstGeom prst="rect">
            <a:avLst/>
          </a:prstGeom>
          <a:noFill/>
          <a:ln/>
        </p:spPr>
        <p:txBody>
          <a:bodyPr wrap="square" lIns="0" tIns="0" rIns="0" bIns="0" rtlCol="0" anchor="t"/>
          <a:lstStyle/>
          <a:p>
            <a:pPr algn="ctr" indent="0" marL="0">
              <a:buNone/>
            </a:pPr>
            <a:r>
              <a:rPr lang="en-US" sz="1100" i="1" dirty="0">
                <a:solidFill>
                  <a:schemeClr val="accent5"/>
                </a:solidFill>
              </a:rPr>
              <a:t>context</a:t>
            </a:r>
            <a:endParaRPr lang="en-US" sz="1100" dirty="0"/>
          </a:p>
        </p:txBody>
      </p:sp>
      <p:sp>
        <p:nvSpPr>
          <p:cNvPr id="26" name="Legend 253"/>
          <p:cNvSpPr/>
          <p:nvPr/>
        </p:nvSpPr>
        <p:spPr>
          <a:xfrm>
            <a:off x="7726680" y="1737360"/>
            <a:ext cx="155448" cy="155448"/>
          </a:xfrm>
          <a:prstGeom prst="rect">
            <a:avLst/>
          </a:prstGeom>
          <a:solidFill>
            <a:schemeClr val="accent1"/>
          </a:solidFill>
          <a:ln w="9525">
            <a:solidFill>
              <a:srgbClr val="8D91D8"/>
            </a:solidFill>
            <a:prstDash val="solid"/>
          </a:ln>
        </p:spPr>
      </p:sp>
      <p:sp>
        <p:nvSpPr>
          <p:cNvPr id="27" name="Text 254"/>
          <p:cNvSpPr txBox="1"/>
          <p:nvPr/>
        </p:nvSpPr>
        <p:spPr>
          <a:xfrm>
            <a:off x="7936992" y="1682496"/>
            <a:ext cx="777240" cy="274320"/>
          </a:xfrm>
          <a:prstGeom prst="rect">
            <a:avLst/>
          </a:prstGeom>
          <a:noFill/>
          <a:ln/>
        </p:spPr>
        <p:txBody>
          <a:bodyPr wrap="square" lIns="0" tIns="0" rIns="0" bIns="0" rtlCol="0" anchor="ctr"/>
          <a:lstStyle/>
          <a:p>
            <a:pPr indent="0" marL="0">
              <a:buNone/>
            </a:pPr>
            <a:r>
              <a:rPr lang="en-US" sz="1100" dirty="0">
                <a:solidFill>
                  <a:schemeClr val="tx1"/>
                </a:solidFill>
              </a:rPr>
              <a:t>Attention</a:t>
            </a:r>
            <a:endParaRPr lang="en-US" sz="1100" dirty="0"/>
          </a:p>
        </p:txBody>
      </p:sp>
      <p:sp>
        <p:nvSpPr>
          <p:cNvPr id="28" name="Legend 255"/>
          <p:cNvSpPr/>
          <p:nvPr/>
        </p:nvSpPr>
        <p:spPr>
          <a:xfrm>
            <a:off x="7726680" y="2103120"/>
            <a:ext cx="155448" cy="155448"/>
          </a:xfrm>
          <a:prstGeom prst="rect">
            <a:avLst/>
          </a:prstGeom>
          <a:solidFill>
            <a:schemeClr val="accent3"/>
          </a:solidFill>
          <a:ln w="9525">
            <a:solidFill>
              <a:srgbClr val="8D91D8"/>
            </a:solidFill>
            <a:prstDash val="solid"/>
          </a:ln>
        </p:spPr>
      </p:sp>
      <p:sp>
        <p:nvSpPr>
          <p:cNvPr id="29" name="Text 256"/>
          <p:cNvSpPr txBox="1"/>
          <p:nvPr/>
        </p:nvSpPr>
        <p:spPr>
          <a:xfrm>
            <a:off x="7936992" y="2048256"/>
            <a:ext cx="777240" cy="274320"/>
          </a:xfrm>
          <a:prstGeom prst="rect">
            <a:avLst/>
          </a:prstGeom>
          <a:noFill/>
          <a:ln/>
        </p:spPr>
        <p:txBody>
          <a:bodyPr wrap="square" lIns="0" tIns="0" rIns="0" bIns="0" rtlCol="0" anchor="ctr"/>
          <a:lstStyle/>
          <a:p>
            <a:pPr indent="0" marL="0">
              <a:buNone/>
            </a:pPr>
            <a:r>
              <a:rPr lang="en-US" sz="1100" dirty="0">
                <a:solidFill>
                  <a:schemeClr val="tx1"/>
                </a:solidFill>
              </a:rPr>
              <a:t>Feed-forward</a:t>
            </a:r>
            <a:endParaRPr lang="en-US" sz="1100" dirty="0"/>
          </a:p>
        </p:txBody>
      </p:sp>
      <p:sp>
        <p:nvSpPr>
          <p:cNvPr id="30" name="Legend 257"/>
          <p:cNvSpPr/>
          <p:nvPr/>
        </p:nvSpPr>
        <p:spPr>
          <a:xfrm>
            <a:off x="7726680" y="2468880"/>
            <a:ext cx="155448" cy="155448"/>
          </a:xfrm>
          <a:prstGeom prst="rect">
            <a:avLst/>
          </a:prstGeom>
          <a:solidFill>
            <a:schemeClr val="accent5"/>
          </a:solidFill>
          <a:ln w="9525">
            <a:solidFill>
              <a:srgbClr val="8D91D8"/>
            </a:solidFill>
            <a:prstDash val="solid"/>
          </a:ln>
        </p:spPr>
      </p:sp>
      <p:sp>
        <p:nvSpPr>
          <p:cNvPr id="31" name="Text 258"/>
          <p:cNvSpPr txBox="1"/>
          <p:nvPr/>
        </p:nvSpPr>
        <p:spPr>
          <a:xfrm>
            <a:off x="7936992" y="2414016"/>
            <a:ext cx="777240" cy="274320"/>
          </a:xfrm>
          <a:prstGeom prst="rect">
            <a:avLst/>
          </a:prstGeom>
          <a:noFill/>
          <a:ln/>
        </p:spPr>
        <p:txBody>
          <a:bodyPr wrap="square" lIns="0" tIns="0" rIns="0" bIns="0" rtlCol="0" anchor="ctr"/>
          <a:lstStyle/>
          <a:p>
            <a:pPr indent="0" marL="0">
              <a:buNone/>
            </a:pPr>
            <a:r>
              <a:rPr lang="en-US" sz="1100" dirty="0">
                <a:solidFill>
                  <a:schemeClr val="tx1"/>
                </a:solidFill>
              </a:rPr>
              <a:t>Cross-attn</a:t>
            </a:r>
            <a:endParaRPr lang="en-US" sz="1100" dirty="0"/>
          </a:p>
        </p:txBody>
      </p:sp>
      <p:sp>
        <p:nvSpPr>
          <p:cNvPr id="32" name="Legend 259"/>
          <p:cNvSpPr/>
          <p:nvPr/>
        </p:nvSpPr>
        <p:spPr>
          <a:xfrm>
            <a:off x="7726680" y="2834640"/>
            <a:ext cx="155448" cy="155448"/>
          </a:xfrm>
          <a:prstGeom prst="rect">
            <a:avLst/>
          </a:prstGeom>
          <a:solidFill>
            <a:srgbClr val="FFFFFF"/>
          </a:solidFill>
          <a:ln w="9525">
            <a:solidFill>
              <a:srgbClr val="8D91D8"/>
            </a:solidFill>
            <a:prstDash val="solid"/>
          </a:ln>
        </p:spPr>
      </p:sp>
      <p:sp>
        <p:nvSpPr>
          <p:cNvPr id="33" name="Text 260"/>
          <p:cNvSpPr txBox="1"/>
          <p:nvPr/>
        </p:nvSpPr>
        <p:spPr>
          <a:xfrm>
            <a:off x="7936992" y="2779776"/>
            <a:ext cx="777240" cy="274320"/>
          </a:xfrm>
          <a:prstGeom prst="rect">
            <a:avLst/>
          </a:prstGeom>
          <a:noFill/>
          <a:ln/>
        </p:spPr>
        <p:txBody>
          <a:bodyPr wrap="square" lIns="0" tIns="0" rIns="0" bIns="0" rtlCol="0" anchor="ctr"/>
          <a:lstStyle/>
          <a:p>
            <a:pPr indent="0" marL="0">
              <a:buNone/>
            </a:pPr>
            <a:r>
              <a:rPr lang="en-US" sz="1100" dirty="0">
                <a:solidFill>
                  <a:schemeClr val="tx1"/>
                </a:solidFill>
              </a:rPr>
              <a:t>Add &amp; Norm</a:t>
            </a:r>
            <a:endParaRPr lang="en-US" sz="1100" dirty="0"/>
          </a:p>
        </p:txBody>
      </p:sp>
      <p:sp>
        <p:nvSpPr>
          <p:cNvPr id="34" name="Text 261"/>
          <p:cNvSpPr txBox="1"/>
          <p:nvPr/>
        </p:nvSpPr>
        <p:spPr>
          <a:xfrm>
            <a:off x="7726680" y="3291840"/>
            <a:ext cx="960120" cy="640080"/>
          </a:xfrm>
          <a:prstGeom prst="rect">
            <a:avLst/>
          </a:prstGeom>
          <a:noFill/>
          <a:ln/>
        </p:spPr>
        <p:txBody>
          <a:bodyPr wrap="square" lIns="0" tIns="0" rIns="0" bIns="0" rtlCol="0" anchor="t"/>
          <a:lstStyle/>
          <a:p>
            <a:pPr indent="0" marL="0">
              <a:buNone/>
            </a:pPr>
            <a:r>
              <a:rPr lang="en-US" sz="1100" i="1" dirty="0">
                <a:solidFill>
                  <a:schemeClr val="tx1"/>
                </a:solidFill>
              </a:rPr>
              <a:t>Data flows bottom → top</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What Can Each Word See?</a:t>
            </a:r>
            <a:endParaRPr lang="en-US" sz="3000" dirty="0"/>
          </a:p>
        </p:txBody>
      </p:sp>
      <p:sp>
        <p:nvSpPr>
          <p:cNvPr id="4" name="Card 262"/>
          <p:cNvSpPr/>
          <p:nvPr/>
        </p:nvSpPr>
        <p:spPr>
          <a:xfrm>
            <a:off x="457200" y="1143000"/>
            <a:ext cx="4023360" cy="3520440"/>
          </a:xfrm>
          <a:prstGeom prst="roundRect">
            <a:avLst>
              <a:gd name="adj" fmla="val 2078"/>
            </a:avLst>
          </a:prstGeom>
          <a:solidFill>
            <a:schemeClr val="bg2"/>
          </a:solidFill>
          <a:ln/>
        </p:spPr>
      </p:sp>
      <p:sp>
        <p:nvSpPr>
          <p:cNvPr id="5" name="Text 263"/>
          <p:cNvSpPr txBox="1"/>
          <p:nvPr/>
        </p:nvSpPr>
        <p:spPr>
          <a:xfrm>
            <a:off x="685800" y="1261872"/>
            <a:ext cx="3566160" cy="320040"/>
          </a:xfrm>
          <a:prstGeom prst="rect">
            <a:avLst/>
          </a:prstGeom>
          <a:noFill/>
          <a:ln/>
        </p:spPr>
        <p:txBody>
          <a:bodyPr wrap="square" lIns="0" tIns="0" rIns="0" bIns="0" rtlCol="0" anchor="t"/>
          <a:lstStyle/>
          <a:p>
            <a:pPr indent="0" marL="0">
              <a:buNone/>
            </a:pPr>
            <a:r>
              <a:rPr lang="en-US" sz="1800" b="1" dirty="0">
                <a:solidFill>
                  <a:schemeClr val="tx2"/>
                </a:solidFill>
              </a:rPr>
              <a:t>Encoder: full attention</a:t>
            </a:r>
            <a:endParaRPr lang="en-US" sz="1800" dirty="0"/>
          </a:p>
        </p:txBody>
      </p:sp>
      <p:sp>
        <p:nvSpPr>
          <p:cNvPr id="6" name="Legend 264"/>
          <p:cNvSpPr/>
          <p:nvPr/>
        </p:nvSpPr>
        <p:spPr>
          <a:xfrm>
            <a:off x="704088" y="1719072"/>
            <a:ext cx="137160" cy="137160"/>
          </a:xfrm>
          <a:prstGeom prst="rect">
            <a:avLst/>
          </a:prstGeom>
          <a:solidFill>
            <a:schemeClr val="accent3"/>
          </a:solidFill>
          <a:ln/>
        </p:spPr>
      </p:sp>
      <p:sp>
        <p:nvSpPr>
          <p:cNvPr id="7" name="Text 265"/>
          <p:cNvSpPr txBox="1"/>
          <p:nvPr/>
        </p:nvSpPr>
        <p:spPr>
          <a:xfrm>
            <a:off x="914400" y="1673352"/>
            <a:ext cx="731520" cy="228600"/>
          </a:xfrm>
          <a:prstGeom prst="rect">
            <a:avLst/>
          </a:prstGeom>
          <a:noFill/>
          <a:ln/>
        </p:spPr>
        <p:txBody>
          <a:bodyPr wrap="square" lIns="0" tIns="0" rIns="0" bIns="0" rtlCol="0" anchor="ctr"/>
          <a:lstStyle/>
          <a:p>
            <a:pPr indent="0" marL="0">
              <a:buNone/>
            </a:pPr>
            <a:r>
              <a:rPr lang="en-US" sz="1100" dirty="0">
                <a:solidFill>
                  <a:schemeClr val="tx1"/>
                </a:solidFill>
              </a:rPr>
              <a:t>can see</a:t>
            </a:r>
            <a:endParaRPr lang="en-US" sz="1100" dirty="0"/>
          </a:p>
        </p:txBody>
      </p:sp>
      <p:sp>
        <p:nvSpPr>
          <p:cNvPr id="8" name="Legend 266"/>
          <p:cNvSpPr/>
          <p:nvPr/>
        </p:nvSpPr>
        <p:spPr>
          <a:xfrm>
            <a:off x="1783080" y="1719072"/>
            <a:ext cx="137160" cy="137160"/>
          </a:xfrm>
          <a:prstGeom prst="rect">
            <a:avLst/>
          </a:prstGeom>
          <a:solidFill>
            <a:srgbClr val="D5D8EC"/>
          </a:solidFill>
          <a:ln/>
        </p:spPr>
      </p:sp>
      <p:sp>
        <p:nvSpPr>
          <p:cNvPr id="9" name="Text 267"/>
          <p:cNvSpPr txBox="1"/>
          <p:nvPr/>
        </p:nvSpPr>
        <p:spPr>
          <a:xfrm>
            <a:off x="1993392" y="1673352"/>
            <a:ext cx="731520" cy="228600"/>
          </a:xfrm>
          <a:prstGeom prst="rect">
            <a:avLst/>
          </a:prstGeom>
          <a:noFill/>
          <a:ln/>
        </p:spPr>
        <p:txBody>
          <a:bodyPr wrap="square" lIns="0" tIns="0" rIns="0" bIns="0" rtlCol="0" anchor="ctr"/>
          <a:lstStyle/>
          <a:p>
            <a:pPr indent="0" marL="0">
              <a:buNone/>
            </a:pPr>
            <a:r>
              <a:rPr lang="en-US" sz="1100" dirty="0">
                <a:solidFill>
                  <a:schemeClr val="tx1"/>
                </a:solidFill>
              </a:rPr>
              <a:t>hidden</a:t>
            </a:r>
            <a:endParaRPr lang="en-US" sz="1100" dirty="0"/>
          </a:p>
        </p:txBody>
      </p:sp>
      <p:sp>
        <p:nvSpPr>
          <p:cNvPr id="10" name="Text 268"/>
          <p:cNvSpPr txBox="1"/>
          <p:nvPr/>
        </p:nvSpPr>
        <p:spPr>
          <a:xfrm>
            <a:off x="1856232" y="2011680"/>
            <a:ext cx="512064" cy="228600"/>
          </a:xfrm>
          <a:prstGeom prst="rect">
            <a:avLst/>
          </a:prstGeom>
          <a:noFill/>
          <a:ln/>
        </p:spPr>
        <p:txBody>
          <a:bodyPr wrap="square" lIns="0" tIns="0" rIns="0" bIns="0" rtlCol="0" anchor="ctr"/>
          <a:lstStyle/>
          <a:p>
            <a:pPr algn="ctr" indent="0" marL="0">
              <a:buNone/>
            </a:pPr>
            <a:r>
              <a:rPr lang="en-US" sz="1100" dirty="0">
                <a:solidFill>
                  <a:schemeClr val="tx1"/>
                </a:solidFill>
              </a:rPr>
              <a:t>The</a:t>
            </a:r>
            <a:endParaRPr lang="en-US" sz="1100" dirty="0"/>
          </a:p>
        </p:txBody>
      </p:sp>
      <p:sp>
        <p:nvSpPr>
          <p:cNvPr id="11" name="Text 269"/>
          <p:cNvSpPr txBox="1"/>
          <p:nvPr/>
        </p:nvSpPr>
        <p:spPr>
          <a:xfrm>
            <a:off x="1307592" y="2286000"/>
            <a:ext cx="502920" cy="393192"/>
          </a:xfrm>
          <a:prstGeom prst="rect">
            <a:avLst/>
          </a:prstGeom>
          <a:noFill/>
          <a:ln/>
        </p:spPr>
        <p:txBody>
          <a:bodyPr wrap="square" lIns="0" tIns="0" rIns="0" bIns="0" rtlCol="0" anchor="ctr"/>
          <a:lstStyle/>
          <a:p>
            <a:pPr algn="r" indent="0" marL="0">
              <a:buNone/>
            </a:pPr>
            <a:r>
              <a:rPr lang="en-US" sz="1100" dirty="0">
                <a:solidFill>
                  <a:schemeClr val="tx1"/>
                </a:solidFill>
              </a:rPr>
              <a:t>The</a:t>
            </a:r>
            <a:endParaRPr lang="en-US" sz="1100" dirty="0"/>
          </a:p>
        </p:txBody>
      </p:sp>
      <p:sp>
        <p:nvSpPr>
          <p:cNvPr id="12" name="Cell 270"/>
          <p:cNvSpPr/>
          <p:nvPr/>
        </p:nvSpPr>
        <p:spPr>
          <a:xfrm>
            <a:off x="1901952" y="2286000"/>
            <a:ext cx="393192" cy="393192"/>
          </a:xfrm>
          <a:prstGeom prst="rect">
            <a:avLst/>
          </a:prstGeom>
          <a:solidFill>
            <a:schemeClr val="accent3"/>
          </a:solidFill>
          <a:ln/>
        </p:spPr>
      </p:sp>
      <p:sp>
        <p:nvSpPr>
          <p:cNvPr id="13" name="Cell 271"/>
          <p:cNvSpPr/>
          <p:nvPr/>
        </p:nvSpPr>
        <p:spPr>
          <a:xfrm>
            <a:off x="2322576" y="2286000"/>
            <a:ext cx="393192" cy="393192"/>
          </a:xfrm>
          <a:prstGeom prst="rect">
            <a:avLst/>
          </a:prstGeom>
          <a:solidFill>
            <a:schemeClr val="accent3"/>
          </a:solidFill>
          <a:ln/>
        </p:spPr>
      </p:sp>
      <p:sp>
        <p:nvSpPr>
          <p:cNvPr id="14" name="Cell 272"/>
          <p:cNvSpPr/>
          <p:nvPr/>
        </p:nvSpPr>
        <p:spPr>
          <a:xfrm>
            <a:off x="2743200" y="2286000"/>
            <a:ext cx="393192" cy="393192"/>
          </a:xfrm>
          <a:prstGeom prst="rect">
            <a:avLst/>
          </a:prstGeom>
          <a:solidFill>
            <a:schemeClr val="accent3"/>
          </a:solidFill>
          <a:ln/>
        </p:spPr>
      </p:sp>
      <p:sp>
        <p:nvSpPr>
          <p:cNvPr id="15" name="Cell 273"/>
          <p:cNvSpPr/>
          <p:nvPr/>
        </p:nvSpPr>
        <p:spPr>
          <a:xfrm>
            <a:off x="3163824" y="2286000"/>
            <a:ext cx="393192" cy="393192"/>
          </a:xfrm>
          <a:prstGeom prst="rect">
            <a:avLst/>
          </a:prstGeom>
          <a:solidFill>
            <a:schemeClr val="accent3"/>
          </a:solidFill>
          <a:ln/>
        </p:spPr>
      </p:sp>
      <p:sp>
        <p:nvSpPr>
          <p:cNvPr id="16" name="Text 274"/>
          <p:cNvSpPr txBox="1"/>
          <p:nvPr/>
        </p:nvSpPr>
        <p:spPr>
          <a:xfrm>
            <a:off x="2276856" y="2011680"/>
            <a:ext cx="512064" cy="228600"/>
          </a:xfrm>
          <a:prstGeom prst="rect">
            <a:avLst/>
          </a:prstGeom>
          <a:noFill/>
          <a:ln/>
        </p:spPr>
        <p:txBody>
          <a:bodyPr wrap="square" lIns="0" tIns="0" rIns="0" bIns="0" rtlCol="0" anchor="ctr"/>
          <a:lstStyle/>
          <a:p>
            <a:pPr algn="ctr" indent="0" marL="0">
              <a:buNone/>
            </a:pPr>
            <a:r>
              <a:rPr lang="en-US" sz="1100" dirty="0">
                <a:solidFill>
                  <a:schemeClr val="tx1"/>
                </a:solidFill>
              </a:rPr>
              <a:t>cat</a:t>
            </a:r>
            <a:endParaRPr lang="en-US" sz="1100" dirty="0"/>
          </a:p>
        </p:txBody>
      </p:sp>
      <p:sp>
        <p:nvSpPr>
          <p:cNvPr id="17" name="Text 275"/>
          <p:cNvSpPr txBox="1"/>
          <p:nvPr/>
        </p:nvSpPr>
        <p:spPr>
          <a:xfrm>
            <a:off x="1307592" y="2706624"/>
            <a:ext cx="502920" cy="393192"/>
          </a:xfrm>
          <a:prstGeom prst="rect">
            <a:avLst/>
          </a:prstGeom>
          <a:noFill/>
          <a:ln/>
        </p:spPr>
        <p:txBody>
          <a:bodyPr wrap="square" lIns="0" tIns="0" rIns="0" bIns="0" rtlCol="0" anchor="ctr"/>
          <a:lstStyle/>
          <a:p>
            <a:pPr algn="r" indent="0" marL="0">
              <a:buNone/>
            </a:pPr>
            <a:r>
              <a:rPr lang="en-US" sz="1100" dirty="0">
                <a:solidFill>
                  <a:schemeClr val="tx1"/>
                </a:solidFill>
              </a:rPr>
              <a:t>cat</a:t>
            </a:r>
            <a:endParaRPr lang="en-US" sz="1100" dirty="0"/>
          </a:p>
        </p:txBody>
      </p:sp>
      <p:sp>
        <p:nvSpPr>
          <p:cNvPr id="18" name="Cell 276"/>
          <p:cNvSpPr/>
          <p:nvPr/>
        </p:nvSpPr>
        <p:spPr>
          <a:xfrm>
            <a:off x="1901952" y="2706624"/>
            <a:ext cx="393192" cy="393192"/>
          </a:xfrm>
          <a:prstGeom prst="rect">
            <a:avLst/>
          </a:prstGeom>
          <a:solidFill>
            <a:schemeClr val="accent3"/>
          </a:solidFill>
          <a:ln/>
        </p:spPr>
      </p:sp>
      <p:sp>
        <p:nvSpPr>
          <p:cNvPr id="19" name="Cell 277"/>
          <p:cNvSpPr/>
          <p:nvPr/>
        </p:nvSpPr>
        <p:spPr>
          <a:xfrm>
            <a:off x="2322576" y="2706624"/>
            <a:ext cx="393192" cy="393192"/>
          </a:xfrm>
          <a:prstGeom prst="rect">
            <a:avLst/>
          </a:prstGeom>
          <a:solidFill>
            <a:schemeClr val="accent3"/>
          </a:solidFill>
          <a:ln/>
        </p:spPr>
      </p:sp>
      <p:sp>
        <p:nvSpPr>
          <p:cNvPr id="20" name="Cell 278"/>
          <p:cNvSpPr/>
          <p:nvPr/>
        </p:nvSpPr>
        <p:spPr>
          <a:xfrm>
            <a:off x="2743200" y="2706624"/>
            <a:ext cx="393192" cy="393192"/>
          </a:xfrm>
          <a:prstGeom prst="rect">
            <a:avLst/>
          </a:prstGeom>
          <a:solidFill>
            <a:schemeClr val="accent3"/>
          </a:solidFill>
          <a:ln/>
        </p:spPr>
      </p:sp>
      <p:sp>
        <p:nvSpPr>
          <p:cNvPr id="21" name="Cell 279"/>
          <p:cNvSpPr/>
          <p:nvPr/>
        </p:nvSpPr>
        <p:spPr>
          <a:xfrm>
            <a:off x="3163824" y="2706624"/>
            <a:ext cx="393192" cy="393192"/>
          </a:xfrm>
          <a:prstGeom prst="rect">
            <a:avLst/>
          </a:prstGeom>
          <a:solidFill>
            <a:schemeClr val="accent3"/>
          </a:solidFill>
          <a:ln/>
        </p:spPr>
      </p:sp>
      <p:sp>
        <p:nvSpPr>
          <p:cNvPr id="22" name="Text 280"/>
          <p:cNvSpPr txBox="1"/>
          <p:nvPr/>
        </p:nvSpPr>
        <p:spPr>
          <a:xfrm>
            <a:off x="2697480" y="2011680"/>
            <a:ext cx="512064" cy="228600"/>
          </a:xfrm>
          <a:prstGeom prst="rect">
            <a:avLst/>
          </a:prstGeom>
          <a:noFill/>
          <a:ln/>
        </p:spPr>
        <p:txBody>
          <a:bodyPr wrap="square" lIns="0" tIns="0" rIns="0" bIns="0" rtlCol="0" anchor="ctr"/>
          <a:lstStyle/>
          <a:p>
            <a:pPr algn="ctr" indent="0" marL="0">
              <a:buNone/>
            </a:pPr>
            <a:r>
              <a:rPr lang="en-US" sz="1100" dirty="0">
                <a:solidFill>
                  <a:schemeClr val="tx1"/>
                </a:solidFill>
              </a:rPr>
              <a:t>sat</a:t>
            </a:r>
            <a:endParaRPr lang="en-US" sz="1100" dirty="0"/>
          </a:p>
        </p:txBody>
      </p:sp>
      <p:sp>
        <p:nvSpPr>
          <p:cNvPr id="23" name="Text 281"/>
          <p:cNvSpPr txBox="1"/>
          <p:nvPr/>
        </p:nvSpPr>
        <p:spPr>
          <a:xfrm>
            <a:off x="1307592" y="3127248"/>
            <a:ext cx="502920" cy="393192"/>
          </a:xfrm>
          <a:prstGeom prst="rect">
            <a:avLst/>
          </a:prstGeom>
          <a:noFill/>
          <a:ln/>
        </p:spPr>
        <p:txBody>
          <a:bodyPr wrap="square" lIns="0" tIns="0" rIns="0" bIns="0" rtlCol="0" anchor="ctr"/>
          <a:lstStyle/>
          <a:p>
            <a:pPr algn="r" indent="0" marL="0">
              <a:buNone/>
            </a:pPr>
            <a:r>
              <a:rPr lang="en-US" sz="1100" dirty="0">
                <a:solidFill>
                  <a:schemeClr val="tx1"/>
                </a:solidFill>
              </a:rPr>
              <a:t>sat</a:t>
            </a:r>
            <a:endParaRPr lang="en-US" sz="1100" dirty="0"/>
          </a:p>
        </p:txBody>
      </p:sp>
      <p:sp>
        <p:nvSpPr>
          <p:cNvPr id="24" name="Cell 282"/>
          <p:cNvSpPr/>
          <p:nvPr/>
        </p:nvSpPr>
        <p:spPr>
          <a:xfrm>
            <a:off x="1901952" y="3127248"/>
            <a:ext cx="393192" cy="393192"/>
          </a:xfrm>
          <a:prstGeom prst="rect">
            <a:avLst/>
          </a:prstGeom>
          <a:solidFill>
            <a:schemeClr val="accent3"/>
          </a:solidFill>
          <a:ln/>
        </p:spPr>
      </p:sp>
      <p:sp>
        <p:nvSpPr>
          <p:cNvPr id="25" name="Cell 283"/>
          <p:cNvSpPr/>
          <p:nvPr/>
        </p:nvSpPr>
        <p:spPr>
          <a:xfrm>
            <a:off x="2322576" y="3127248"/>
            <a:ext cx="393192" cy="393192"/>
          </a:xfrm>
          <a:prstGeom prst="rect">
            <a:avLst/>
          </a:prstGeom>
          <a:solidFill>
            <a:schemeClr val="accent3"/>
          </a:solidFill>
          <a:ln/>
        </p:spPr>
      </p:sp>
      <p:sp>
        <p:nvSpPr>
          <p:cNvPr id="26" name="Cell 284"/>
          <p:cNvSpPr/>
          <p:nvPr/>
        </p:nvSpPr>
        <p:spPr>
          <a:xfrm>
            <a:off x="2743200" y="3127248"/>
            <a:ext cx="393192" cy="393192"/>
          </a:xfrm>
          <a:prstGeom prst="rect">
            <a:avLst/>
          </a:prstGeom>
          <a:solidFill>
            <a:schemeClr val="accent3"/>
          </a:solidFill>
          <a:ln/>
        </p:spPr>
      </p:sp>
      <p:sp>
        <p:nvSpPr>
          <p:cNvPr id="27" name="Cell 285"/>
          <p:cNvSpPr/>
          <p:nvPr/>
        </p:nvSpPr>
        <p:spPr>
          <a:xfrm>
            <a:off x="3163824" y="3127248"/>
            <a:ext cx="393192" cy="393192"/>
          </a:xfrm>
          <a:prstGeom prst="rect">
            <a:avLst/>
          </a:prstGeom>
          <a:solidFill>
            <a:schemeClr val="accent3"/>
          </a:solidFill>
          <a:ln/>
        </p:spPr>
      </p:sp>
      <p:sp>
        <p:nvSpPr>
          <p:cNvPr id="28" name="Text 286"/>
          <p:cNvSpPr txBox="1"/>
          <p:nvPr/>
        </p:nvSpPr>
        <p:spPr>
          <a:xfrm>
            <a:off x="3118104" y="2011680"/>
            <a:ext cx="512064" cy="228600"/>
          </a:xfrm>
          <a:prstGeom prst="rect">
            <a:avLst/>
          </a:prstGeom>
          <a:noFill/>
          <a:ln/>
        </p:spPr>
        <p:txBody>
          <a:bodyPr wrap="square" lIns="0" tIns="0" rIns="0" bIns="0" rtlCol="0" anchor="ctr"/>
          <a:lstStyle/>
          <a:p>
            <a:pPr algn="ctr" indent="0" marL="0">
              <a:buNone/>
            </a:pPr>
            <a:r>
              <a:rPr lang="en-US" sz="1100" dirty="0">
                <a:solidFill>
                  <a:schemeClr val="tx1"/>
                </a:solidFill>
              </a:rPr>
              <a:t>down</a:t>
            </a:r>
            <a:endParaRPr lang="en-US" sz="1100" dirty="0"/>
          </a:p>
        </p:txBody>
      </p:sp>
      <p:sp>
        <p:nvSpPr>
          <p:cNvPr id="29" name="Text 287"/>
          <p:cNvSpPr txBox="1"/>
          <p:nvPr/>
        </p:nvSpPr>
        <p:spPr>
          <a:xfrm>
            <a:off x="1307592" y="3547872"/>
            <a:ext cx="502920" cy="393192"/>
          </a:xfrm>
          <a:prstGeom prst="rect">
            <a:avLst/>
          </a:prstGeom>
          <a:noFill/>
          <a:ln/>
        </p:spPr>
        <p:txBody>
          <a:bodyPr wrap="square" lIns="0" tIns="0" rIns="0" bIns="0" rtlCol="0" anchor="ctr"/>
          <a:lstStyle/>
          <a:p>
            <a:pPr algn="r" indent="0" marL="0">
              <a:buNone/>
            </a:pPr>
            <a:r>
              <a:rPr lang="en-US" sz="1100" dirty="0">
                <a:solidFill>
                  <a:schemeClr val="tx1"/>
                </a:solidFill>
              </a:rPr>
              <a:t>down</a:t>
            </a:r>
            <a:endParaRPr lang="en-US" sz="1100" dirty="0"/>
          </a:p>
        </p:txBody>
      </p:sp>
      <p:sp>
        <p:nvSpPr>
          <p:cNvPr id="30" name="Cell 288"/>
          <p:cNvSpPr/>
          <p:nvPr/>
        </p:nvSpPr>
        <p:spPr>
          <a:xfrm>
            <a:off x="1901952" y="3547872"/>
            <a:ext cx="393192" cy="393192"/>
          </a:xfrm>
          <a:prstGeom prst="rect">
            <a:avLst/>
          </a:prstGeom>
          <a:solidFill>
            <a:schemeClr val="accent3"/>
          </a:solidFill>
          <a:ln/>
        </p:spPr>
      </p:sp>
      <p:sp>
        <p:nvSpPr>
          <p:cNvPr id="31" name="Cell 289"/>
          <p:cNvSpPr/>
          <p:nvPr/>
        </p:nvSpPr>
        <p:spPr>
          <a:xfrm>
            <a:off x="2322576" y="3547872"/>
            <a:ext cx="393192" cy="393192"/>
          </a:xfrm>
          <a:prstGeom prst="rect">
            <a:avLst/>
          </a:prstGeom>
          <a:solidFill>
            <a:schemeClr val="accent3"/>
          </a:solidFill>
          <a:ln/>
        </p:spPr>
      </p:sp>
      <p:sp>
        <p:nvSpPr>
          <p:cNvPr id="32" name="Cell 290"/>
          <p:cNvSpPr/>
          <p:nvPr/>
        </p:nvSpPr>
        <p:spPr>
          <a:xfrm>
            <a:off x="2743200" y="3547872"/>
            <a:ext cx="393192" cy="393192"/>
          </a:xfrm>
          <a:prstGeom prst="rect">
            <a:avLst/>
          </a:prstGeom>
          <a:solidFill>
            <a:schemeClr val="accent3"/>
          </a:solidFill>
          <a:ln/>
        </p:spPr>
      </p:sp>
      <p:sp>
        <p:nvSpPr>
          <p:cNvPr id="33" name="Cell 291"/>
          <p:cNvSpPr/>
          <p:nvPr/>
        </p:nvSpPr>
        <p:spPr>
          <a:xfrm>
            <a:off x="3163824" y="3547872"/>
            <a:ext cx="393192" cy="393192"/>
          </a:xfrm>
          <a:prstGeom prst="rect">
            <a:avLst/>
          </a:prstGeom>
          <a:solidFill>
            <a:schemeClr val="accent3"/>
          </a:solidFill>
          <a:ln/>
        </p:spPr>
      </p:sp>
      <p:sp>
        <p:nvSpPr>
          <p:cNvPr id="34" name="Text 292"/>
          <p:cNvSpPr txBox="1"/>
          <p:nvPr/>
        </p:nvSpPr>
        <p:spPr>
          <a:xfrm>
            <a:off x="685800" y="4069080"/>
            <a:ext cx="3566160" cy="548640"/>
          </a:xfrm>
          <a:prstGeom prst="rect">
            <a:avLst/>
          </a:prstGeom>
          <a:noFill/>
          <a:ln/>
        </p:spPr>
        <p:txBody>
          <a:bodyPr wrap="square" lIns="0" tIns="0" rIns="0" bIns="0" rtlCol="0" anchor="t"/>
          <a:lstStyle/>
          <a:p>
            <a:pPr indent="0" marL="0">
              <a:buNone/>
            </a:pPr>
            <a:r>
              <a:rPr lang="en-US" sz="1400" dirty="0">
                <a:solidFill>
                  <a:schemeClr val="tx1"/>
                </a:solidFill>
              </a:rPr>
              <a:t>Every word can look at every other word, before and after.</a:t>
            </a:r>
            <a:endParaRPr lang="en-US" sz="1400" dirty="0"/>
          </a:p>
        </p:txBody>
      </p:sp>
      <p:sp>
        <p:nvSpPr>
          <p:cNvPr id="35" name="Card 293"/>
          <p:cNvSpPr/>
          <p:nvPr/>
        </p:nvSpPr>
        <p:spPr>
          <a:xfrm>
            <a:off x="4663440" y="1143000"/>
            <a:ext cx="4023360" cy="3520440"/>
          </a:xfrm>
          <a:prstGeom prst="roundRect">
            <a:avLst>
              <a:gd name="adj" fmla="val 2078"/>
            </a:avLst>
          </a:prstGeom>
          <a:solidFill>
            <a:schemeClr val="bg2"/>
          </a:solidFill>
          <a:ln/>
        </p:spPr>
      </p:sp>
      <p:sp>
        <p:nvSpPr>
          <p:cNvPr id="36" name="Text 294"/>
          <p:cNvSpPr txBox="1"/>
          <p:nvPr/>
        </p:nvSpPr>
        <p:spPr>
          <a:xfrm>
            <a:off x="4892040" y="1261872"/>
            <a:ext cx="3566160" cy="320040"/>
          </a:xfrm>
          <a:prstGeom prst="rect">
            <a:avLst/>
          </a:prstGeom>
          <a:noFill/>
          <a:ln/>
        </p:spPr>
        <p:txBody>
          <a:bodyPr wrap="square" lIns="0" tIns="0" rIns="0" bIns="0" rtlCol="0" anchor="t"/>
          <a:lstStyle/>
          <a:p>
            <a:pPr indent="0" marL="0">
              <a:buNone/>
            </a:pPr>
            <a:r>
              <a:rPr lang="en-US" sz="1800" b="1" dirty="0">
                <a:solidFill>
                  <a:schemeClr val="tx2"/>
                </a:solidFill>
              </a:rPr>
              <a:t>Decoder: masked attention</a:t>
            </a:r>
            <a:endParaRPr lang="en-US" sz="1800" dirty="0"/>
          </a:p>
        </p:txBody>
      </p:sp>
      <p:sp>
        <p:nvSpPr>
          <p:cNvPr id="37" name="Legend 295"/>
          <p:cNvSpPr/>
          <p:nvPr/>
        </p:nvSpPr>
        <p:spPr>
          <a:xfrm>
            <a:off x="4910328" y="1719072"/>
            <a:ext cx="137160" cy="137160"/>
          </a:xfrm>
          <a:prstGeom prst="rect">
            <a:avLst/>
          </a:prstGeom>
          <a:solidFill>
            <a:schemeClr val="accent3"/>
          </a:solidFill>
          <a:ln/>
        </p:spPr>
      </p:sp>
      <p:sp>
        <p:nvSpPr>
          <p:cNvPr id="38" name="Text 296"/>
          <p:cNvSpPr txBox="1"/>
          <p:nvPr/>
        </p:nvSpPr>
        <p:spPr>
          <a:xfrm>
            <a:off x="5120640" y="1673352"/>
            <a:ext cx="731520" cy="228600"/>
          </a:xfrm>
          <a:prstGeom prst="rect">
            <a:avLst/>
          </a:prstGeom>
          <a:noFill/>
          <a:ln/>
        </p:spPr>
        <p:txBody>
          <a:bodyPr wrap="square" lIns="0" tIns="0" rIns="0" bIns="0" rtlCol="0" anchor="ctr"/>
          <a:lstStyle/>
          <a:p>
            <a:pPr indent="0" marL="0">
              <a:buNone/>
            </a:pPr>
            <a:r>
              <a:rPr lang="en-US" sz="1100" dirty="0">
                <a:solidFill>
                  <a:schemeClr val="tx1"/>
                </a:solidFill>
              </a:rPr>
              <a:t>can see</a:t>
            </a:r>
            <a:endParaRPr lang="en-US" sz="1100" dirty="0"/>
          </a:p>
        </p:txBody>
      </p:sp>
      <p:sp>
        <p:nvSpPr>
          <p:cNvPr id="39" name="Legend 297"/>
          <p:cNvSpPr/>
          <p:nvPr/>
        </p:nvSpPr>
        <p:spPr>
          <a:xfrm>
            <a:off x="5989320" y="1719072"/>
            <a:ext cx="137160" cy="137160"/>
          </a:xfrm>
          <a:prstGeom prst="rect">
            <a:avLst/>
          </a:prstGeom>
          <a:solidFill>
            <a:srgbClr val="D5D8EC"/>
          </a:solidFill>
          <a:ln/>
        </p:spPr>
      </p:sp>
      <p:sp>
        <p:nvSpPr>
          <p:cNvPr id="40" name="Text 298"/>
          <p:cNvSpPr txBox="1"/>
          <p:nvPr/>
        </p:nvSpPr>
        <p:spPr>
          <a:xfrm>
            <a:off x="6199632" y="1673352"/>
            <a:ext cx="731520" cy="228600"/>
          </a:xfrm>
          <a:prstGeom prst="rect">
            <a:avLst/>
          </a:prstGeom>
          <a:noFill/>
          <a:ln/>
        </p:spPr>
        <p:txBody>
          <a:bodyPr wrap="square" lIns="0" tIns="0" rIns="0" bIns="0" rtlCol="0" anchor="ctr"/>
          <a:lstStyle/>
          <a:p>
            <a:pPr indent="0" marL="0">
              <a:buNone/>
            </a:pPr>
            <a:r>
              <a:rPr lang="en-US" sz="1100" dirty="0">
                <a:solidFill>
                  <a:schemeClr val="tx1"/>
                </a:solidFill>
              </a:rPr>
              <a:t>hidden</a:t>
            </a:r>
            <a:endParaRPr lang="en-US" sz="1100" dirty="0"/>
          </a:p>
        </p:txBody>
      </p:sp>
      <p:sp>
        <p:nvSpPr>
          <p:cNvPr id="41" name="Text 299"/>
          <p:cNvSpPr txBox="1"/>
          <p:nvPr/>
        </p:nvSpPr>
        <p:spPr>
          <a:xfrm>
            <a:off x="6062472" y="2011680"/>
            <a:ext cx="512064" cy="228600"/>
          </a:xfrm>
          <a:prstGeom prst="rect">
            <a:avLst/>
          </a:prstGeom>
          <a:noFill/>
          <a:ln/>
        </p:spPr>
        <p:txBody>
          <a:bodyPr wrap="square" lIns="0" tIns="0" rIns="0" bIns="0" rtlCol="0" anchor="ctr"/>
          <a:lstStyle/>
          <a:p>
            <a:pPr algn="ctr" indent="0" marL="0">
              <a:buNone/>
            </a:pPr>
            <a:r>
              <a:rPr lang="en-US" sz="1100" dirty="0">
                <a:solidFill>
                  <a:schemeClr val="tx1"/>
                </a:solidFill>
              </a:rPr>
              <a:t>The</a:t>
            </a:r>
            <a:endParaRPr lang="en-US" sz="1100" dirty="0"/>
          </a:p>
        </p:txBody>
      </p:sp>
      <p:sp>
        <p:nvSpPr>
          <p:cNvPr id="42" name="Text 300"/>
          <p:cNvSpPr txBox="1"/>
          <p:nvPr/>
        </p:nvSpPr>
        <p:spPr>
          <a:xfrm>
            <a:off x="5513832" y="2286000"/>
            <a:ext cx="502920" cy="393192"/>
          </a:xfrm>
          <a:prstGeom prst="rect">
            <a:avLst/>
          </a:prstGeom>
          <a:noFill/>
          <a:ln/>
        </p:spPr>
        <p:txBody>
          <a:bodyPr wrap="square" lIns="0" tIns="0" rIns="0" bIns="0" rtlCol="0" anchor="ctr"/>
          <a:lstStyle/>
          <a:p>
            <a:pPr algn="r" indent="0" marL="0">
              <a:buNone/>
            </a:pPr>
            <a:r>
              <a:rPr lang="en-US" sz="1100" dirty="0">
                <a:solidFill>
                  <a:schemeClr val="tx1"/>
                </a:solidFill>
              </a:rPr>
              <a:t>The</a:t>
            </a:r>
            <a:endParaRPr lang="en-US" sz="1100" dirty="0"/>
          </a:p>
        </p:txBody>
      </p:sp>
      <p:sp>
        <p:nvSpPr>
          <p:cNvPr id="43" name="Cell 301"/>
          <p:cNvSpPr/>
          <p:nvPr/>
        </p:nvSpPr>
        <p:spPr>
          <a:xfrm>
            <a:off x="6108192" y="2286000"/>
            <a:ext cx="393192" cy="393192"/>
          </a:xfrm>
          <a:prstGeom prst="rect">
            <a:avLst/>
          </a:prstGeom>
          <a:solidFill>
            <a:schemeClr val="accent3"/>
          </a:solidFill>
          <a:ln/>
        </p:spPr>
      </p:sp>
      <p:sp>
        <p:nvSpPr>
          <p:cNvPr id="44" name="Cell 302"/>
          <p:cNvSpPr/>
          <p:nvPr/>
        </p:nvSpPr>
        <p:spPr>
          <a:xfrm>
            <a:off x="6528816" y="2286000"/>
            <a:ext cx="393192" cy="393192"/>
          </a:xfrm>
          <a:prstGeom prst="rect">
            <a:avLst/>
          </a:prstGeom>
          <a:solidFill>
            <a:srgbClr val="D5D8EC"/>
          </a:solidFill>
          <a:ln/>
        </p:spPr>
      </p:sp>
      <p:sp>
        <p:nvSpPr>
          <p:cNvPr id="45" name="Cell 303"/>
          <p:cNvSpPr/>
          <p:nvPr/>
        </p:nvSpPr>
        <p:spPr>
          <a:xfrm>
            <a:off x="6949440" y="2286000"/>
            <a:ext cx="393192" cy="393192"/>
          </a:xfrm>
          <a:prstGeom prst="rect">
            <a:avLst/>
          </a:prstGeom>
          <a:solidFill>
            <a:srgbClr val="D5D8EC"/>
          </a:solidFill>
          <a:ln/>
        </p:spPr>
      </p:sp>
      <p:sp>
        <p:nvSpPr>
          <p:cNvPr id="46" name="Cell 304"/>
          <p:cNvSpPr/>
          <p:nvPr/>
        </p:nvSpPr>
        <p:spPr>
          <a:xfrm>
            <a:off x="7370064" y="2286000"/>
            <a:ext cx="393192" cy="393192"/>
          </a:xfrm>
          <a:prstGeom prst="rect">
            <a:avLst/>
          </a:prstGeom>
          <a:solidFill>
            <a:srgbClr val="D5D8EC"/>
          </a:solidFill>
          <a:ln/>
        </p:spPr>
      </p:sp>
      <p:sp>
        <p:nvSpPr>
          <p:cNvPr id="47" name="Text 305"/>
          <p:cNvSpPr txBox="1"/>
          <p:nvPr/>
        </p:nvSpPr>
        <p:spPr>
          <a:xfrm>
            <a:off x="6483096" y="2011680"/>
            <a:ext cx="512064" cy="228600"/>
          </a:xfrm>
          <a:prstGeom prst="rect">
            <a:avLst/>
          </a:prstGeom>
          <a:noFill/>
          <a:ln/>
        </p:spPr>
        <p:txBody>
          <a:bodyPr wrap="square" lIns="0" tIns="0" rIns="0" bIns="0" rtlCol="0" anchor="ctr"/>
          <a:lstStyle/>
          <a:p>
            <a:pPr algn="ctr" indent="0" marL="0">
              <a:buNone/>
            </a:pPr>
            <a:r>
              <a:rPr lang="en-US" sz="1100" dirty="0">
                <a:solidFill>
                  <a:schemeClr val="tx1"/>
                </a:solidFill>
              </a:rPr>
              <a:t>cat</a:t>
            </a:r>
            <a:endParaRPr lang="en-US" sz="1100" dirty="0"/>
          </a:p>
        </p:txBody>
      </p:sp>
      <p:sp>
        <p:nvSpPr>
          <p:cNvPr id="48" name="Text 306"/>
          <p:cNvSpPr txBox="1"/>
          <p:nvPr/>
        </p:nvSpPr>
        <p:spPr>
          <a:xfrm>
            <a:off x="5513832" y="2706624"/>
            <a:ext cx="502920" cy="393192"/>
          </a:xfrm>
          <a:prstGeom prst="rect">
            <a:avLst/>
          </a:prstGeom>
          <a:noFill/>
          <a:ln/>
        </p:spPr>
        <p:txBody>
          <a:bodyPr wrap="square" lIns="0" tIns="0" rIns="0" bIns="0" rtlCol="0" anchor="ctr"/>
          <a:lstStyle/>
          <a:p>
            <a:pPr algn="r" indent="0" marL="0">
              <a:buNone/>
            </a:pPr>
            <a:r>
              <a:rPr lang="en-US" sz="1100" dirty="0">
                <a:solidFill>
                  <a:schemeClr val="tx1"/>
                </a:solidFill>
              </a:rPr>
              <a:t>cat</a:t>
            </a:r>
            <a:endParaRPr lang="en-US" sz="1100" dirty="0"/>
          </a:p>
        </p:txBody>
      </p:sp>
      <p:sp>
        <p:nvSpPr>
          <p:cNvPr id="49" name="Cell 307"/>
          <p:cNvSpPr/>
          <p:nvPr/>
        </p:nvSpPr>
        <p:spPr>
          <a:xfrm>
            <a:off x="6108192" y="2706624"/>
            <a:ext cx="393192" cy="393192"/>
          </a:xfrm>
          <a:prstGeom prst="rect">
            <a:avLst/>
          </a:prstGeom>
          <a:solidFill>
            <a:schemeClr val="accent3"/>
          </a:solidFill>
          <a:ln/>
        </p:spPr>
      </p:sp>
      <p:sp>
        <p:nvSpPr>
          <p:cNvPr id="50" name="Cell 308"/>
          <p:cNvSpPr/>
          <p:nvPr/>
        </p:nvSpPr>
        <p:spPr>
          <a:xfrm>
            <a:off x="6528816" y="2706624"/>
            <a:ext cx="393192" cy="393192"/>
          </a:xfrm>
          <a:prstGeom prst="rect">
            <a:avLst/>
          </a:prstGeom>
          <a:solidFill>
            <a:schemeClr val="accent3"/>
          </a:solidFill>
          <a:ln/>
        </p:spPr>
      </p:sp>
      <p:sp>
        <p:nvSpPr>
          <p:cNvPr id="51" name="Cell 309"/>
          <p:cNvSpPr/>
          <p:nvPr/>
        </p:nvSpPr>
        <p:spPr>
          <a:xfrm>
            <a:off x="6949440" y="2706624"/>
            <a:ext cx="393192" cy="393192"/>
          </a:xfrm>
          <a:prstGeom prst="rect">
            <a:avLst/>
          </a:prstGeom>
          <a:solidFill>
            <a:srgbClr val="D5D8EC"/>
          </a:solidFill>
          <a:ln/>
        </p:spPr>
      </p:sp>
      <p:sp>
        <p:nvSpPr>
          <p:cNvPr id="52" name="Cell 310"/>
          <p:cNvSpPr/>
          <p:nvPr/>
        </p:nvSpPr>
        <p:spPr>
          <a:xfrm>
            <a:off x="7370064" y="2706624"/>
            <a:ext cx="393192" cy="393192"/>
          </a:xfrm>
          <a:prstGeom prst="rect">
            <a:avLst/>
          </a:prstGeom>
          <a:solidFill>
            <a:srgbClr val="D5D8EC"/>
          </a:solidFill>
          <a:ln/>
        </p:spPr>
      </p:sp>
      <p:sp>
        <p:nvSpPr>
          <p:cNvPr id="53" name="Text 311"/>
          <p:cNvSpPr txBox="1"/>
          <p:nvPr/>
        </p:nvSpPr>
        <p:spPr>
          <a:xfrm>
            <a:off x="6903720" y="2011680"/>
            <a:ext cx="512064" cy="228600"/>
          </a:xfrm>
          <a:prstGeom prst="rect">
            <a:avLst/>
          </a:prstGeom>
          <a:noFill/>
          <a:ln/>
        </p:spPr>
        <p:txBody>
          <a:bodyPr wrap="square" lIns="0" tIns="0" rIns="0" bIns="0" rtlCol="0" anchor="ctr"/>
          <a:lstStyle/>
          <a:p>
            <a:pPr algn="ctr" indent="0" marL="0">
              <a:buNone/>
            </a:pPr>
            <a:r>
              <a:rPr lang="en-US" sz="1100" dirty="0">
                <a:solidFill>
                  <a:schemeClr val="tx1"/>
                </a:solidFill>
              </a:rPr>
              <a:t>sat</a:t>
            </a:r>
            <a:endParaRPr lang="en-US" sz="1100" dirty="0"/>
          </a:p>
        </p:txBody>
      </p:sp>
      <p:sp>
        <p:nvSpPr>
          <p:cNvPr id="54" name="Text 312"/>
          <p:cNvSpPr txBox="1"/>
          <p:nvPr/>
        </p:nvSpPr>
        <p:spPr>
          <a:xfrm>
            <a:off x="5513832" y="3127248"/>
            <a:ext cx="502920" cy="393192"/>
          </a:xfrm>
          <a:prstGeom prst="rect">
            <a:avLst/>
          </a:prstGeom>
          <a:noFill/>
          <a:ln/>
        </p:spPr>
        <p:txBody>
          <a:bodyPr wrap="square" lIns="0" tIns="0" rIns="0" bIns="0" rtlCol="0" anchor="ctr"/>
          <a:lstStyle/>
          <a:p>
            <a:pPr algn="r" indent="0" marL="0">
              <a:buNone/>
            </a:pPr>
            <a:r>
              <a:rPr lang="en-US" sz="1100" dirty="0">
                <a:solidFill>
                  <a:schemeClr val="tx1"/>
                </a:solidFill>
              </a:rPr>
              <a:t>sat</a:t>
            </a:r>
            <a:endParaRPr lang="en-US" sz="1100" dirty="0"/>
          </a:p>
        </p:txBody>
      </p:sp>
      <p:sp>
        <p:nvSpPr>
          <p:cNvPr id="55" name="Cell 313"/>
          <p:cNvSpPr/>
          <p:nvPr/>
        </p:nvSpPr>
        <p:spPr>
          <a:xfrm>
            <a:off x="6108192" y="3127248"/>
            <a:ext cx="393192" cy="393192"/>
          </a:xfrm>
          <a:prstGeom prst="rect">
            <a:avLst/>
          </a:prstGeom>
          <a:solidFill>
            <a:schemeClr val="accent3"/>
          </a:solidFill>
          <a:ln/>
        </p:spPr>
      </p:sp>
      <p:sp>
        <p:nvSpPr>
          <p:cNvPr id="56" name="Cell 314"/>
          <p:cNvSpPr/>
          <p:nvPr/>
        </p:nvSpPr>
        <p:spPr>
          <a:xfrm>
            <a:off x="6528816" y="3127248"/>
            <a:ext cx="393192" cy="393192"/>
          </a:xfrm>
          <a:prstGeom prst="rect">
            <a:avLst/>
          </a:prstGeom>
          <a:solidFill>
            <a:schemeClr val="accent3"/>
          </a:solidFill>
          <a:ln/>
        </p:spPr>
      </p:sp>
      <p:sp>
        <p:nvSpPr>
          <p:cNvPr id="57" name="Cell 315"/>
          <p:cNvSpPr/>
          <p:nvPr/>
        </p:nvSpPr>
        <p:spPr>
          <a:xfrm>
            <a:off x="6949440" y="3127248"/>
            <a:ext cx="393192" cy="393192"/>
          </a:xfrm>
          <a:prstGeom prst="rect">
            <a:avLst/>
          </a:prstGeom>
          <a:solidFill>
            <a:schemeClr val="accent3"/>
          </a:solidFill>
          <a:ln/>
        </p:spPr>
      </p:sp>
      <p:sp>
        <p:nvSpPr>
          <p:cNvPr id="58" name="Cell 316"/>
          <p:cNvSpPr/>
          <p:nvPr/>
        </p:nvSpPr>
        <p:spPr>
          <a:xfrm>
            <a:off x="7370064" y="3127248"/>
            <a:ext cx="393192" cy="393192"/>
          </a:xfrm>
          <a:prstGeom prst="rect">
            <a:avLst/>
          </a:prstGeom>
          <a:solidFill>
            <a:srgbClr val="D5D8EC"/>
          </a:solidFill>
          <a:ln/>
        </p:spPr>
      </p:sp>
      <p:sp>
        <p:nvSpPr>
          <p:cNvPr id="59" name="Text 317"/>
          <p:cNvSpPr txBox="1"/>
          <p:nvPr/>
        </p:nvSpPr>
        <p:spPr>
          <a:xfrm>
            <a:off x="7324344" y="2011680"/>
            <a:ext cx="512064" cy="228600"/>
          </a:xfrm>
          <a:prstGeom prst="rect">
            <a:avLst/>
          </a:prstGeom>
          <a:noFill/>
          <a:ln/>
        </p:spPr>
        <p:txBody>
          <a:bodyPr wrap="square" lIns="0" tIns="0" rIns="0" bIns="0" rtlCol="0" anchor="ctr"/>
          <a:lstStyle/>
          <a:p>
            <a:pPr algn="ctr" indent="0" marL="0">
              <a:buNone/>
            </a:pPr>
            <a:r>
              <a:rPr lang="en-US" sz="1100" dirty="0">
                <a:solidFill>
                  <a:schemeClr val="tx1"/>
                </a:solidFill>
              </a:rPr>
              <a:t>down</a:t>
            </a:r>
            <a:endParaRPr lang="en-US" sz="1100" dirty="0"/>
          </a:p>
        </p:txBody>
      </p:sp>
      <p:sp>
        <p:nvSpPr>
          <p:cNvPr id="60" name="Text 318"/>
          <p:cNvSpPr txBox="1"/>
          <p:nvPr/>
        </p:nvSpPr>
        <p:spPr>
          <a:xfrm>
            <a:off x="5513832" y="3547872"/>
            <a:ext cx="502920" cy="393192"/>
          </a:xfrm>
          <a:prstGeom prst="rect">
            <a:avLst/>
          </a:prstGeom>
          <a:noFill/>
          <a:ln/>
        </p:spPr>
        <p:txBody>
          <a:bodyPr wrap="square" lIns="0" tIns="0" rIns="0" bIns="0" rtlCol="0" anchor="ctr"/>
          <a:lstStyle/>
          <a:p>
            <a:pPr algn="r" indent="0" marL="0">
              <a:buNone/>
            </a:pPr>
            <a:r>
              <a:rPr lang="en-US" sz="1100" dirty="0">
                <a:solidFill>
                  <a:schemeClr val="tx1"/>
                </a:solidFill>
              </a:rPr>
              <a:t>down</a:t>
            </a:r>
            <a:endParaRPr lang="en-US" sz="1100" dirty="0"/>
          </a:p>
        </p:txBody>
      </p:sp>
      <p:sp>
        <p:nvSpPr>
          <p:cNvPr id="61" name="Cell 319"/>
          <p:cNvSpPr/>
          <p:nvPr/>
        </p:nvSpPr>
        <p:spPr>
          <a:xfrm>
            <a:off x="6108192" y="3547872"/>
            <a:ext cx="393192" cy="393192"/>
          </a:xfrm>
          <a:prstGeom prst="rect">
            <a:avLst/>
          </a:prstGeom>
          <a:solidFill>
            <a:schemeClr val="accent3"/>
          </a:solidFill>
          <a:ln/>
        </p:spPr>
      </p:sp>
      <p:sp>
        <p:nvSpPr>
          <p:cNvPr id="62" name="Cell 320"/>
          <p:cNvSpPr/>
          <p:nvPr/>
        </p:nvSpPr>
        <p:spPr>
          <a:xfrm>
            <a:off x="6528816" y="3547872"/>
            <a:ext cx="393192" cy="393192"/>
          </a:xfrm>
          <a:prstGeom prst="rect">
            <a:avLst/>
          </a:prstGeom>
          <a:solidFill>
            <a:schemeClr val="accent3"/>
          </a:solidFill>
          <a:ln/>
        </p:spPr>
      </p:sp>
      <p:sp>
        <p:nvSpPr>
          <p:cNvPr id="63" name="Cell 321"/>
          <p:cNvSpPr/>
          <p:nvPr/>
        </p:nvSpPr>
        <p:spPr>
          <a:xfrm>
            <a:off x="6949440" y="3547872"/>
            <a:ext cx="393192" cy="393192"/>
          </a:xfrm>
          <a:prstGeom prst="rect">
            <a:avLst/>
          </a:prstGeom>
          <a:solidFill>
            <a:schemeClr val="accent3"/>
          </a:solidFill>
          <a:ln/>
        </p:spPr>
      </p:sp>
      <p:sp>
        <p:nvSpPr>
          <p:cNvPr id="64" name="Cell 322"/>
          <p:cNvSpPr/>
          <p:nvPr/>
        </p:nvSpPr>
        <p:spPr>
          <a:xfrm>
            <a:off x="7370064" y="3547872"/>
            <a:ext cx="393192" cy="393192"/>
          </a:xfrm>
          <a:prstGeom prst="rect">
            <a:avLst/>
          </a:prstGeom>
          <a:solidFill>
            <a:schemeClr val="accent3"/>
          </a:solidFill>
          <a:ln/>
        </p:spPr>
      </p:sp>
      <p:sp>
        <p:nvSpPr>
          <p:cNvPr id="65" name="Text 323"/>
          <p:cNvSpPr txBox="1"/>
          <p:nvPr/>
        </p:nvSpPr>
        <p:spPr>
          <a:xfrm>
            <a:off x="4892040" y="4069080"/>
            <a:ext cx="3566160" cy="548640"/>
          </a:xfrm>
          <a:prstGeom prst="rect">
            <a:avLst/>
          </a:prstGeom>
          <a:noFill/>
          <a:ln/>
        </p:spPr>
        <p:txBody>
          <a:bodyPr wrap="square" lIns="0" tIns="0" rIns="0" bIns="0" rtlCol="0" anchor="t"/>
          <a:lstStyle/>
          <a:p>
            <a:pPr indent="0" marL="0">
              <a:buNone/>
            </a:pPr>
            <a:r>
              <a:rPr lang="en-US" sz="1400" dirty="0">
                <a:solidFill>
                  <a:schemeClr val="tx1"/>
                </a:solidFill>
              </a:rPr>
              <a:t>Each word sees only earlier words. No peeking at the future.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Three Transformer Families</a:t>
            </a:r>
            <a:endParaRPr lang="en-US" sz="3000" dirty="0"/>
          </a:p>
        </p:txBody>
      </p:sp>
      <p:sp>
        <p:nvSpPr>
          <p:cNvPr id="4" name="Card 324"/>
          <p:cNvSpPr/>
          <p:nvPr/>
        </p:nvSpPr>
        <p:spPr>
          <a:xfrm>
            <a:off x="457200" y="1143000"/>
            <a:ext cx="2651760" cy="3520440"/>
          </a:xfrm>
          <a:prstGeom prst="roundRect">
            <a:avLst>
              <a:gd name="adj" fmla="val 2759"/>
            </a:avLst>
          </a:prstGeom>
          <a:solidFill>
            <a:schemeClr val="bg2"/>
          </a:solidFill>
          <a:ln/>
        </p:spPr>
      </p:sp>
      <p:sp>
        <p:nvSpPr>
          <p:cNvPr id="5" name="Chip 325"/>
          <p:cNvSpPr txBox="1"/>
          <p:nvPr/>
        </p:nvSpPr>
        <p:spPr>
          <a:xfrm>
            <a:off x="640080" y="1325880"/>
            <a:ext cx="1828800" cy="365760"/>
          </a:xfrm>
          <a:prstGeom prst="roundRect">
            <a:avLst>
              <a:gd name="adj" fmla="val 20000"/>
            </a:avLst>
          </a:prstGeom>
          <a:solidFill>
            <a:schemeClr val="accent1"/>
          </a:solidFill>
          <a:ln/>
        </p:spPr>
        <p:txBody>
          <a:bodyPr wrap="square" lIns="381" tIns="381" rIns="381" bIns="381" rtlCol="0" anchor="ctr"/>
          <a:lstStyle/>
          <a:p>
            <a:pPr algn="ctr" indent="0" marL="0">
              <a:buNone/>
            </a:pPr>
            <a:r>
              <a:rPr lang="en-US" sz="1300" b="1" dirty="0">
                <a:solidFill>
                  <a:schemeClr val="bg1"/>
                </a:solidFill>
              </a:rPr>
              <a:t>Encoder-only</a:t>
            </a:r>
            <a:endParaRPr lang="en-US" sz="1300" dirty="0"/>
          </a:p>
        </p:txBody>
      </p:sp>
      <p:sp>
        <p:nvSpPr>
          <p:cNvPr id="6" name="Text 326"/>
          <p:cNvSpPr txBox="1"/>
          <p:nvPr/>
        </p:nvSpPr>
        <p:spPr>
          <a:xfrm>
            <a:off x="640080" y="1920240"/>
            <a:ext cx="2377440" cy="411480"/>
          </a:xfrm>
          <a:prstGeom prst="rect">
            <a:avLst/>
          </a:prstGeom>
          <a:noFill/>
          <a:ln/>
        </p:spPr>
        <p:txBody>
          <a:bodyPr wrap="square" lIns="0" tIns="0" rIns="0" bIns="0" rtlCol="0" anchor="ctr"/>
          <a:lstStyle/>
          <a:p>
            <a:pPr indent="0" marL="0">
              <a:buNone/>
            </a:pPr>
            <a:r>
              <a:rPr lang="en-US" sz="1800" b="1" dirty="0">
                <a:solidFill>
                  <a:schemeClr val="tx2"/>
                </a:solidFill>
              </a:rPr>
              <a:t>BERT</a:t>
            </a:r>
            <a:endParaRPr lang="en-US" sz="1800" dirty="0"/>
          </a:p>
        </p:txBody>
      </p:sp>
      <p:sp>
        <p:nvSpPr>
          <p:cNvPr id="7" name="Text 327"/>
          <p:cNvSpPr txBox="1"/>
          <p:nvPr/>
        </p:nvSpPr>
        <p:spPr>
          <a:xfrm>
            <a:off x="640080" y="2423160"/>
            <a:ext cx="2377440" cy="320040"/>
          </a:xfrm>
          <a:prstGeom prst="rect">
            <a:avLst/>
          </a:prstGeom>
          <a:noFill/>
          <a:ln/>
        </p:spPr>
        <p:txBody>
          <a:bodyPr wrap="square" lIns="0" tIns="0" rIns="0" bIns="0" rtlCol="0" anchor="t"/>
          <a:lstStyle/>
          <a:p>
            <a:pPr indent="0" marL="0">
              <a:buNone/>
            </a:pPr>
            <a:r>
              <a:rPr lang="en-US" sz="1500" i="1" dirty="0">
                <a:solidFill>
                  <a:schemeClr val="tx1"/>
                </a:solidFill>
              </a:rPr>
              <a:t>Understands text</a:t>
            </a:r>
            <a:endParaRPr lang="en-US" sz="1500" dirty="0"/>
          </a:p>
        </p:txBody>
      </p:sp>
      <p:sp>
        <p:nvSpPr>
          <p:cNvPr id="8" name="Text 328"/>
          <p:cNvSpPr txBox="1"/>
          <p:nvPr/>
        </p:nvSpPr>
        <p:spPr>
          <a:xfrm>
            <a:off x="640080" y="3017520"/>
            <a:ext cx="2377440" cy="274320"/>
          </a:xfrm>
          <a:prstGeom prst="rect">
            <a:avLst/>
          </a:prstGeom>
          <a:noFill/>
          <a:ln/>
        </p:spPr>
        <p:txBody>
          <a:bodyPr wrap="square" lIns="0" tIns="0" rIns="0" bIns="0" rtlCol="0" anchor="t"/>
          <a:lstStyle/>
          <a:p>
            <a:pPr indent="0" marL="0">
              <a:buNone/>
            </a:pPr>
            <a:r>
              <a:rPr lang="en-US" sz="1400" b="1" dirty="0">
                <a:solidFill>
                  <a:schemeClr val="accent1"/>
                </a:solidFill>
              </a:rPr>
              <a:t>Good for</a:t>
            </a:r>
            <a:endParaRPr lang="en-US" sz="1400" dirty="0"/>
          </a:p>
        </p:txBody>
      </p:sp>
      <p:sp>
        <p:nvSpPr>
          <p:cNvPr id="9" name="Text 329"/>
          <p:cNvSpPr txBox="1"/>
          <p:nvPr/>
        </p:nvSpPr>
        <p:spPr>
          <a:xfrm>
            <a:off x="640080" y="3337560"/>
            <a:ext cx="2331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Search ranking</a:t>
            </a:r>
            <a:endParaRPr lang="en-US" sz="1400" dirty="0"/>
          </a:p>
          <a:p>
            <a:pPr marL="342900" indent="-342900">
              <a:spcAft>
                <a:spcPts val="600"/>
              </a:spcAft>
              <a:buSzPct val="100000"/>
              <a:buChar char="•"/>
            </a:pPr>
            <a:r>
              <a:rPr lang="en-US" sz="1400" dirty="0">
                <a:solidFill>
                  <a:schemeClr val="tx1"/>
                </a:solidFill>
              </a:rPr>
              <a:t>Sentiment and spam detection</a:t>
            </a:r>
            <a:endParaRPr lang="en-US" sz="1400" dirty="0"/>
          </a:p>
        </p:txBody>
      </p:sp>
      <p:sp>
        <p:nvSpPr>
          <p:cNvPr id="10" name="Card 330"/>
          <p:cNvSpPr/>
          <p:nvPr/>
        </p:nvSpPr>
        <p:spPr>
          <a:xfrm>
            <a:off x="3246120" y="1143000"/>
            <a:ext cx="2651760" cy="3520440"/>
          </a:xfrm>
          <a:prstGeom prst="roundRect">
            <a:avLst>
              <a:gd name="adj" fmla="val 2759"/>
            </a:avLst>
          </a:prstGeom>
          <a:solidFill>
            <a:schemeClr val="bg2"/>
          </a:solidFill>
          <a:ln/>
        </p:spPr>
      </p:sp>
      <p:sp>
        <p:nvSpPr>
          <p:cNvPr id="11" name="Chip 331"/>
          <p:cNvSpPr txBox="1"/>
          <p:nvPr/>
        </p:nvSpPr>
        <p:spPr>
          <a:xfrm>
            <a:off x="3429000" y="1325880"/>
            <a:ext cx="1828800" cy="365760"/>
          </a:xfrm>
          <a:prstGeom prst="roundRect">
            <a:avLst>
              <a:gd name="adj" fmla="val 20000"/>
            </a:avLst>
          </a:prstGeom>
          <a:solidFill>
            <a:schemeClr val="accent3"/>
          </a:solidFill>
          <a:ln/>
        </p:spPr>
        <p:txBody>
          <a:bodyPr wrap="square" lIns="381" tIns="381" rIns="381" bIns="381" rtlCol="0" anchor="ctr"/>
          <a:lstStyle/>
          <a:p>
            <a:pPr algn="ctr" indent="0" marL="0">
              <a:buNone/>
            </a:pPr>
            <a:r>
              <a:rPr lang="en-US" sz="1300" b="1" dirty="0">
                <a:solidFill>
                  <a:schemeClr val="bg1"/>
                </a:solidFill>
              </a:rPr>
              <a:t>Decoder-only</a:t>
            </a:r>
            <a:endParaRPr lang="en-US" sz="1300" dirty="0"/>
          </a:p>
        </p:txBody>
      </p:sp>
      <p:sp>
        <p:nvSpPr>
          <p:cNvPr id="12" name="Text 332"/>
          <p:cNvSpPr txBox="1"/>
          <p:nvPr/>
        </p:nvSpPr>
        <p:spPr>
          <a:xfrm>
            <a:off x="3429000" y="1920240"/>
            <a:ext cx="2377440" cy="411480"/>
          </a:xfrm>
          <a:prstGeom prst="rect">
            <a:avLst/>
          </a:prstGeom>
          <a:noFill/>
          <a:ln/>
        </p:spPr>
        <p:txBody>
          <a:bodyPr wrap="square" lIns="0" tIns="0" rIns="0" bIns="0" rtlCol="0" anchor="ctr"/>
          <a:lstStyle/>
          <a:p>
            <a:pPr indent="0" marL="0">
              <a:buNone/>
            </a:pPr>
            <a:r>
              <a:rPr lang="en-US" sz="1800" b="1" dirty="0">
                <a:solidFill>
                  <a:schemeClr val="tx2"/>
                </a:solidFill>
              </a:rPr>
              <a:t>GPT · Claude · Llama</a:t>
            </a:r>
            <a:endParaRPr lang="en-US" sz="1800" dirty="0"/>
          </a:p>
        </p:txBody>
      </p:sp>
      <p:sp>
        <p:nvSpPr>
          <p:cNvPr id="13" name="Text 333"/>
          <p:cNvSpPr txBox="1"/>
          <p:nvPr/>
        </p:nvSpPr>
        <p:spPr>
          <a:xfrm>
            <a:off x="3429000" y="2423160"/>
            <a:ext cx="2377440" cy="320040"/>
          </a:xfrm>
          <a:prstGeom prst="rect">
            <a:avLst/>
          </a:prstGeom>
          <a:noFill/>
          <a:ln/>
        </p:spPr>
        <p:txBody>
          <a:bodyPr wrap="square" lIns="0" tIns="0" rIns="0" bIns="0" rtlCol="0" anchor="t"/>
          <a:lstStyle/>
          <a:p>
            <a:pPr indent="0" marL="0">
              <a:buNone/>
            </a:pPr>
            <a:r>
              <a:rPr lang="en-US" sz="1500" i="1" dirty="0">
                <a:solidFill>
                  <a:schemeClr val="tx1"/>
                </a:solidFill>
              </a:rPr>
              <a:t>Generates text</a:t>
            </a:r>
            <a:endParaRPr lang="en-US" sz="1500" dirty="0"/>
          </a:p>
        </p:txBody>
      </p:sp>
      <p:sp>
        <p:nvSpPr>
          <p:cNvPr id="14" name="Text 334"/>
          <p:cNvSpPr txBox="1"/>
          <p:nvPr/>
        </p:nvSpPr>
        <p:spPr>
          <a:xfrm>
            <a:off x="3429000" y="3017520"/>
            <a:ext cx="2377440" cy="274320"/>
          </a:xfrm>
          <a:prstGeom prst="rect">
            <a:avLst/>
          </a:prstGeom>
          <a:noFill/>
          <a:ln/>
        </p:spPr>
        <p:txBody>
          <a:bodyPr wrap="square" lIns="0" tIns="0" rIns="0" bIns="0" rtlCol="0" anchor="t"/>
          <a:lstStyle/>
          <a:p>
            <a:pPr indent="0" marL="0">
              <a:buNone/>
            </a:pPr>
            <a:r>
              <a:rPr lang="en-US" sz="1400" b="1" dirty="0">
                <a:solidFill>
                  <a:schemeClr val="accent3"/>
                </a:solidFill>
              </a:rPr>
              <a:t>Good for</a:t>
            </a:r>
            <a:endParaRPr lang="en-US" sz="1400" dirty="0"/>
          </a:p>
        </p:txBody>
      </p:sp>
      <p:sp>
        <p:nvSpPr>
          <p:cNvPr id="15" name="Text 335"/>
          <p:cNvSpPr txBox="1"/>
          <p:nvPr/>
        </p:nvSpPr>
        <p:spPr>
          <a:xfrm>
            <a:off x="3429000" y="3337560"/>
            <a:ext cx="2331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Chatbots and assistants</a:t>
            </a:r>
            <a:endParaRPr lang="en-US" sz="1400" dirty="0"/>
          </a:p>
          <a:p>
            <a:pPr marL="342900" indent="-342900">
              <a:spcAft>
                <a:spcPts val="600"/>
              </a:spcAft>
              <a:buSzPct val="100000"/>
              <a:buChar char="•"/>
            </a:pPr>
            <a:r>
              <a:rPr lang="en-US" sz="1400" dirty="0">
                <a:solidFill>
                  <a:schemeClr val="tx1"/>
                </a:solidFill>
              </a:rPr>
              <a:t>Writing and coding help</a:t>
            </a:r>
            <a:endParaRPr lang="en-US" sz="1400" dirty="0"/>
          </a:p>
        </p:txBody>
      </p:sp>
      <p:sp>
        <p:nvSpPr>
          <p:cNvPr id="16" name="Card 336"/>
          <p:cNvSpPr/>
          <p:nvPr/>
        </p:nvSpPr>
        <p:spPr>
          <a:xfrm>
            <a:off x="6035040" y="1143000"/>
            <a:ext cx="2651760" cy="3520440"/>
          </a:xfrm>
          <a:prstGeom prst="roundRect">
            <a:avLst>
              <a:gd name="adj" fmla="val 2759"/>
            </a:avLst>
          </a:prstGeom>
          <a:solidFill>
            <a:schemeClr val="bg2"/>
          </a:solidFill>
          <a:ln/>
        </p:spPr>
      </p:sp>
      <p:sp>
        <p:nvSpPr>
          <p:cNvPr id="17" name="Chip 337"/>
          <p:cNvSpPr txBox="1"/>
          <p:nvPr/>
        </p:nvSpPr>
        <p:spPr>
          <a:xfrm>
            <a:off x="6217920" y="1325880"/>
            <a:ext cx="1828800" cy="365760"/>
          </a:xfrm>
          <a:prstGeom prst="roundRect">
            <a:avLst>
              <a:gd name="adj" fmla="val 20000"/>
            </a:avLst>
          </a:prstGeom>
          <a:solidFill>
            <a:schemeClr val="accent5"/>
          </a:solidFill>
          <a:ln/>
        </p:spPr>
        <p:txBody>
          <a:bodyPr wrap="square" lIns="381" tIns="381" rIns="381" bIns="381" rtlCol="0" anchor="ctr"/>
          <a:lstStyle/>
          <a:p>
            <a:pPr algn="ctr" indent="0" marL="0">
              <a:buNone/>
            </a:pPr>
            <a:r>
              <a:rPr lang="en-US" sz="1300" b="1" dirty="0">
                <a:solidFill>
                  <a:schemeClr val="bg1"/>
                </a:solidFill>
              </a:rPr>
              <a:t>Encoder + Decoder</a:t>
            </a:r>
            <a:endParaRPr lang="en-US" sz="1300" dirty="0"/>
          </a:p>
        </p:txBody>
      </p:sp>
      <p:sp>
        <p:nvSpPr>
          <p:cNvPr id="18" name="Text 338"/>
          <p:cNvSpPr txBox="1"/>
          <p:nvPr/>
        </p:nvSpPr>
        <p:spPr>
          <a:xfrm>
            <a:off x="6217920" y="1920240"/>
            <a:ext cx="2377440" cy="411480"/>
          </a:xfrm>
          <a:prstGeom prst="rect">
            <a:avLst/>
          </a:prstGeom>
          <a:noFill/>
          <a:ln/>
        </p:spPr>
        <p:txBody>
          <a:bodyPr wrap="square" lIns="0" tIns="0" rIns="0" bIns="0" rtlCol="0" anchor="ctr"/>
          <a:lstStyle/>
          <a:p>
            <a:pPr indent="0" marL="0">
              <a:buNone/>
            </a:pPr>
            <a:r>
              <a:rPr lang="en-US" sz="1800" b="1" dirty="0">
                <a:solidFill>
                  <a:schemeClr val="tx2"/>
                </a:solidFill>
              </a:rPr>
              <a:t>T5 · BART</a:t>
            </a:r>
            <a:endParaRPr lang="en-US" sz="1800" dirty="0"/>
          </a:p>
        </p:txBody>
      </p:sp>
      <p:sp>
        <p:nvSpPr>
          <p:cNvPr id="19" name="Text 339"/>
          <p:cNvSpPr txBox="1"/>
          <p:nvPr/>
        </p:nvSpPr>
        <p:spPr>
          <a:xfrm>
            <a:off x="6217920" y="2423160"/>
            <a:ext cx="2377440" cy="320040"/>
          </a:xfrm>
          <a:prstGeom prst="rect">
            <a:avLst/>
          </a:prstGeom>
          <a:noFill/>
          <a:ln/>
        </p:spPr>
        <p:txBody>
          <a:bodyPr wrap="square" lIns="0" tIns="0" rIns="0" bIns="0" rtlCol="0" anchor="t"/>
          <a:lstStyle/>
          <a:p>
            <a:pPr indent="0" marL="0">
              <a:buNone/>
            </a:pPr>
            <a:r>
              <a:rPr lang="en-US" sz="1500" i="1" dirty="0">
                <a:solidFill>
                  <a:schemeClr val="tx1"/>
                </a:solidFill>
              </a:rPr>
              <a:t>Reads, then writes</a:t>
            </a:r>
            <a:endParaRPr lang="en-US" sz="1500" dirty="0"/>
          </a:p>
        </p:txBody>
      </p:sp>
      <p:sp>
        <p:nvSpPr>
          <p:cNvPr id="20" name="Text 340"/>
          <p:cNvSpPr txBox="1"/>
          <p:nvPr/>
        </p:nvSpPr>
        <p:spPr>
          <a:xfrm>
            <a:off x="6217920" y="3017520"/>
            <a:ext cx="2377440" cy="274320"/>
          </a:xfrm>
          <a:prstGeom prst="rect">
            <a:avLst/>
          </a:prstGeom>
          <a:noFill/>
          <a:ln/>
        </p:spPr>
        <p:txBody>
          <a:bodyPr wrap="square" lIns="0" tIns="0" rIns="0" bIns="0" rtlCol="0" anchor="t"/>
          <a:lstStyle/>
          <a:p>
            <a:pPr indent="0" marL="0">
              <a:buNone/>
            </a:pPr>
            <a:r>
              <a:rPr lang="en-US" sz="1400" b="1" dirty="0">
                <a:solidFill>
                  <a:schemeClr val="accent5"/>
                </a:solidFill>
              </a:rPr>
              <a:t>Good for</a:t>
            </a:r>
            <a:endParaRPr lang="en-US" sz="1400" dirty="0"/>
          </a:p>
        </p:txBody>
      </p:sp>
      <p:sp>
        <p:nvSpPr>
          <p:cNvPr id="21" name="Text 341"/>
          <p:cNvSpPr txBox="1"/>
          <p:nvPr/>
        </p:nvSpPr>
        <p:spPr>
          <a:xfrm>
            <a:off x="6217920" y="3337560"/>
            <a:ext cx="2331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Translation</a:t>
            </a:r>
            <a:endParaRPr lang="en-US" sz="1400" dirty="0"/>
          </a:p>
          <a:p>
            <a:pPr marL="342900" indent="-342900">
              <a:spcAft>
                <a:spcPts val="600"/>
              </a:spcAft>
              <a:buSzPct val="100000"/>
              <a:buChar char="•"/>
            </a:pPr>
            <a:r>
              <a:rPr lang="en-US" sz="1400" dirty="0">
                <a:solidFill>
                  <a:schemeClr val="tx1"/>
                </a:solidFill>
              </a:rPr>
              <a:t>Summarisation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How an LLM Writes Text</a:t>
            </a:r>
            <a:endParaRPr lang="en-US" sz="3000" dirty="0"/>
          </a:p>
        </p:txBody>
      </p:sp>
      <p:sp>
        <p:nvSpPr>
          <p:cNvPr id="4" name="Text 342"/>
          <p:cNvSpPr txBox="1"/>
          <p:nvPr/>
        </p:nvSpPr>
        <p:spPr>
          <a:xfrm>
            <a:off x="457200" y="1143000"/>
            <a:ext cx="4206240" cy="365760"/>
          </a:xfrm>
          <a:prstGeom prst="rect">
            <a:avLst/>
          </a:prstGeom>
          <a:noFill/>
          <a:ln/>
        </p:spPr>
        <p:txBody>
          <a:bodyPr wrap="square" lIns="0" tIns="0" rIns="0" bIns="0" rtlCol="0" anchor="t"/>
          <a:lstStyle/>
          <a:p>
            <a:pPr indent="0" marL="0">
              <a:buNone/>
            </a:pPr>
            <a:r>
              <a:rPr lang="en-US" sz="1700" dirty="0">
                <a:solidFill>
                  <a:schemeClr val="tx1"/>
                </a:solidFill>
              </a:rPr>
              <a:t>Prompt: </a:t>
            </a:r>
            <a:pPr indent="0" marL="0">
              <a:buNone/>
            </a:pPr>
            <a:r>
              <a:rPr lang="en-US" sz="1700" b="1" dirty="0">
                <a:solidFill>
                  <a:schemeClr val="accent1"/>
                </a:solidFill>
              </a:rPr>
              <a:t>“The sky is ___”</a:t>
            </a:r>
            <a:endParaRPr lang="en-US" sz="1700" dirty="0"/>
          </a:p>
        </p:txBody>
      </p:sp>
      <p:graphicFrame>
        <p:nvGraphicFramePr>
          <p:cNvPr id="5" name="Chart 0" descr=""/>
          <p:cNvGraphicFramePr/>
          <p:nvPr/>
        </p:nvGraphicFramePr>
        <p:xfrm>
          <a:off x="457200" y="1554480"/>
          <a:ext cx="4206240" cy="2514600"/>
        </p:xfrm>
        <a:graphic xmlns:a="http://schemas.openxmlformats.org/drawingml/2006/main">
          <a:graphicData uri="http://schemas.openxmlformats.org/drawingml/2006/chart">
            <c:chart xmlns:c="http://schemas.openxmlformats.org/drawingml/2006/chart" r:id="rId1"/>
          </a:graphicData>
        </a:graphic>
      </p:graphicFrame>
      <p:sp>
        <p:nvSpPr>
          <p:cNvPr id="6" name="Text 343"/>
          <p:cNvSpPr txBox="1"/>
          <p:nvPr/>
        </p:nvSpPr>
        <p:spPr>
          <a:xfrm>
            <a:off x="457200" y="4160520"/>
            <a:ext cx="4206240" cy="274320"/>
          </a:xfrm>
          <a:prstGeom prst="rect">
            <a:avLst/>
          </a:prstGeom>
          <a:noFill/>
          <a:ln/>
        </p:spPr>
        <p:txBody>
          <a:bodyPr wrap="square" lIns="0" tIns="0" rIns="0" bIns="0" rtlCol="0" anchor="t"/>
          <a:lstStyle/>
          <a:p>
            <a:pPr indent="0" marL="0">
              <a:buNone/>
            </a:pPr>
            <a:r>
              <a:rPr lang="en-US" sz="1100" i="1" dirty="0">
                <a:solidFill>
                  <a:schemeClr val="tx1"/>
                </a:solidFill>
              </a:rPr>
              <a:t>Illustrative probabilities for the next token</a:t>
            </a:r>
            <a:endParaRPr lang="en-US" sz="1100" dirty="0"/>
          </a:p>
        </p:txBody>
      </p:sp>
      <p:sp>
        <p:nvSpPr>
          <p:cNvPr id="7" name="Badge 344"/>
          <p:cNvSpPr txBox="1"/>
          <p:nvPr/>
        </p:nvSpPr>
        <p:spPr>
          <a:xfrm>
            <a:off x="5029200" y="118872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345"/>
          <p:cNvSpPr txBox="1"/>
          <p:nvPr/>
        </p:nvSpPr>
        <p:spPr>
          <a:xfrm>
            <a:off x="5669280" y="1170432"/>
            <a:ext cx="3017520" cy="320040"/>
          </a:xfrm>
          <a:prstGeom prst="rect">
            <a:avLst/>
          </a:prstGeom>
          <a:noFill/>
          <a:ln/>
        </p:spPr>
        <p:txBody>
          <a:bodyPr wrap="square" lIns="0" tIns="0" rIns="0" bIns="0" rtlCol="0" anchor="t"/>
          <a:lstStyle/>
          <a:p>
            <a:pPr indent="0" marL="0">
              <a:buNone/>
            </a:pPr>
            <a:r>
              <a:rPr lang="en-US" sz="1800" b="1" dirty="0">
                <a:solidFill>
                  <a:schemeClr val="tx2"/>
                </a:solidFill>
              </a:rPr>
              <a:t>Predict</a:t>
            </a:r>
            <a:endParaRPr lang="en-US" sz="1800" dirty="0"/>
          </a:p>
        </p:txBody>
      </p:sp>
      <p:sp>
        <p:nvSpPr>
          <p:cNvPr id="9" name="Text 346"/>
          <p:cNvSpPr txBox="1"/>
          <p:nvPr/>
        </p:nvSpPr>
        <p:spPr>
          <a:xfrm>
            <a:off x="5669280" y="1517904"/>
            <a:ext cx="3017520" cy="640080"/>
          </a:xfrm>
          <a:prstGeom prst="rect">
            <a:avLst/>
          </a:prstGeom>
          <a:noFill/>
          <a:ln/>
        </p:spPr>
        <p:txBody>
          <a:bodyPr wrap="square" lIns="0" tIns="0" rIns="0" bIns="0" rtlCol="0" anchor="t"/>
          <a:lstStyle/>
          <a:p>
            <a:pPr indent="0" marL="0">
              <a:buNone/>
            </a:pPr>
            <a:r>
              <a:rPr lang="en-US" sz="1400" dirty="0">
                <a:solidFill>
                  <a:schemeClr val="tx1"/>
                </a:solidFill>
              </a:rPr>
              <a:t>Score every possible next word as a probability.</a:t>
            </a:r>
            <a:endParaRPr lang="en-US" sz="1400" dirty="0"/>
          </a:p>
        </p:txBody>
      </p:sp>
      <p:sp>
        <p:nvSpPr>
          <p:cNvPr id="10" name="Badge 347"/>
          <p:cNvSpPr txBox="1"/>
          <p:nvPr/>
        </p:nvSpPr>
        <p:spPr>
          <a:xfrm>
            <a:off x="5029200" y="2286000"/>
            <a:ext cx="457200" cy="457200"/>
          </a:xfrm>
          <a:prstGeom prst="ellipse">
            <a:avLst/>
          </a:prstGeom>
          <a:solidFill>
            <a:schemeClr val="accent5"/>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348"/>
          <p:cNvSpPr txBox="1"/>
          <p:nvPr/>
        </p:nvSpPr>
        <p:spPr>
          <a:xfrm>
            <a:off x="5669280" y="2267712"/>
            <a:ext cx="3017520" cy="320040"/>
          </a:xfrm>
          <a:prstGeom prst="rect">
            <a:avLst/>
          </a:prstGeom>
          <a:noFill/>
          <a:ln/>
        </p:spPr>
        <p:txBody>
          <a:bodyPr wrap="square" lIns="0" tIns="0" rIns="0" bIns="0" rtlCol="0" anchor="t"/>
          <a:lstStyle/>
          <a:p>
            <a:pPr indent="0" marL="0">
              <a:buNone/>
            </a:pPr>
            <a:r>
              <a:rPr lang="en-US" sz="1800" b="1" dirty="0">
                <a:solidFill>
                  <a:schemeClr val="tx2"/>
                </a:solidFill>
              </a:rPr>
              <a:t>Pick</a:t>
            </a:r>
            <a:endParaRPr lang="en-US" sz="1800" dirty="0"/>
          </a:p>
        </p:txBody>
      </p:sp>
      <p:sp>
        <p:nvSpPr>
          <p:cNvPr id="12" name="Text 349"/>
          <p:cNvSpPr txBox="1"/>
          <p:nvPr/>
        </p:nvSpPr>
        <p:spPr>
          <a:xfrm>
            <a:off x="5669280" y="2615184"/>
            <a:ext cx="3017520" cy="640080"/>
          </a:xfrm>
          <a:prstGeom prst="rect">
            <a:avLst/>
          </a:prstGeom>
          <a:noFill/>
          <a:ln/>
        </p:spPr>
        <p:txBody>
          <a:bodyPr wrap="square" lIns="0" tIns="0" rIns="0" bIns="0" rtlCol="0" anchor="t"/>
          <a:lstStyle/>
          <a:p>
            <a:pPr indent="0" marL="0">
              <a:buNone/>
            </a:pPr>
            <a:r>
              <a:rPr lang="en-US" sz="1400" dirty="0">
                <a:solidFill>
                  <a:schemeClr val="tx1"/>
                </a:solidFill>
              </a:rPr>
              <a:t>Choose one, usually a likely one. Temperature adds variety.</a:t>
            </a:r>
            <a:endParaRPr lang="en-US" sz="1400" dirty="0"/>
          </a:p>
        </p:txBody>
      </p:sp>
      <p:sp>
        <p:nvSpPr>
          <p:cNvPr id="13" name="Badge 350"/>
          <p:cNvSpPr txBox="1"/>
          <p:nvPr/>
        </p:nvSpPr>
        <p:spPr>
          <a:xfrm>
            <a:off x="5029200" y="3383280"/>
            <a:ext cx="457200" cy="45720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351"/>
          <p:cNvSpPr txBox="1"/>
          <p:nvPr/>
        </p:nvSpPr>
        <p:spPr>
          <a:xfrm>
            <a:off x="5669280" y="3364992"/>
            <a:ext cx="3017520" cy="320040"/>
          </a:xfrm>
          <a:prstGeom prst="rect">
            <a:avLst/>
          </a:prstGeom>
          <a:noFill/>
          <a:ln/>
        </p:spPr>
        <p:txBody>
          <a:bodyPr wrap="square" lIns="0" tIns="0" rIns="0" bIns="0" rtlCol="0" anchor="t"/>
          <a:lstStyle/>
          <a:p>
            <a:pPr indent="0" marL="0">
              <a:buNone/>
            </a:pPr>
            <a:r>
              <a:rPr lang="en-US" sz="1800" b="1" dirty="0">
                <a:solidFill>
                  <a:schemeClr val="tx2"/>
                </a:solidFill>
              </a:rPr>
              <a:t>Repeat</a:t>
            </a:r>
            <a:endParaRPr lang="en-US" sz="1800" dirty="0"/>
          </a:p>
        </p:txBody>
      </p:sp>
      <p:sp>
        <p:nvSpPr>
          <p:cNvPr id="15" name="Text 352"/>
          <p:cNvSpPr txBox="1"/>
          <p:nvPr/>
        </p:nvSpPr>
        <p:spPr>
          <a:xfrm>
            <a:off x="5669280" y="3712464"/>
            <a:ext cx="3017520" cy="640080"/>
          </a:xfrm>
          <a:prstGeom prst="rect">
            <a:avLst/>
          </a:prstGeom>
          <a:noFill/>
          <a:ln/>
        </p:spPr>
        <p:txBody>
          <a:bodyPr wrap="square" lIns="0" tIns="0" rIns="0" bIns="0" rtlCol="0" anchor="t"/>
          <a:lstStyle/>
          <a:p>
            <a:pPr indent="0" marL="0">
              <a:buNone/>
            </a:pPr>
            <a:r>
              <a:rPr lang="en-US" sz="1400" dirty="0">
                <a:solidFill>
                  <a:schemeClr val="tx1"/>
                </a:solidFill>
              </a:rPr>
              <a:t>Add the word to the text and predict again until done.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How an LLM Is Trained</a:t>
            </a:r>
            <a:endParaRPr lang="en-US" sz="3000" dirty="0"/>
          </a:p>
        </p:txBody>
      </p:sp>
      <p:sp>
        <p:nvSpPr>
          <p:cNvPr id="4" name="Card 353"/>
          <p:cNvSpPr/>
          <p:nvPr/>
        </p:nvSpPr>
        <p:spPr>
          <a:xfrm>
            <a:off x="457200" y="1188720"/>
            <a:ext cx="2468880" cy="2377440"/>
          </a:xfrm>
          <a:prstGeom prst="roundRect">
            <a:avLst>
              <a:gd name="adj" fmla="val 3077"/>
            </a:avLst>
          </a:prstGeom>
          <a:solidFill>
            <a:schemeClr val="bg2"/>
          </a:solidFill>
          <a:ln/>
        </p:spPr>
      </p:sp>
      <p:sp>
        <p:nvSpPr>
          <p:cNvPr id="5" name="Badge 354"/>
          <p:cNvSpPr txBox="1"/>
          <p:nvPr/>
        </p:nvSpPr>
        <p:spPr>
          <a:xfrm>
            <a:off x="640080" y="1371600"/>
            <a:ext cx="502920" cy="50292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55"/>
          <p:cNvSpPr txBox="1"/>
          <p:nvPr/>
        </p:nvSpPr>
        <p:spPr>
          <a:xfrm>
            <a:off x="640080" y="2011680"/>
            <a:ext cx="2194560" cy="365760"/>
          </a:xfrm>
          <a:prstGeom prst="rect">
            <a:avLst/>
          </a:prstGeom>
          <a:noFill/>
          <a:ln/>
        </p:spPr>
        <p:txBody>
          <a:bodyPr wrap="square" lIns="0" tIns="0" rIns="0" bIns="0" rtlCol="0" anchor="t"/>
          <a:lstStyle/>
          <a:p>
            <a:pPr indent="0" marL="0">
              <a:buNone/>
            </a:pPr>
            <a:r>
              <a:rPr lang="en-US" sz="1800" b="1" dirty="0">
                <a:solidFill>
                  <a:schemeClr val="tx2"/>
                </a:solidFill>
              </a:rPr>
              <a:t>Pre-training</a:t>
            </a:r>
            <a:endParaRPr lang="en-US" sz="1800" dirty="0"/>
          </a:p>
        </p:txBody>
      </p:sp>
      <p:sp>
        <p:nvSpPr>
          <p:cNvPr id="7" name="Text 356"/>
          <p:cNvSpPr txBox="1"/>
          <p:nvPr/>
        </p:nvSpPr>
        <p:spPr>
          <a:xfrm>
            <a:off x="640080" y="2423160"/>
            <a:ext cx="2103120" cy="1097280"/>
          </a:xfrm>
          <a:prstGeom prst="rect">
            <a:avLst/>
          </a:prstGeom>
          <a:noFill/>
          <a:ln/>
        </p:spPr>
        <p:txBody>
          <a:bodyPr wrap="square" lIns="0" tIns="0" rIns="0" bIns="0" rtlCol="0" anchor="t"/>
          <a:lstStyle/>
          <a:p>
            <a:pPr indent="0" marL="0">
              <a:buNone/>
            </a:pPr>
            <a:r>
              <a:rPr lang="en-US" sz="1400" dirty="0">
                <a:solidFill>
                  <a:schemeClr val="tx1"/>
                </a:solidFill>
              </a:rPr>
              <a:t>Reads a huge amount of text and learns to predict the next word.</a:t>
            </a:r>
            <a:endParaRPr lang="en-US" sz="1400" dirty="0"/>
          </a:p>
        </p:txBody>
      </p:sp>
      <p:sp>
        <p:nvSpPr>
          <p:cNvPr id="8" name="Arrow 357"/>
          <p:cNvSpPr/>
          <p:nvPr/>
        </p:nvSpPr>
        <p:spPr>
          <a:xfrm>
            <a:off x="2926080" y="2377440"/>
            <a:ext cx="411480" cy="0"/>
          </a:xfrm>
          <a:prstGeom prst="line">
            <a:avLst/>
          </a:prstGeom>
          <a:noFill/>
          <a:ln w="31750">
            <a:solidFill>
              <a:schemeClr val="accent2"/>
            </a:solidFill>
            <a:prstDash val="solid"/>
            <a:tailEnd type="triangle"/>
          </a:ln>
        </p:spPr>
      </p:sp>
      <p:sp>
        <p:nvSpPr>
          <p:cNvPr id="9" name="Card 358"/>
          <p:cNvSpPr/>
          <p:nvPr/>
        </p:nvSpPr>
        <p:spPr>
          <a:xfrm>
            <a:off x="3337560" y="1188720"/>
            <a:ext cx="2468880" cy="2377440"/>
          </a:xfrm>
          <a:prstGeom prst="roundRect">
            <a:avLst>
              <a:gd name="adj" fmla="val 3077"/>
            </a:avLst>
          </a:prstGeom>
          <a:solidFill>
            <a:schemeClr val="bg2"/>
          </a:solidFill>
          <a:ln/>
        </p:spPr>
      </p:sp>
      <p:sp>
        <p:nvSpPr>
          <p:cNvPr id="10" name="Badge 359"/>
          <p:cNvSpPr txBox="1"/>
          <p:nvPr/>
        </p:nvSpPr>
        <p:spPr>
          <a:xfrm>
            <a:off x="3520440" y="1371600"/>
            <a:ext cx="502920" cy="502920"/>
          </a:xfrm>
          <a:prstGeom prst="ellipse">
            <a:avLst/>
          </a:prstGeom>
          <a:solidFill>
            <a:schemeClr val="accent5"/>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Text 360"/>
          <p:cNvSpPr txBox="1"/>
          <p:nvPr/>
        </p:nvSpPr>
        <p:spPr>
          <a:xfrm>
            <a:off x="3520440" y="2011680"/>
            <a:ext cx="2194560" cy="365760"/>
          </a:xfrm>
          <a:prstGeom prst="rect">
            <a:avLst/>
          </a:prstGeom>
          <a:noFill/>
          <a:ln/>
        </p:spPr>
        <p:txBody>
          <a:bodyPr wrap="square" lIns="0" tIns="0" rIns="0" bIns="0" rtlCol="0" anchor="t"/>
          <a:lstStyle/>
          <a:p>
            <a:pPr indent="0" marL="0">
              <a:buNone/>
            </a:pPr>
            <a:r>
              <a:rPr lang="en-US" sz="1800" b="1" dirty="0">
                <a:solidFill>
                  <a:schemeClr val="tx2"/>
                </a:solidFill>
              </a:rPr>
              <a:t>Fine-tuning</a:t>
            </a:r>
            <a:endParaRPr lang="en-US" sz="1800" dirty="0"/>
          </a:p>
        </p:txBody>
      </p:sp>
      <p:sp>
        <p:nvSpPr>
          <p:cNvPr id="12" name="Text 361"/>
          <p:cNvSpPr txBox="1"/>
          <p:nvPr/>
        </p:nvSpPr>
        <p:spPr>
          <a:xfrm>
            <a:off x="3520440" y="2423160"/>
            <a:ext cx="2103120" cy="1097280"/>
          </a:xfrm>
          <a:prstGeom prst="rect">
            <a:avLst/>
          </a:prstGeom>
          <a:noFill/>
          <a:ln/>
        </p:spPr>
        <p:txBody>
          <a:bodyPr wrap="square" lIns="0" tIns="0" rIns="0" bIns="0" rtlCol="0" anchor="t"/>
          <a:lstStyle/>
          <a:p>
            <a:pPr indent="0" marL="0">
              <a:buNone/>
            </a:pPr>
            <a:r>
              <a:rPr lang="en-US" sz="1400" dirty="0">
                <a:solidFill>
                  <a:schemeClr val="tx1"/>
                </a:solidFill>
              </a:rPr>
              <a:t>Practises on example questions and answers to follow instructions.</a:t>
            </a:r>
            <a:endParaRPr lang="en-US" sz="1400" dirty="0"/>
          </a:p>
        </p:txBody>
      </p:sp>
      <p:sp>
        <p:nvSpPr>
          <p:cNvPr id="13" name="Arrow 362"/>
          <p:cNvSpPr/>
          <p:nvPr/>
        </p:nvSpPr>
        <p:spPr>
          <a:xfrm>
            <a:off x="5806440" y="2377440"/>
            <a:ext cx="411480" cy="0"/>
          </a:xfrm>
          <a:prstGeom prst="line">
            <a:avLst/>
          </a:prstGeom>
          <a:noFill/>
          <a:ln w="31750">
            <a:solidFill>
              <a:schemeClr val="accent2"/>
            </a:solidFill>
            <a:prstDash val="solid"/>
            <a:tailEnd type="triangle"/>
          </a:ln>
        </p:spPr>
      </p:sp>
      <p:sp>
        <p:nvSpPr>
          <p:cNvPr id="14" name="Card 363"/>
          <p:cNvSpPr/>
          <p:nvPr/>
        </p:nvSpPr>
        <p:spPr>
          <a:xfrm>
            <a:off x="6217920" y="1188720"/>
            <a:ext cx="2468880" cy="2377440"/>
          </a:xfrm>
          <a:prstGeom prst="roundRect">
            <a:avLst>
              <a:gd name="adj" fmla="val 3077"/>
            </a:avLst>
          </a:prstGeom>
          <a:solidFill>
            <a:schemeClr val="bg2"/>
          </a:solidFill>
          <a:ln/>
        </p:spPr>
      </p:sp>
      <p:sp>
        <p:nvSpPr>
          <p:cNvPr id="15" name="Badge 364"/>
          <p:cNvSpPr txBox="1"/>
          <p:nvPr/>
        </p:nvSpPr>
        <p:spPr>
          <a:xfrm>
            <a:off x="6400800" y="1371600"/>
            <a:ext cx="502920" cy="50292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Text 365"/>
          <p:cNvSpPr txBox="1"/>
          <p:nvPr/>
        </p:nvSpPr>
        <p:spPr>
          <a:xfrm>
            <a:off x="6400800" y="2011680"/>
            <a:ext cx="2194560" cy="365760"/>
          </a:xfrm>
          <a:prstGeom prst="rect">
            <a:avLst/>
          </a:prstGeom>
          <a:noFill/>
          <a:ln/>
        </p:spPr>
        <p:txBody>
          <a:bodyPr wrap="square" lIns="0" tIns="0" rIns="0" bIns="0" rtlCol="0" anchor="t"/>
          <a:lstStyle/>
          <a:p>
            <a:pPr indent="0" marL="0">
              <a:buNone/>
            </a:pPr>
            <a:r>
              <a:rPr lang="en-US" sz="1800" b="1" dirty="0">
                <a:solidFill>
                  <a:schemeClr val="tx2"/>
                </a:solidFill>
              </a:rPr>
              <a:t>Alignment (RLHF)</a:t>
            </a:r>
            <a:endParaRPr lang="en-US" sz="1800" dirty="0"/>
          </a:p>
        </p:txBody>
      </p:sp>
      <p:sp>
        <p:nvSpPr>
          <p:cNvPr id="17" name="Text 366"/>
          <p:cNvSpPr txBox="1"/>
          <p:nvPr/>
        </p:nvSpPr>
        <p:spPr>
          <a:xfrm>
            <a:off x="6400800" y="2423160"/>
            <a:ext cx="2103120" cy="1097280"/>
          </a:xfrm>
          <a:prstGeom prst="rect">
            <a:avLst/>
          </a:prstGeom>
          <a:noFill/>
          <a:ln/>
        </p:spPr>
        <p:txBody>
          <a:bodyPr wrap="square" lIns="0" tIns="0" rIns="0" bIns="0" rtlCol="0" anchor="t"/>
          <a:lstStyle/>
          <a:p>
            <a:pPr indent="0" marL="0">
              <a:buNone/>
            </a:pPr>
            <a:r>
              <a:rPr lang="en-US" sz="1400" dirty="0">
                <a:solidFill>
                  <a:schemeClr val="tx1"/>
                </a:solidFill>
              </a:rPr>
              <a:t>Humans rank answers; the model learns to be helpful and safe.</a:t>
            </a:r>
            <a:endParaRPr lang="en-US" sz="1400" dirty="0"/>
          </a:p>
        </p:txBody>
      </p:sp>
      <p:sp>
        <p:nvSpPr>
          <p:cNvPr id="18" name="Card 367"/>
          <p:cNvSpPr/>
          <p:nvPr/>
        </p:nvSpPr>
        <p:spPr>
          <a:xfrm>
            <a:off x="457200" y="3794760"/>
            <a:ext cx="8229600" cy="868680"/>
          </a:xfrm>
          <a:prstGeom prst="roundRect">
            <a:avLst>
              <a:gd name="adj" fmla="val 8421"/>
            </a:avLst>
          </a:prstGeom>
          <a:solidFill>
            <a:schemeClr val="tx2"/>
          </a:solidFill>
          <a:ln/>
        </p:spPr>
      </p:sp>
      <p:sp>
        <p:nvSpPr>
          <p:cNvPr id="19" name="Text 368"/>
          <p:cNvSpPr txBox="1"/>
          <p:nvPr/>
        </p:nvSpPr>
        <p:spPr>
          <a:xfrm>
            <a:off x="685800" y="3794760"/>
            <a:ext cx="7772400" cy="868680"/>
          </a:xfrm>
          <a:prstGeom prst="rect">
            <a:avLst/>
          </a:prstGeom>
          <a:noFill/>
          <a:ln/>
        </p:spPr>
        <p:txBody>
          <a:bodyPr wrap="square" lIns="0" tIns="0" rIns="0" bIns="0" rtlCol="0" anchor="ctr"/>
          <a:lstStyle/>
          <a:p>
            <a:pPr indent="0" marL="0">
              <a:buNone/>
            </a:pPr>
            <a:r>
              <a:rPr lang="en-US" sz="1700" dirty="0">
                <a:solidFill>
                  <a:schemeClr val="bg1"/>
                </a:solidFill>
              </a:rPr>
              <a:t>Think of a student: read every book, then practise with exercises, then learn from teacher feedback.</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Key Terms in Plain English</a:t>
            </a:r>
            <a:endParaRPr lang="en-US" sz="3000" dirty="0"/>
          </a:p>
        </p:txBody>
      </p:sp>
      <p:sp>
        <p:nvSpPr>
          <p:cNvPr id="4" name="Card 369"/>
          <p:cNvSpPr/>
          <p:nvPr/>
        </p:nvSpPr>
        <p:spPr>
          <a:xfrm>
            <a:off x="457200" y="1188720"/>
            <a:ext cx="2651760" cy="1645920"/>
          </a:xfrm>
          <a:prstGeom prst="roundRect">
            <a:avLst>
              <a:gd name="adj" fmla="val 4444"/>
            </a:avLst>
          </a:prstGeom>
          <a:solidFill>
            <a:schemeClr val="bg2"/>
          </a:solidFill>
          <a:ln/>
        </p:spPr>
      </p:sp>
      <p:sp>
        <p:nvSpPr>
          <p:cNvPr id="5" name="IconBg 370"/>
          <p:cNvSpPr/>
          <p:nvPr/>
        </p:nvSpPr>
        <p:spPr>
          <a:xfrm>
            <a:off x="640080" y="1371600"/>
            <a:ext cx="457200" cy="457200"/>
          </a:xfrm>
          <a:prstGeom prst="ellipse">
            <a:avLst/>
          </a:prstGeom>
          <a:solidFill>
            <a:schemeClr val="accent1"/>
          </a:solidFill>
          <a:ln/>
        </p:spPr>
      </p:sp>
      <p:pic>
        <p:nvPicPr>
          <p:cNvPr id="6" name="Image 0" descr="PuzzlePiece icon">    </p:cNvPr>
          <p:cNvPicPr>
            <a:picLocks noChangeAspect="1"/>
          </p:cNvPicPr>
          <p:nvPr/>
        </p:nvPicPr>
        <p:blipFill>
          <a:blip r:embed="rId1"/>
          <a:stretch>
            <a:fillRect/>
          </a:stretch>
        </p:blipFill>
        <p:spPr>
          <a:xfrm>
            <a:off x="754380" y="1485900"/>
            <a:ext cx="228600" cy="228600"/>
          </a:xfrm>
          <a:prstGeom prst="rect">
            <a:avLst/>
          </a:prstGeom>
        </p:spPr>
      </p:pic>
      <p:sp>
        <p:nvSpPr>
          <p:cNvPr id="7" name="Text 371"/>
          <p:cNvSpPr txBox="1"/>
          <p:nvPr/>
        </p:nvSpPr>
        <p:spPr>
          <a:xfrm>
            <a:off x="1234440" y="137160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Token</a:t>
            </a:r>
            <a:endParaRPr lang="en-US" sz="1600" dirty="0"/>
          </a:p>
        </p:txBody>
      </p:sp>
      <p:sp>
        <p:nvSpPr>
          <p:cNvPr id="8" name="Text 372"/>
          <p:cNvSpPr txBox="1"/>
          <p:nvPr/>
        </p:nvSpPr>
        <p:spPr>
          <a:xfrm>
            <a:off x="640080" y="1965960"/>
            <a:ext cx="2331720" cy="822960"/>
          </a:xfrm>
          <a:prstGeom prst="rect">
            <a:avLst/>
          </a:prstGeom>
          <a:noFill/>
          <a:ln/>
        </p:spPr>
        <p:txBody>
          <a:bodyPr wrap="square" lIns="0" tIns="0" rIns="0" bIns="0" rtlCol="0" anchor="t"/>
          <a:lstStyle/>
          <a:p>
            <a:pPr indent="0" marL="0">
              <a:buNone/>
            </a:pPr>
            <a:r>
              <a:rPr lang="en-US" sz="1400" dirty="0">
                <a:solidFill>
                  <a:schemeClr val="tx1"/>
                </a:solidFill>
              </a:rPr>
              <a:t>A small piece of text the model reads, about ¾ of a word.</a:t>
            </a:r>
            <a:endParaRPr lang="en-US" sz="1400" dirty="0"/>
          </a:p>
        </p:txBody>
      </p:sp>
      <p:sp>
        <p:nvSpPr>
          <p:cNvPr id="9" name="Card 373"/>
          <p:cNvSpPr/>
          <p:nvPr/>
        </p:nvSpPr>
        <p:spPr>
          <a:xfrm>
            <a:off x="3246120" y="1188720"/>
            <a:ext cx="2651760" cy="1645920"/>
          </a:xfrm>
          <a:prstGeom prst="roundRect">
            <a:avLst>
              <a:gd name="adj" fmla="val 4444"/>
            </a:avLst>
          </a:prstGeom>
          <a:solidFill>
            <a:schemeClr val="bg2"/>
          </a:solidFill>
          <a:ln/>
        </p:spPr>
      </p:sp>
      <p:sp>
        <p:nvSpPr>
          <p:cNvPr id="10" name="IconBg 374"/>
          <p:cNvSpPr/>
          <p:nvPr/>
        </p:nvSpPr>
        <p:spPr>
          <a:xfrm>
            <a:off x="3429000" y="1371600"/>
            <a:ext cx="457200" cy="457200"/>
          </a:xfrm>
          <a:prstGeom prst="ellipse">
            <a:avLst/>
          </a:prstGeom>
          <a:solidFill>
            <a:schemeClr val="accent5"/>
          </a:solidFill>
          <a:ln/>
        </p:spPr>
      </p:sp>
      <p:pic>
        <p:nvPicPr>
          <p:cNvPr id="11" name="Image 1" descr="ProjectDiagram icon">    </p:cNvPr>
          <p:cNvPicPr>
            <a:picLocks noChangeAspect="1"/>
          </p:cNvPicPr>
          <p:nvPr/>
        </p:nvPicPr>
        <p:blipFill>
          <a:blip r:embed="rId2"/>
          <a:stretch>
            <a:fillRect/>
          </a:stretch>
        </p:blipFill>
        <p:spPr>
          <a:xfrm>
            <a:off x="3543300" y="1485900"/>
            <a:ext cx="228600" cy="228600"/>
          </a:xfrm>
          <a:prstGeom prst="rect">
            <a:avLst/>
          </a:prstGeom>
        </p:spPr>
      </p:pic>
      <p:sp>
        <p:nvSpPr>
          <p:cNvPr id="12" name="Text 375"/>
          <p:cNvSpPr txBox="1"/>
          <p:nvPr/>
        </p:nvSpPr>
        <p:spPr>
          <a:xfrm>
            <a:off x="4023360" y="137160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Embedding</a:t>
            </a:r>
            <a:endParaRPr lang="en-US" sz="1600" dirty="0"/>
          </a:p>
        </p:txBody>
      </p:sp>
      <p:sp>
        <p:nvSpPr>
          <p:cNvPr id="13" name="Text 376"/>
          <p:cNvSpPr txBox="1"/>
          <p:nvPr/>
        </p:nvSpPr>
        <p:spPr>
          <a:xfrm>
            <a:off x="3429000" y="1965960"/>
            <a:ext cx="2331720" cy="822960"/>
          </a:xfrm>
          <a:prstGeom prst="rect">
            <a:avLst/>
          </a:prstGeom>
          <a:noFill/>
          <a:ln/>
        </p:spPr>
        <p:txBody>
          <a:bodyPr wrap="square" lIns="0" tIns="0" rIns="0" bIns="0" rtlCol="0" anchor="t"/>
          <a:lstStyle/>
          <a:p>
            <a:pPr indent="0" marL="0">
              <a:buNone/>
            </a:pPr>
            <a:r>
              <a:rPr lang="en-US" sz="1400" dirty="0">
                <a:solidFill>
                  <a:schemeClr val="tx1"/>
                </a:solidFill>
              </a:rPr>
              <a:t>A word turned into numbers that capture its meaning.</a:t>
            </a:r>
            <a:endParaRPr lang="en-US" sz="1400" dirty="0"/>
          </a:p>
        </p:txBody>
      </p:sp>
      <p:sp>
        <p:nvSpPr>
          <p:cNvPr id="14" name="Card 377"/>
          <p:cNvSpPr/>
          <p:nvPr/>
        </p:nvSpPr>
        <p:spPr>
          <a:xfrm>
            <a:off x="6035040" y="1188720"/>
            <a:ext cx="2651760" cy="1645920"/>
          </a:xfrm>
          <a:prstGeom prst="roundRect">
            <a:avLst>
              <a:gd name="adj" fmla="val 4444"/>
            </a:avLst>
          </a:prstGeom>
          <a:solidFill>
            <a:schemeClr val="bg2"/>
          </a:solidFill>
          <a:ln/>
        </p:spPr>
      </p:sp>
      <p:sp>
        <p:nvSpPr>
          <p:cNvPr id="15" name="IconBg 378"/>
          <p:cNvSpPr/>
          <p:nvPr/>
        </p:nvSpPr>
        <p:spPr>
          <a:xfrm>
            <a:off x="6217920" y="1371600"/>
            <a:ext cx="457200" cy="457200"/>
          </a:xfrm>
          <a:prstGeom prst="ellipse">
            <a:avLst/>
          </a:prstGeom>
          <a:solidFill>
            <a:schemeClr val="accent3"/>
          </a:solidFill>
          <a:ln/>
        </p:spPr>
      </p:sp>
      <p:pic>
        <p:nvPicPr>
          <p:cNvPr id="16" name="Image 2" descr="Cogs icon">    </p:cNvPr>
          <p:cNvPicPr>
            <a:picLocks noChangeAspect="1"/>
          </p:cNvPicPr>
          <p:nvPr/>
        </p:nvPicPr>
        <p:blipFill>
          <a:blip r:embed="rId3"/>
          <a:stretch>
            <a:fillRect/>
          </a:stretch>
        </p:blipFill>
        <p:spPr>
          <a:xfrm>
            <a:off x="6332220" y="1485900"/>
            <a:ext cx="228600" cy="228600"/>
          </a:xfrm>
          <a:prstGeom prst="rect">
            <a:avLst/>
          </a:prstGeom>
        </p:spPr>
      </p:pic>
      <p:sp>
        <p:nvSpPr>
          <p:cNvPr id="17" name="Text 379"/>
          <p:cNvSpPr txBox="1"/>
          <p:nvPr/>
        </p:nvSpPr>
        <p:spPr>
          <a:xfrm>
            <a:off x="6812280" y="137160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Parameters</a:t>
            </a:r>
            <a:endParaRPr lang="en-US" sz="1600" dirty="0"/>
          </a:p>
        </p:txBody>
      </p:sp>
      <p:sp>
        <p:nvSpPr>
          <p:cNvPr id="18" name="Text 380"/>
          <p:cNvSpPr txBox="1"/>
          <p:nvPr/>
        </p:nvSpPr>
        <p:spPr>
          <a:xfrm>
            <a:off x="6217920" y="1965960"/>
            <a:ext cx="2331720" cy="822960"/>
          </a:xfrm>
          <a:prstGeom prst="rect">
            <a:avLst/>
          </a:prstGeom>
          <a:noFill/>
          <a:ln/>
        </p:spPr>
        <p:txBody>
          <a:bodyPr wrap="square" lIns="0" tIns="0" rIns="0" bIns="0" rtlCol="0" anchor="t"/>
          <a:lstStyle/>
          <a:p>
            <a:pPr indent="0" marL="0">
              <a:buNone/>
            </a:pPr>
            <a:r>
              <a:rPr lang="en-US" sz="1400" dirty="0">
                <a:solidFill>
                  <a:schemeClr val="tx1"/>
                </a:solidFill>
              </a:rPr>
              <a:t>The learned numbers inside the model. GPT-3 has 175 billion.</a:t>
            </a:r>
            <a:endParaRPr lang="en-US" sz="1400" dirty="0"/>
          </a:p>
        </p:txBody>
      </p:sp>
      <p:sp>
        <p:nvSpPr>
          <p:cNvPr id="19" name="Card 381"/>
          <p:cNvSpPr/>
          <p:nvPr/>
        </p:nvSpPr>
        <p:spPr>
          <a:xfrm>
            <a:off x="457200" y="2971800"/>
            <a:ext cx="2651760" cy="1645920"/>
          </a:xfrm>
          <a:prstGeom prst="roundRect">
            <a:avLst>
              <a:gd name="adj" fmla="val 4444"/>
            </a:avLst>
          </a:prstGeom>
          <a:solidFill>
            <a:schemeClr val="bg2"/>
          </a:solidFill>
          <a:ln/>
        </p:spPr>
      </p:sp>
      <p:sp>
        <p:nvSpPr>
          <p:cNvPr id="20" name="IconBg 382"/>
          <p:cNvSpPr/>
          <p:nvPr/>
        </p:nvSpPr>
        <p:spPr>
          <a:xfrm>
            <a:off x="640080" y="3154680"/>
            <a:ext cx="457200" cy="457200"/>
          </a:xfrm>
          <a:prstGeom prst="ellipse">
            <a:avLst/>
          </a:prstGeom>
          <a:solidFill>
            <a:schemeClr val="accent1"/>
          </a:solidFill>
          <a:ln/>
        </p:spPr>
      </p:sp>
      <p:pic>
        <p:nvPicPr>
          <p:cNvPr id="21" name="Image 3" descr="Memory icon">    </p:cNvPr>
          <p:cNvPicPr>
            <a:picLocks noChangeAspect="1"/>
          </p:cNvPicPr>
          <p:nvPr/>
        </p:nvPicPr>
        <p:blipFill>
          <a:blip r:embed="rId4"/>
          <a:stretch>
            <a:fillRect/>
          </a:stretch>
        </p:blipFill>
        <p:spPr>
          <a:xfrm>
            <a:off x="754380" y="3268980"/>
            <a:ext cx="228600" cy="228600"/>
          </a:xfrm>
          <a:prstGeom prst="rect">
            <a:avLst/>
          </a:prstGeom>
        </p:spPr>
      </p:pic>
      <p:sp>
        <p:nvSpPr>
          <p:cNvPr id="22" name="Text 383"/>
          <p:cNvSpPr txBox="1"/>
          <p:nvPr/>
        </p:nvSpPr>
        <p:spPr>
          <a:xfrm>
            <a:off x="1234440" y="315468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Context window</a:t>
            </a:r>
            <a:endParaRPr lang="en-US" sz="1600" dirty="0"/>
          </a:p>
        </p:txBody>
      </p:sp>
      <p:sp>
        <p:nvSpPr>
          <p:cNvPr id="23" name="Text 384"/>
          <p:cNvSpPr txBox="1"/>
          <p:nvPr/>
        </p:nvSpPr>
        <p:spPr>
          <a:xfrm>
            <a:off x="640080" y="3749040"/>
            <a:ext cx="2331720" cy="822960"/>
          </a:xfrm>
          <a:prstGeom prst="rect">
            <a:avLst/>
          </a:prstGeom>
          <a:noFill/>
          <a:ln/>
        </p:spPr>
        <p:txBody>
          <a:bodyPr wrap="square" lIns="0" tIns="0" rIns="0" bIns="0" rtlCol="0" anchor="t"/>
          <a:lstStyle/>
          <a:p>
            <a:pPr indent="0" marL="0">
              <a:buNone/>
            </a:pPr>
            <a:r>
              <a:rPr lang="en-US" sz="1400" dirty="0">
                <a:solidFill>
                  <a:schemeClr val="tx1"/>
                </a:solidFill>
              </a:rPr>
              <a:t>How much text the model can keep in mind at once.</a:t>
            </a:r>
            <a:endParaRPr lang="en-US" sz="1400" dirty="0"/>
          </a:p>
        </p:txBody>
      </p:sp>
      <p:sp>
        <p:nvSpPr>
          <p:cNvPr id="24" name="Card 385"/>
          <p:cNvSpPr/>
          <p:nvPr/>
        </p:nvSpPr>
        <p:spPr>
          <a:xfrm>
            <a:off x="3246120" y="2971800"/>
            <a:ext cx="2651760" cy="1645920"/>
          </a:xfrm>
          <a:prstGeom prst="roundRect">
            <a:avLst>
              <a:gd name="adj" fmla="val 4444"/>
            </a:avLst>
          </a:prstGeom>
          <a:solidFill>
            <a:schemeClr val="bg2"/>
          </a:solidFill>
          <a:ln/>
        </p:spPr>
      </p:sp>
      <p:sp>
        <p:nvSpPr>
          <p:cNvPr id="25" name="IconBg 386"/>
          <p:cNvSpPr/>
          <p:nvPr/>
        </p:nvSpPr>
        <p:spPr>
          <a:xfrm>
            <a:off x="3429000" y="3154680"/>
            <a:ext cx="457200" cy="457200"/>
          </a:xfrm>
          <a:prstGeom prst="ellipse">
            <a:avLst/>
          </a:prstGeom>
          <a:solidFill>
            <a:schemeClr val="accent5"/>
          </a:solidFill>
          <a:ln/>
        </p:spPr>
      </p:sp>
      <p:pic>
        <p:nvPicPr>
          <p:cNvPr id="26" name="Image 4" descr="SlidersH icon">    </p:cNvPr>
          <p:cNvPicPr>
            <a:picLocks noChangeAspect="1"/>
          </p:cNvPicPr>
          <p:nvPr/>
        </p:nvPicPr>
        <p:blipFill>
          <a:blip r:embed="rId5"/>
          <a:stretch>
            <a:fillRect/>
          </a:stretch>
        </p:blipFill>
        <p:spPr>
          <a:xfrm>
            <a:off x="3543300" y="3268980"/>
            <a:ext cx="228600" cy="228600"/>
          </a:xfrm>
          <a:prstGeom prst="rect">
            <a:avLst/>
          </a:prstGeom>
        </p:spPr>
      </p:pic>
      <p:sp>
        <p:nvSpPr>
          <p:cNvPr id="27" name="Text 387"/>
          <p:cNvSpPr txBox="1"/>
          <p:nvPr/>
        </p:nvSpPr>
        <p:spPr>
          <a:xfrm>
            <a:off x="4023360" y="315468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Temperature</a:t>
            </a:r>
            <a:endParaRPr lang="en-US" sz="1600" dirty="0"/>
          </a:p>
        </p:txBody>
      </p:sp>
      <p:sp>
        <p:nvSpPr>
          <p:cNvPr id="28" name="Text 388"/>
          <p:cNvSpPr txBox="1"/>
          <p:nvPr/>
        </p:nvSpPr>
        <p:spPr>
          <a:xfrm>
            <a:off x="3429000" y="3749040"/>
            <a:ext cx="2331720" cy="822960"/>
          </a:xfrm>
          <a:prstGeom prst="rect">
            <a:avLst/>
          </a:prstGeom>
          <a:noFill/>
          <a:ln/>
        </p:spPr>
        <p:txBody>
          <a:bodyPr wrap="square" lIns="0" tIns="0" rIns="0" bIns="0" rtlCol="0" anchor="t"/>
          <a:lstStyle/>
          <a:p>
            <a:pPr indent="0" marL="0">
              <a:buNone/>
            </a:pPr>
            <a:r>
              <a:rPr lang="en-US" sz="1400" dirty="0">
                <a:solidFill>
                  <a:schemeClr val="tx1"/>
                </a:solidFill>
              </a:rPr>
              <a:t>A dial: low is focused and safe, high is creative.</a:t>
            </a:r>
            <a:endParaRPr lang="en-US" sz="1400" dirty="0"/>
          </a:p>
        </p:txBody>
      </p:sp>
      <p:sp>
        <p:nvSpPr>
          <p:cNvPr id="29" name="Card 389"/>
          <p:cNvSpPr/>
          <p:nvPr/>
        </p:nvSpPr>
        <p:spPr>
          <a:xfrm>
            <a:off x="6035040" y="2971800"/>
            <a:ext cx="2651760" cy="1645920"/>
          </a:xfrm>
          <a:prstGeom prst="roundRect">
            <a:avLst>
              <a:gd name="adj" fmla="val 4444"/>
            </a:avLst>
          </a:prstGeom>
          <a:solidFill>
            <a:schemeClr val="bg2"/>
          </a:solidFill>
          <a:ln/>
        </p:spPr>
      </p:sp>
      <p:sp>
        <p:nvSpPr>
          <p:cNvPr id="30" name="IconBg 390"/>
          <p:cNvSpPr/>
          <p:nvPr/>
        </p:nvSpPr>
        <p:spPr>
          <a:xfrm>
            <a:off x="6217920" y="3154680"/>
            <a:ext cx="457200" cy="457200"/>
          </a:xfrm>
          <a:prstGeom prst="ellipse">
            <a:avLst/>
          </a:prstGeom>
          <a:solidFill>
            <a:schemeClr val="accent4"/>
          </a:solidFill>
          <a:ln/>
        </p:spPr>
      </p:sp>
      <p:pic>
        <p:nvPicPr>
          <p:cNvPr id="31" name="Image 5" descr="ExclamationTriangle icon">    </p:cNvPr>
          <p:cNvPicPr>
            <a:picLocks noChangeAspect="1"/>
          </p:cNvPicPr>
          <p:nvPr/>
        </p:nvPicPr>
        <p:blipFill>
          <a:blip r:embed="rId6"/>
          <a:stretch>
            <a:fillRect/>
          </a:stretch>
        </p:blipFill>
        <p:spPr>
          <a:xfrm>
            <a:off x="6332220" y="3268980"/>
            <a:ext cx="228600" cy="228600"/>
          </a:xfrm>
          <a:prstGeom prst="rect">
            <a:avLst/>
          </a:prstGeom>
        </p:spPr>
      </p:pic>
      <p:sp>
        <p:nvSpPr>
          <p:cNvPr id="32" name="Text 391"/>
          <p:cNvSpPr txBox="1"/>
          <p:nvPr/>
        </p:nvSpPr>
        <p:spPr>
          <a:xfrm>
            <a:off x="6812280" y="3154680"/>
            <a:ext cx="1783080" cy="457200"/>
          </a:xfrm>
          <a:prstGeom prst="rect">
            <a:avLst/>
          </a:prstGeom>
          <a:noFill/>
          <a:ln/>
        </p:spPr>
        <p:txBody>
          <a:bodyPr wrap="square" lIns="0" tIns="0" rIns="0" bIns="0" rtlCol="0" anchor="ctr"/>
          <a:lstStyle/>
          <a:p>
            <a:pPr indent="0" marL="0">
              <a:buNone/>
            </a:pPr>
            <a:r>
              <a:rPr lang="en-US" sz="1600" b="1" dirty="0">
                <a:solidFill>
                  <a:schemeClr val="tx2"/>
                </a:solidFill>
              </a:rPr>
              <a:t>Hallucination</a:t>
            </a:r>
            <a:endParaRPr lang="en-US" sz="1600" dirty="0"/>
          </a:p>
        </p:txBody>
      </p:sp>
      <p:sp>
        <p:nvSpPr>
          <p:cNvPr id="33" name="Text 392"/>
          <p:cNvSpPr txBox="1"/>
          <p:nvPr/>
        </p:nvSpPr>
        <p:spPr>
          <a:xfrm>
            <a:off x="6217920" y="3749040"/>
            <a:ext cx="2331720" cy="822960"/>
          </a:xfrm>
          <a:prstGeom prst="rect">
            <a:avLst/>
          </a:prstGeom>
          <a:noFill/>
          <a:ln/>
        </p:spPr>
        <p:txBody>
          <a:bodyPr wrap="square" lIns="0" tIns="0" rIns="0" bIns="0" rtlCol="0" anchor="t"/>
          <a:lstStyle/>
          <a:p>
            <a:pPr indent="0" marL="0">
              <a:buNone/>
            </a:pPr>
            <a:r>
              <a:rPr lang="en-US" sz="1400" dirty="0">
                <a:solidFill>
                  <a:schemeClr val="tx1"/>
                </a:solidFill>
              </a:rPr>
              <a:t>A confident answer that is actually wrong.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Popular Transformer Models</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737360"/>
                <a:gridCol w="1280160"/>
                <a:gridCol w="1828800"/>
                <a:gridCol w="338328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B1F4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Maker</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B1F4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B1F4B"/>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Known for</a:t>
                      </a:r>
                      <a:endParaRPr lang="en-US" sz="15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1B1F4B"/>
                    </a:solidFill>
                  </a:tcPr>
                </a:tc>
              </a:tr>
              <a:tr h="457200">
                <a:tc>
                  <a:txBody>
                    <a:bodyPr/>
                    <a:lstStyle/>
                    <a:p>
                      <a:pPr indent="0" marL="0">
                        <a:buNone/>
                      </a:pPr>
                      <a:r>
                        <a:rPr lang="en-US" sz="1400" b="1" dirty="0">
                          <a:solidFill>
                            <a:srgbClr val="1B1F4B"/>
                          </a:solidFill>
                          <a:latin typeface="Calibri" pitchFamily="34" charset="0"/>
                          <a:ea typeface="Calibri" pitchFamily="34" charset="-122"/>
                          <a:cs typeface="Calibri" pitchFamily="34" charset="-120"/>
                        </a:rPr>
                        <a:t>GPT (ChatGPT)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OpenAI</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Decoder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Chat, writing, coding</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r>
              <a:tr h="457200">
                <a:tc>
                  <a:txBody>
                    <a:bodyPr/>
                    <a:lstStyle/>
                    <a:p>
                      <a:pPr indent="0" marL="0">
                        <a:buNone/>
                      </a:pPr>
                      <a:r>
                        <a:rPr lang="en-US" sz="1400" b="1" dirty="0">
                          <a:solidFill>
                            <a:srgbClr val="1B1F4B"/>
                          </a:solidFill>
                          <a:latin typeface="Calibri" pitchFamily="34" charset="0"/>
                          <a:ea typeface="Calibri" pitchFamily="34" charset="-122"/>
                          <a:cs typeface="Calibri" pitchFamily="34" charset="-120"/>
                        </a:rPr>
                        <a:t>Claude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Anthropic</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Decoder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Long documents, careful answers</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b="1" dirty="0">
                          <a:solidFill>
                            <a:srgbClr val="1B1F4B"/>
                          </a:solidFill>
                          <a:latin typeface="Calibri" pitchFamily="34" charset="0"/>
                          <a:ea typeface="Calibri" pitchFamily="34" charset="-122"/>
                          <a:cs typeface="Calibri" pitchFamily="34" charset="-120"/>
                        </a:rPr>
                        <a:t>Gemini</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Google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Multimodal</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Text, images and audio together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r>
              <a:tr h="457200">
                <a:tc>
                  <a:txBody>
                    <a:bodyPr/>
                    <a:lstStyle/>
                    <a:p>
                      <a:pPr indent="0" marL="0">
                        <a:buNone/>
                      </a:pPr>
                      <a:r>
                        <a:rPr lang="en-US" sz="1400" b="1" dirty="0">
                          <a:solidFill>
                            <a:srgbClr val="1B1F4B"/>
                          </a:solidFill>
                          <a:latin typeface="Calibri" pitchFamily="34" charset="0"/>
                          <a:ea typeface="Calibri" pitchFamily="34" charset="-122"/>
                          <a:cs typeface="Calibri" pitchFamily="34" charset="-120"/>
                        </a:rPr>
                        <a:t>Llama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Meta</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Decoder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Open-weight models to run yourself</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1400" b="1" dirty="0">
                          <a:solidFill>
                            <a:srgbClr val="1B1F4B"/>
                          </a:solidFill>
                          <a:latin typeface="Calibri" pitchFamily="34" charset="0"/>
                          <a:ea typeface="Calibri" pitchFamily="34" charset="-122"/>
                          <a:cs typeface="Calibri" pitchFamily="34" charset="-120"/>
                        </a:rPr>
                        <a:t>BERT</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Google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Encoder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Search and text classification</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1F2FA"/>
                    </a:solidFill>
                  </a:tcPr>
                </a:tc>
              </a:tr>
              <a:tr h="457200">
                <a:tc>
                  <a:txBody>
                    <a:bodyPr/>
                    <a:lstStyle/>
                    <a:p>
                      <a:pPr indent="0" marL="0">
                        <a:buNone/>
                      </a:pPr>
                      <a:r>
                        <a:rPr lang="en-US" sz="1400" b="1" dirty="0">
                          <a:solidFill>
                            <a:srgbClr val="1B1F4B"/>
                          </a:solidFill>
                          <a:latin typeface="Calibri" pitchFamily="34" charset="0"/>
                          <a:ea typeface="Calibri" pitchFamily="34" charset="-122"/>
                          <a:cs typeface="Calibri" pitchFamily="34" charset="-120"/>
                        </a:rPr>
                        <a:t>T5</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Google</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Encoder + Decoder</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rgbClr val="1A1D3A"/>
                          </a:solidFill>
                          <a:latin typeface="Calibri" pitchFamily="34" charset="0"/>
                          <a:ea typeface="Calibri" pitchFamily="34" charset="-122"/>
                          <a:cs typeface="Calibri" pitchFamily="34" charset="-120"/>
                        </a:rPr>
                        <a:t>Translation and summarisation</a:t>
                      </a:r>
                      <a:endParaRPr lang="en-US" sz="1400" dirty="0">
                        <a:latin typeface="Calibri" charset="0"/>
                        <a:ea typeface="Calibri" charset="0"/>
                        <a:cs typeface="Calibri" charset="0"/>
                      </a:endParaRPr>
                    </a:p>
                  </a:txBody>
                  <a:tcPr marL="109728" marR="109728" marT="0" marB="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393"/>
          <p:cNvSpPr txBox="1"/>
          <p:nvPr/>
        </p:nvSpPr>
        <p:spPr>
          <a:xfrm>
            <a:off x="457200" y="4480560"/>
            <a:ext cx="8229600" cy="228600"/>
          </a:xfrm>
          <a:prstGeom prst="rect">
            <a:avLst/>
          </a:prstGeom>
          <a:noFill/>
          <a:ln/>
        </p:spPr>
        <p:txBody>
          <a:bodyPr wrap="square" lIns="0" tIns="0" rIns="0" bIns="0" rtlCol="0" anchor="t"/>
          <a:lstStyle/>
          <a:p>
            <a:pPr indent="0" marL="0">
              <a:buNone/>
            </a:pPr>
            <a:r>
              <a:rPr lang="en-US" sz="1100" i="1" dirty="0">
                <a:solidFill>
                  <a:schemeClr val="tx1"/>
                </a:solidFill>
              </a:rPr>
              <a:t>Types are simplified; vendors do not always publish their exact designs.</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Where Transformers Are Used</a:t>
            </a:r>
            <a:endParaRPr lang="en-US" sz="3000" dirty="0"/>
          </a:p>
        </p:txBody>
      </p:sp>
      <p:sp>
        <p:nvSpPr>
          <p:cNvPr id="4" name="Card 394"/>
          <p:cNvSpPr/>
          <p:nvPr/>
        </p:nvSpPr>
        <p:spPr>
          <a:xfrm>
            <a:off x="457200" y="1188720"/>
            <a:ext cx="2651760" cy="1645920"/>
          </a:xfrm>
          <a:prstGeom prst="roundRect">
            <a:avLst>
              <a:gd name="adj" fmla="val 4444"/>
            </a:avLst>
          </a:prstGeom>
          <a:solidFill>
            <a:schemeClr val="bg2"/>
          </a:solidFill>
          <a:ln/>
        </p:spPr>
      </p:sp>
      <p:sp>
        <p:nvSpPr>
          <p:cNvPr id="5" name="IconBg 395"/>
          <p:cNvSpPr/>
          <p:nvPr/>
        </p:nvSpPr>
        <p:spPr>
          <a:xfrm>
            <a:off x="640080" y="1353312"/>
            <a:ext cx="502920" cy="502920"/>
          </a:xfrm>
          <a:prstGeom prst="ellipse">
            <a:avLst/>
          </a:prstGeom>
          <a:solidFill>
            <a:schemeClr val="accent1"/>
          </a:solidFill>
          <a:ln/>
        </p:spPr>
      </p:sp>
      <p:pic>
        <p:nvPicPr>
          <p:cNvPr id="6" name="Image 0" descr="Comments icon">    </p:cNvPr>
          <p:cNvPicPr>
            <a:picLocks noChangeAspect="1"/>
          </p:cNvPicPr>
          <p:nvPr/>
        </p:nvPicPr>
        <p:blipFill>
          <a:blip r:embed="rId1"/>
          <a:stretch>
            <a:fillRect/>
          </a:stretch>
        </p:blipFill>
        <p:spPr>
          <a:xfrm>
            <a:off x="765810" y="1479042"/>
            <a:ext cx="251460" cy="251460"/>
          </a:xfrm>
          <a:prstGeom prst="rect">
            <a:avLst/>
          </a:prstGeom>
        </p:spPr>
      </p:pic>
      <p:sp>
        <p:nvSpPr>
          <p:cNvPr id="7" name="Text 396"/>
          <p:cNvSpPr txBox="1"/>
          <p:nvPr/>
        </p:nvSpPr>
        <p:spPr>
          <a:xfrm>
            <a:off x="640080" y="1965960"/>
            <a:ext cx="2331720" cy="274320"/>
          </a:xfrm>
          <a:prstGeom prst="rect">
            <a:avLst/>
          </a:prstGeom>
          <a:noFill/>
          <a:ln/>
        </p:spPr>
        <p:txBody>
          <a:bodyPr wrap="square" lIns="0" tIns="0" rIns="0" bIns="0" rtlCol="0" anchor="t"/>
          <a:lstStyle/>
          <a:p>
            <a:pPr indent="0" marL="0">
              <a:buNone/>
            </a:pPr>
            <a:r>
              <a:rPr lang="en-US" sz="1600" b="1" dirty="0">
                <a:solidFill>
                  <a:schemeClr val="tx2"/>
                </a:solidFill>
              </a:rPr>
              <a:t>Chatbots and tutors</a:t>
            </a:r>
            <a:endParaRPr lang="en-US" sz="1600" dirty="0"/>
          </a:p>
        </p:txBody>
      </p:sp>
      <p:sp>
        <p:nvSpPr>
          <p:cNvPr id="8" name="Text 397"/>
          <p:cNvSpPr txBox="1"/>
          <p:nvPr/>
        </p:nvSpPr>
        <p:spPr>
          <a:xfrm>
            <a:off x="640080" y="2258568"/>
            <a:ext cx="2331720" cy="502920"/>
          </a:xfrm>
          <a:prstGeom prst="rect">
            <a:avLst/>
          </a:prstGeom>
          <a:noFill/>
          <a:ln/>
        </p:spPr>
        <p:txBody>
          <a:bodyPr wrap="square" lIns="0" tIns="0" rIns="0" bIns="0" rtlCol="0" anchor="t"/>
          <a:lstStyle/>
          <a:p>
            <a:pPr indent="0" marL="0">
              <a:buNone/>
            </a:pPr>
            <a:r>
              <a:rPr lang="en-US" sz="1300" dirty="0">
                <a:solidFill>
                  <a:schemeClr val="tx1"/>
                </a:solidFill>
              </a:rPr>
              <a:t>Customer support, homework help</a:t>
            </a:r>
            <a:endParaRPr lang="en-US" sz="1300" dirty="0"/>
          </a:p>
        </p:txBody>
      </p:sp>
      <p:sp>
        <p:nvSpPr>
          <p:cNvPr id="9" name="Card 398"/>
          <p:cNvSpPr/>
          <p:nvPr/>
        </p:nvSpPr>
        <p:spPr>
          <a:xfrm>
            <a:off x="3246120" y="1188720"/>
            <a:ext cx="2651760" cy="1645920"/>
          </a:xfrm>
          <a:prstGeom prst="roundRect">
            <a:avLst>
              <a:gd name="adj" fmla="val 4444"/>
            </a:avLst>
          </a:prstGeom>
          <a:solidFill>
            <a:schemeClr val="bg2"/>
          </a:solidFill>
          <a:ln/>
        </p:spPr>
      </p:sp>
      <p:sp>
        <p:nvSpPr>
          <p:cNvPr id="10" name="IconBg 399"/>
          <p:cNvSpPr/>
          <p:nvPr/>
        </p:nvSpPr>
        <p:spPr>
          <a:xfrm>
            <a:off x="3429000" y="1353312"/>
            <a:ext cx="502920" cy="502920"/>
          </a:xfrm>
          <a:prstGeom prst="ellipse">
            <a:avLst/>
          </a:prstGeom>
          <a:solidFill>
            <a:schemeClr val="accent5"/>
          </a:solidFill>
          <a:ln/>
        </p:spPr>
      </p:sp>
      <p:pic>
        <p:nvPicPr>
          <p:cNvPr id="11" name="Image 1" descr="Language icon">    </p:cNvPr>
          <p:cNvPicPr>
            <a:picLocks noChangeAspect="1"/>
          </p:cNvPicPr>
          <p:nvPr/>
        </p:nvPicPr>
        <p:blipFill>
          <a:blip r:embed="rId2"/>
          <a:stretch>
            <a:fillRect/>
          </a:stretch>
        </p:blipFill>
        <p:spPr>
          <a:xfrm>
            <a:off x="3554730" y="1479042"/>
            <a:ext cx="251460" cy="251460"/>
          </a:xfrm>
          <a:prstGeom prst="rect">
            <a:avLst/>
          </a:prstGeom>
        </p:spPr>
      </p:pic>
      <p:sp>
        <p:nvSpPr>
          <p:cNvPr id="12" name="Text 400"/>
          <p:cNvSpPr txBox="1"/>
          <p:nvPr/>
        </p:nvSpPr>
        <p:spPr>
          <a:xfrm>
            <a:off x="3429000" y="1965960"/>
            <a:ext cx="2331720" cy="274320"/>
          </a:xfrm>
          <a:prstGeom prst="rect">
            <a:avLst/>
          </a:prstGeom>
          <a:noFill/>
          <a:ln/>
        </p:spPr>
        <p:txBody>
          <a:bodyPr wrap="square" lIns="0" tIns="0" rIns="0" bIns="0" rtlCol="0" anchor="t"/>
          <a:lstStyle/>
          <a:p>
            <a:pPr indent="0" marL="0">
              <a:buNone/>
            </a:pPr>
            <a:r>
              <a:rPr lang="en-US" sz="1600" b="1" dirty="0">
                <a:solidFill>
                  <a:schemeClr val="tx2"/>
                </a:solidFill>
              </a:rPr>
              <a:t>Translation</a:t>
            </a:r>
            <a:endParaRPr lang="en-US" sz="1600" dirty="0"/>
          </a:p>
        </p:txBody>
      </p:sp>
      <p:sp>
        <p:nvSpPr>
          <p:cNvPr id="13" name="Text 401"/>
          <p:cNvSpPr txBox="1"/>
          <p:nvPr/>
        </p:nvSpPr>
        <p:spPr>
          <a:xfrm>
            <a:off x="3429000" y="2258568"/>
            <a:ext cx="2331720" cy="502920"/>
          </a:xfrm>
          <a:prstGeom prst="rect">
            <a:avLst/>
          </a:prstGeom>
          <a:noFill/>
          <a:ln/>
        </p:spPr>
        <p:txBody>
          <a:bodyPr wrap="square" lIns="0" tIns="0" rIns="0" bIns="0" rtlCol="0" anchor="t"/>
          <a:lstStyle/>
          <a:p>
            <a:pPr indent="0" marL="0">
              <a:buNone/>
            </a:pPr>
            <a:r>
              <a:rPr lang="en-US" sz="1300" dirty="0">
                <a:solidFill>
                  <a:schemeClr val="tx1"/>
                </a:solidFill>
              </a:rPr>
              <a:t>Instant text and live captions</a:t>
            </a:r>
            <a:endParaRPr lang="en-US" sz="1300" dirty="0"/>
          </a:p>
        </p:txBody>
      </p:sp>
      <p:sp>
        <p:nvSpPr>
          <p:cNvPr id="14" name="Card 402"/>
          <p:cNvSpPr/>
          <p:nvPr/>
        </p:nvSpPr>
        <p:spPr>
          <a:xfrm>
            <a:off x="6035040" y="1188720"/>
            <a:ext cx="2651760" cy="1645920"/>
          </a:xfrm>
          <a:prstGeom prst="roundRect">
            <a:avLst>
              <a:gd name="adj" fmla="val 4444"/>
            </a:avLst>
          </a:prstGeom>
          <a:solidFill>
            <a:schemeClr val="bg2"/>
          </a:solidFill>
          <a:ln/>
        </p:spPr>
      </p:sp>
      <p:sp>
        <p:nvSpPr>
          <p:cNvPr id="15" name="IconBg 403"/>
          <p:cNvSpPr/>
          <p:nvPr/>
        </p:nvSpPr>
        <p:spPr>
          <a:xfrm>
            <a:off x="6217920" y="1353312"/>
            <a:ext cx="502920" cy="502920"/>
          </a:xfrm>
          <a:prstGeom prst="ellipse">
            <a:avLst/>
          </a:prstGeom>
          <a:solidFill>
            <a:schemeClr val="accent3"/>
          </a:solidFill>
          <a:ln/>
        </p:spPr>
      </p:sp>
      <p:pic>
        <p:nvPicPr>
          <p:cNvPr id="16" name="Image 2" descr="Code icon">    </p:cNvPr>
          <p:cNvPicPr>
            <a:picLocks noChangeAspect="1"/>
          </p:cNvPicPr>
          <p:nvPr/>
        </p:nvPicPr>
        <p:blipFill>
          <a:blip r:embed="rId3"/>
          <a:stretch>
            <a:fillRect/>
          </a:stretch>
        </p:blipFill>
        <p:spPr>
          <a:xfrm>
            <a:off x="6343650" y="1479042"/>
            <a:ext cx="251460" cy="251460"/>
          </a:xfrm>
          <a:prstGeom prst="rect">
            <a:avLst/>
          </a:prstGeom>
        </p:spPr>
      </p:pic>
      <p:sp>
        <p:nvSpPr>
          <p:cNvPr id="17" name="Text 404"/>
          <p:cNvSpPr txBox="1"/>
          <p:nvPr/>
        </p:nvSpPr>
        <p:spPr>
          <a:xfrm>
            <a:off x="6217920" y="1965960"/>
            <a:ext cx="2331720" cy="274320"/>
          </a:xfrm>
          <a:prstGeom prst="rect">
            <a:avLst/>
          </a:prstGeom>
          <a:noFill/>
          <a:ln/>
        </p:spPr>
        <p:txBody>
          <a:bodyPr wrap="square" lIns="0" tIns="0" rIns="0" bIns="0" rtlCol="0" anchor="t"/>
          <a:lstStyle/>
          <a:p>
            <a:pPr indent="0" marL="0">
              <a:buNone/>
            </a:pPr>
            <a:r>
              <a:rPr lang="en-US" sz="1600" b="1" dirty="0">
                <a:solidFill>
                  <a:schemeClr val="tx2"/>
                </a:solidFill>
              </a:rPr>
              <a:t>Coding</a:t>
            </a:r>
            <a:endParaRPr lang="en-US" sz="1600" dirty="0"/>
          </a:p>
        </p:txBody>
      </p:sp>
      <p:sp>
        <p:nvSpPr>
          <p:cNvPr id="18" name="Text 405"/>
          <p:cNvSpPr txBox="1"/>
          <p:nvPr/>
        </p:nvSpPr>
        <p:spPr>
          <a:xfrm>
            <a:off x="6217920" y="2258568"/>
            <a:ext cx="2331720" cy="502920"/>
          </a:xfrm>
          <a:prstGeom prst="rect">
            <a:avLst/>
          </a:prstGeom>
          <a:noFill/>
          <a:ln/>
        </p:spPr>
        <p:txBody>
          <a:bodyPr wrap="square" lIns="0" tIns="0" rIns="0" bIns="0" rtlCol="0" anchor="t"/>
          <a:lstStyle/>
          <a:p>
            <a:pPr indent="0" marL="0">
              <a:buNone/>
            </a:pPr>
            <a:r>
              <a:rPr lang="en-US" sz="1300" dirty="0">
                <a:solidFill>
                  <a:schemeClr val="tx1"/>
                </a:solidFill>
              </a:rPr>
              <a:t>Autocomplete, bug fixes, explanations</a:t>
            </a:r>
            <a:endParaRPr lang="en-US" sz="1300" dirty="0"/>
          </a:p>
        </p:txBody>
      </p:sp>
      <p:sp>
        <p:nvSpPr>
          <p:cNvPr id="19" name="Card 406"/>
          <p:cNvSpPr/>
          <p:nvPr/>
        </p:nvSpPr>
        <p:spPr>
          <a:xfrm>
            <a:off x="457200" y="2971800"/>
            <a:ext cx="2651760" cy="1645920"/>
          </a:xfrm>
          <a:prstGeom prst="roundRect">
            <a:avLst>
              <a:gd name="adj" fmla="val 4444"/>
            </a:avLst>
          </a:prstGeom>
          <a:solidFill>
            <a:schemeClr val="bg2"/>
          </a:solidFill>
          <a:ln/>
        </p:spPr>
      </p:sp>
      <p:sp>
        <p:nvSpPr>
          <p:cNvPr id="20" name="IconBg 407"/>
          <p:cNvSpPr/>
          <p:nvPr/>
        </p:nvSpPr>
        <p:spPr>
          <a:xfrm>
            <a:off x="640080" y="3136392"/>
            <a:ext cx="502920" cy="502920"/>
          </a:xfrm>
          <a:prstGeom prst="ellipse">
            <a:avLst/>
          </a:prstGeom>
          <a:solidFill>
            <a:schemeClr val="accent4"/>
          </a:solidFill>
          <a:ln/>
        </p:spPr>
      </p:sp>
      <p:pic>
        <p:nvPicPr>
          <p:cNvPr id="21" name="Image 3" descr="FileAlt icon">    </p:cNvPr>
          <p:cNvPicPr>
            <a:picLocks noChangeAspect="1"/>
          </p:cNvPicPr>
          <p:nvPr/>
        </p:nvPicPr>
        <p:blipFill>
          <a:blip r:embed="rId4"/>
          <a:stretch>
            <a:fillRect/>
          </a:stretch>
        </p:blipFill>
        <p:spPr>
          <a:xfrm>
            <a:off x="765810" y="3262122"/>
            <a:ext cx="251460" cy="251460"/>
          </a:xfrm>
          <a:prstGeom prst="rect">
            <a:avLst/>
          </a:prstGeom>
        </p:spPr>
      </p:pic>
      <p:sp>
        <p:nvSpPr>
          <p:cNvPr id="22" name="Text 408"/>
          <p:cNvSpPr txBox="1"/>
          <p:nvPr/>
        </p:nvSpPr>
        <p:spPr>
          <a:xfrm>
            <a:off x="640080" y="3749040"/>
            <a:ext cx="2331720" cy="274320"/>
          </a:xfrm>
          <a:prstGeom prst="rect">
            <a:avLst/>
          </a:prstGeom>
          <a:noFill/>
          <a:ln/>
        </p:spPr>
        <p:txBody>
          <a:bodyPr wrap="square" lIns="0" tIns="0" rIns="0" bIns="0" rtlCol="0" anchor="t"/>
          <a:lstStyle/>
          <a:p>
            <a:pPr indent="0" marL="0">
              <a:buNone/>
            </a:pPr>
            <a:r>
              <a:rPr lang="en-US" sz="1600" b="1" dirty="0">
                <a:solidFill>
                  <a:schemeClr val="tx2"/>
                </a:solidFill>
              </a:rPr>
              <a:t>Summarising</a:t>
            </a:r>
            <a:endParaRPr lang="en-US" sz="1600" dirty="0"/>
          </a:p>
        </p:txBody>
      </p:sp>
      <p:sp>
        <p:nvSpPr>
          <p:cNvPr id="23" name="Text 409"/>
          <p:cNvSpPr txBox="1"/>
          <p:nvPr/>
        </p:nvSpPr>
        <p:spPr>
          <a:xfrm>
            <a:off x="640080" y="4041648"/>
            <a:ext cx="2331720" cy="502920"/>
          </a:xfrm>
          <a:prstGeom prst="rect">
            <a:avLst/>
          </a:prstGeom>
          <a:noFill/>
          <a:ln/>
        </p:spPr>
        <p:txBody>
          <a:bodyPr wrap="square" lIns="0" tIns="0" rIns="0" bIns="0" rtlCol="0" anchor="t"/>
          <a:lstStyle/>
          <a:p>
            <a:pPr indent="0" marL="0">
              <a:buNone/>
            </a:pPr>
            <a:r>
              <a:rPr lang="en-US" sz="1300" dirty="0">
                <a:solidFill>
                  <a:schemeClr val="tx1"/>
                </a:solidFill>
              </a:rPr>
              <a:t>Meetings, reports, long contracts</a:t>
            </a:r>
            <a:endParaRPr lang="en-US" sz="1300" dirty="0"/>
          </a:p>
        </p:txBody>
      </p:sp>
      <p:sp>
        <p:nvSpPr>
          <p:cNvPr id="24" name="Card 410"/>
          <p:cNvSpPr/>
          <p:nvPr/>
        </p:nvSpPr>
        <p:spPr>
          <a:xfrm>
            <a:off x="3246120" y="2971800"/>
            <a:ext cx="2651760" cy="1645920"/>
          </a:xfrm>
          <a:prstGeom prst="roundRect">
            <a:avLst>
              <a:gd name="adj" fmla="val 4444"/>
            </a:avLst>
          </a:prstGeom>
          <a:solidFill>
            <a:schemeClr val="bg2"/>
          </a:solidFill>
          <a:ln/>
        </p:spPr>
      </p:sp>
      <p:sp>
        <p:nvSpPr>
          <p:cNvPr id="25" name="IconBg 411"/>
          <p:cNvSpPr/>
          <p:nvPr/>
        </p:nvSpPr>
        <p:spPr>
          <a:xfrm>
            <a:off x="3429000" y="3136392"/>
            <a:ext cx="502920" cy="502920"/>
          </a:xfrm>
          <a:prstGeom prst="ellipse">
            <a:avLst/>
          </a:prstGeom>
          <a:solidFill>
            <a:schemeClr val="accent1"/>
          </a:solidFill>
          <a:ln/>
        </p:spPr>
      </p:sp>
      <p:pic>
        <p:nvPicPr>
          <p:cNvPr id="26" name="Image 4" descr="Search icon">    </p:cNvPr>
          <p:cNvPicPr>
            <a:picLocks noChangeAspect="1"/>
          </p:cNvPicPr>
          <p:nvPr/>
        </p:nvPicPr>
        <p:blipFill>
          <a:blip r:embed="rId5"/>
          <a:stretch>
            <a:fillRect/>
          </a:stretch>
        </p:blipFill>
        <p:spPr>
          <a:xfrm>
            <a:off x="3554730" y="3262122"/>
            <a:ext cx="251460" cy="251460"/>
          </a:xfrm>
          <a:prstGeom prst="rect">
            <a:avLst/>
          </a:prstGeom>
        </p:spPr>
      </p:pic>
      <p:sp>
        <p:nvSpPr>
          <p:cNvPr id="27" name="Text 412"/>
          <p:cNvSpPr txBox="1"/>
          <p:nvPr/>
        </p:nvSpPr>
        <p:spPr>
          <a:xfrm>
            <a:off x="3429000" y="3749040"/>
            <a:ext cx="2331720" cy="274320"/>
          </a:xfrm>
          <a:prstGeom prst="rect">
            <a:avLst/>
          </a:prstGeom>
          <a:noFill/>
          <a:ln/>
        </p:spPr>
        <p:txBody>
          <a:bodyPr wrap="square" lIns="0" tIns="0" rIns="0" bIns="0" rtlCol="0" anchor="t"/>
          <a:lstStyle/>
          <a:p>
            <a:pPr indent="0" marL="0">
              <a:buNone/>
            </a:pPr>
            <a:r>
              <a:rPr lang="en-US" sz="1600" b="1" dirty="0">
                <a:solidFill>
                  <a:schemeClr val="tx2"/>
                </a:solidFill>
              </a:rPr>
              <a:t>Search</a:t>
            </a:r>
            <a:endParaRPr lang="en-US" sz="1600" dirty="0"/>
          </a:p>
        </p:txBody>
      </p:sp>
      <p:sp>
        <p:nvSpPr>
          <p:cNvPr id="28" name="Text 413"/>
          <p:cNvSpPr txBox="1"/>
          <p:nvPr/>
        </p:nvSpPr>
        <p:spPr>
          <a:xfrm>
            <a:off x="3429000" y="4041648"/>
            <a:ext cx="2331720" cy="502920"/>
          </a:xfrm>
          <a:prstGeom prst="rect">
            <a:avLst/>
          </a:prstGeom>
          <a:noFill/>
          <a:ln/>
        </p:spPr>
        <p:txBody>
          <a:bodyPr wrap="square" lIns="0" tIns="0" rIns="0" bIns="0" rtlCol="0" anchor="t"/>
          <a:lstStyle/>
          <a:p>
            <a:pPr indent="0" marL="0">
              <a:buNone/>
            </a:pPr>
            <a:r>
              <a:rPr lang="en-US" sz="1300" dirty="0">
                <a:solidFill>
                  <a:schemeClr val="tx1"/>
                </a:solidFill>
              </a:rPr>
              <a:t>Understands what you mean, not just keywords</a:t>
            </a:r>
            <a:endParaRPr lang="en-US" sz="1300" dirty="0"/>
          </a:p>
        </p:txBody>
      </p:sp>
      <p:sp>
        <p:nvSpPr>
          <p:cNvPr id="29" name="Card 414"/>
          <p:cNvSpPr/>
          <p:nvPr/>
        </p:nvSpPr>
        <p:spPr>
          <a:xfrm>
            <a:off x="6035040" y="2971800"/>
            <a:ext cx="2651760" cy="1645920"/>
          </a:xfrm>
          <a:prstGeom prst="roundRect">
            <a:avLst>
              <a:gd name="adj" fmla="val 4444"/>
            </a:avLst>
          </a:prstGeom>
          <a:solidFill>
            <a:schemeClr val="bg2"/>
          </a:solidFill>
          <a:ln/>
        </p:spPr>
      </p:sp>
      <p:sp>
        <p:nvSpPr>
          <p:cNvPr id="30" name="IconBg 415"/>
          <p:cNvSpPr/>
          <p:nvPr/>
        </p:nvSpPr>
        <p:spPr>
          <a:xfrm>
            <a:off x="6217920" y="3136392"/>
            <a:ext cx="502920" cy="502920"/>
          </a:xfrm>
          <a:prstGeom prst="ellipse">
            <a:avLst/>
          </a:prstGeom>
          <a:solidFill>
            <a:schemeClr val="accent3"/>
          </a:solidFill>
          <a:ln/>
        </p:spPr>
      </p:sp>
      <p:pic>
        <p:nvPicPr>
          <p:cNvPr id="31" name="Image 5" descr="Heartbeat icon">    </p:cNvPr>
          <p:cNvPicPr>
            <a:picLocks noChangeAspect="1"/>
          </p:cNvPicPr>
          <p:nvPr/>
        </p:nvPicPr>
        <p:blipFill>
          <a:blip r:embed="rId6"/>
          <a:stretch>
            <a:fillRect/>
          </a:stretch>
        </p:blipFill>
        <p:spPr>
          <a:xfrm>
            <a:off x="6343650" y="3262122"/>
            <a:ext cx="251460" cy="251460"/>
          </a:xfrm>
          <a:prstGeom prst="rect">
            <a:avLst/>
          </a:prstGeom>
        </p:spPr>
      </p:pic>
      <p:sp>
        <p:nvSpPr>
          <p:cNvPr id="32" name="Text 416"/>
          <p:cNvSpPr txBox="1"/>
          <p:nvPr/>
        </p:nvSpPr>
        <p:spPr>
          <a:xfrm>
            <a:off x="6217920" y="3749040"/>
            <a:ext cx="2331720" cy="274320"/>
          </a:xfrm>
          <a:prstGeom prst="rect">
            <a:avLst/>
          </a:prstGeom>
          <a:noFill/>
          <a:ln/>
        </p:spPr>
        <p:txBody>
          <a:bodyPr wrap="square" lIns="0" tIns="0" rIns="0" bIns="0" rtlCol="0" anchor="t"/>
          <a:lstStyle/>
          <a:p>
            <a:pPr indent="0" marL="0">
              <a:buNone/>
            </a:pPr>
            <a:r>
              <a:rPr lang="en-US" sz="1600" b="1" dirty="0">
                <a:solidFill>
                  <a:schemeClr val="tx2"/>
                </a:solidFill>
              </a:rPr>
              <a:t>Science and health</a:t>
            </a:r>
            <a:endParaRPr lang="en-US" sz="1600" dirty="0"/>
          </a:p>
        </p:txBody>
      </p:sp>
      <p:sp>
        <p:nvSpPr>
          <p:cNvPr id="33" name="Text 417"/>
          <p:cNvSpPr txBox="1"/>
          <p:nvPr/>
        </p:nvSpPr>
        <p:spPr>
          <a:xfrm>
            <a:off x="6217920" y="4041648"/>
            <a:ext cx="2331720" cy="502920"/>
          </a:xfrm>
          <a:prstGeom prst="rect">
            <a:avLst/>
          </a:prstGeom>
          <a:noFill/>
          <a:ln/>
        </p:spPr>
        <p:txBody>
          <a:bodyPr wrap="square" lIns="0" tIns="0" rIns="0" bIns="0" rtlCol="0" anchor="t"/>
          <a:lstStyle/>
          <a:p>
            <a:pPr indent="0" marL="0">
              <a:buNone/>
            </a:pPr>
            <a:r>
              <a:rPr lang="en-US" sz="1300" dirty="0">
                <a:solidFill>
                  <a:schemeClr val="tx1"/>
                </a:solidFill>
              </a:rPr>
              <a:t>Protein research, clinical notes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Limitations and Risks</a:t>
            </a:r>
            <a:endParaRPr lang="en-US" sz="3000" dirty="0"/>
          </a:p>
        </p:txBody>
      </p:sp>
      <p:sp>
        <p:nvSpPr>
          <p:cNvPr id="4" name="Card 418"/>
          <p:cNvSpPr/>
          <p:nvPr/>
        </p:nvSpPr>
        <p:spPr>
          <a:xfrm>
            <a:off x="457200" y="1143000"/>
            <a:ext cx="4023360" cy="3520440"/>
          </a:xfrm>
          <a:prstGeom prst="roundRect">
            <a:avLst>
              <a:gd name="adj" fmla="val 2078"/>
            </a:avLst>
          </a:prstGeom>
          <a:solidFill>
            <a:schemeClr val="bg2"/>
          </a:solidFill>
          <a:ln/>
        </p:spPr>
      </p:sp>
      <p:sp>
        <p:nvSpPr>
          <p:cNvPr id="5" name="Text 419"/>
          <p:cNvSpPr txBox="1"/>
          <p:nvPr/>
        </p:nvSpPr>
        <p:spPr>
          <a:xfrm>
            <a:off x="685800" y="1280160"/>
            <a:ext cx="3566160" cy="365760"/>
          </a:xfrm>
          <a:prstGeom prst="rect">
            <a:avLst/>
          </a:prstGeom>
          <a:noFill/>
          <a:ln/>
        </p:spPr>
        <p:txBody>
          <a:bodyPr wrap="square" lIns="0" tIns="0" rIns="0" bIns="0" rtlCol="0" anchor="t"/>
          <a:lstStyle/>
          <a:p>
            <a:pPr indent="0" marL="0">
              <a:buNone/>
            </a:pPr>
            <a:r>
              <a:rPr lang="en-US" sz="1900" b="1" dirty="0">
                <a:solidFill>
                  <a:schemeClr val="accent4"/>
                </a:solidFill>
              </a:rPr>
              <a:t>Limitations</a:t>
            </a:r>
            <a:endParaRPr lang="en-US" sz="1900" dirty="0"/>
          </a:p>
        </p:txBody>
      </p:sp>
      <p:sp>
        <p:nvSpPr>
          <p:cNvPr id="6" name="IconBg 420"/>
          <p:cNvSpPr/>
          <p:nvPr/>
        </p:nvSpPr>
        <p:spPr>
          <a:xfrm>
            <a:off x="685800" y="1892808"/>
            <a:ext cx="457200" cy="457200"/>
          </a:xfrm>
          <a:prstGeom prst="ellipse">
            <a:avLst/>
          </a:prstGeom>
          <a:solidFill>
            <a:schemeClr val="accent4"/>
          </a:solidFill>
          <a:ln/>
        </p:spPr>
      </p:sp>
      <p:pic>
        <p:nvPicPr>
          <p:cNvPr id="7" name="Image 0" descr="ExclamationTriangle icon">    </p:cNvPr>
          <p:cNvPicPr>
            <a:picLocks noChangeAspect="1"/>
          </p:cNvPicPr>
          <p:nvPr/>
        </p:nvPicPr>
        <p:blipFill>
          <a:blip r:embed="rId1"/>
          <a:stretch>
            <a:fillRect/>
          </a:stretch>
        </p:blipFill>
        <p:spPr>
          <a:xfrm>
            <a:off x="800100" y="2007108"/>
            <a:ext cx="228600" cy="228600"/>
          </a:xfrm>
          <a:prstGeom prst="rect">
            <a:avLst/>
          </a:prstGeom>
        </p:spPr>
      </p:pic>
      <p:sp>
        <p:nvSpPr>
          <p:cNvPr id="8" name="Text 421"/>
          <p:cNvSpPr txBox="1"/>
          <p:nvPr/>
        </p:nvSpPr>
        <p:spPr>
          <a:xfrm>
            <a:off x="1280160" y="1828800"/>
            <a:ext cx="3063240" cy="594360"/>
          </a:xfrm>
          <a:prstGeom prst="rect">
            <a:avLst/>
          </a:prstGeom>
          <a:noFill/>
          <a:ln/>
        </p:spPr>
        <p:txBody>
          <a:bodyPr wrap="square" lIns="0" tIns="0" rIns="0" bIns="0" rtlCol="0" anchor="ctr"/>
          <a:lstStyle/>
          <a:p>
            <a:pPr indent="0" marL="0">
              <a:buNone/>
            </a:pPr>
            <a:r>
              <a:rPr lang="en-US" sz="1400" b="1" dirty="0">
                <a:solidFill>
                  <a:schemeClr val="tx1"/>
                </a:solidFill>
              </a:rPr>
              <a:t>Hallucination: </a:t>
            </a:r>
            <a:pPr indent="0" marL="0">
              <a:buNone/>
            </a:pPr>
            <a:r>
              <a:rPr lang="en-US" sz="1400" dirty="0">
                <a:solidFill>
                  <a:schemeClr val="tx1"/>
                </a:solidFill>
              </a:rPr>
              <a:t>sounds sure, but can be wrong.</a:t>
            </a:r>
            <a:endParaRPr lang="en-US" sz="1400" dirty="0"/>
          </a:p>
        </p:txBody>
      </p:sp>
      <p:sp>
        <p:nvSpPr>
          <p:cNvPr id="9" name="IconBg 422"/>
          <p:cNvSpPr/>
          <p:nvPr/>
        </p:nvSpPr>
        <p:spPr>
          <a:xfrm>
            <a:off x="685800" y="2596896"/>
            <a:ext cx="457200" cy="457200"/>
          </a:xfrm>
          <a:prstGeom prst="ellipse">
            <a:avLst/>
          </a:prstGeom>
          <a:solidFill>
            <a:schemeClr val="accent5"/>
          </a:solidFill>
          <a:ln/>
        </p:spPr>
      </p:sp>
      <p:pic>
        <p:nvPicPr>
          <p:cNvPr id="10" name="Image 1" descr="BalanceScale icon">    </p:cNvPr>
          <p:cNvPicPr>
            <a:picLocks noChangeAspect="1"/>
          </p:cNvPicPr>
          <p:nvPr/>
        </p:nvPicPr>
        <p:blipFill>
          <a:blip r:embed="rId2"/>
          <a:stretch>
            <a:fillRect/>
          </a:stretch>
        </p:blipFill>
        <p:spPr>
          <a:xfrm>
            <a:off x="800100" y="2711196"/>
            <a:ext cx="228600" cy="228600"/>
          </a:xfrm>
          <a:prstGeom prst="rect">
            <a:avLst/>
          </a:prstGeom>
        </p:spPr>
      </p:pic>
      <p:sp>
        <p:nvSpPr>
          <p:cNvPr id="11" name="Text 423"/>
          <p:cNvSpPr txBox="1"/>
          <p:nvPr/>
        </p:nvSpPr>
        <p:spPr>
          <a:xfrm>
            <a:off x="1280160" y="2532888"/>
            <a:ext cx="3063240" cy="594360"/>
          </a:xfrm>
          <a:prstGeom prst="rect">
            <a:avLst/>
          </a:prstGeom>
          <a:noFill/>
          <a:ln/>
        </p:spPr>
        <p:txBody>
          <a:bodyPr wrap="square" lIns="0" tIns="0" rIns="0" bIns="0" rtlCol="0" anchor="ctr"/>
          <a:lstStyle/>
          <a:p>
            <a:pPr indent="0" marL="0">
              <a:buNone/>
            </a:pPr>
            <a:r>
              <a:rPr lang="en-US" sz="1400" b="1" dirty="0">
                <a:solidFill>
                  <a:schemeClr val="tx1"/>
                </a:solidFill>
              </a:rPr>
              <a:t>Bias: </a:t>
            </a:r>
            <a:pPr indent="0" marL="0">
              <a:buNone/>
            </a:pPr>
            <a:r>
              <a:rPr lang="en-US" sz="1400" dirty="0">
                <a:solidFill>
                  <a:schemeClr val="tx1"/>
                </a:solidFill>
              </a:rPr>
              <a:t>learns unfair patterns from its data.</a:t>
            </a:r>
            <a:endParaRPr lang="en-US" sz="1400" dirty="0"/>
          </a:p>
        </p:txBody>
      </p:sp>
      <p:sp>
        <p:nvSpPr>
          <p:cNvPr id="12" name="IconBg 424"/>
          <p:cNvSpPr/>
          <p:nvPr/>
        </p:nvSpPr>
        <p:spPr>
          <a:xfrm>
            <a:off x="685800" y="3300984"/>
            <a:ext cx="457200" cy="457200"/>
          </a:xfrm>
          <a:prstGeom prst="ellipse">
            <a:avLst/>
          </a:prstGeom>
          <a:solidFill>
            <a:schemeClr val="accent2"/>
          </a:solidFill>
          <a:ln/>
        </p:spPr>
      </p:sp>
      <p:pic>
        <p:nvPicPr>
          <p:cNvPr id="13" name="Image 2" descr="DollarSign icon">    </p:cNvPr>
          <p:cNvPicPr>
            <a:picLocks noChangeAspect="1"/>
          </p:cNvPicPr>
          <p:nvPr/>
        </p:nvPicPr>
        <p:blipFill>
          <a:blip r:embed="rId3"/>
          <a:stretch>
            <a:fillRect/>
          </a:stretch>
        </p:blipFill>
        <p:spPr>
          <a:xfrm>
            <a:off x="800100" y="3415284"/>
            <a:ext cx="228600" cy="228600"/>
          </a:xfrm>
          <a:prstGeom prst="rect">
            <a:avLst/>
          </a:prstGeom>
        </p:spPr>
      </p:pic>
      <p:sp>
        <p:nvSpPr>
          <p:cNvPr id="14" name="Text 425"/>
          <p:cNvSpPr txBox="1"/>
          <p:nvPr/>
        </p:nvSpPr>
        <p:spPr>
          <a:xfrm>
            <a:off x="1280160" y="3236976"/>
            <a:ext cx="3063240" cy="594360"/>
          </a:xfrm>
          <a:prstGeom prst="rect">
            <a:avLst/>
          </a:prstGeom>
          <a:noFill/>
          <a:ln/>
        </p:spPr>
        <p:txBody>
          <a:bodyPr wrap="square" lIns="0" tIns="0" rIns="0" bIns="0" rtlCol="0" anchor="ctr"/>
          <a:lstStyle/>
          <a:p>
            <a:pPr indent="0" marL="0">
              <a:buNone/>
            </a:pPr>
            <a:r>
              <a:rPr lang="en-US" sz="1400" b="1" dirty="0">
                <a:solidFill>
                  <a:schemeClr val="tx1"/>
                </a:solidFill>
              </a:rPr>
              <a:t>Cost: </a:t>
            </a:r>
            <a:pPr indent="0" marL="0">
              <a:buNone/>
            </a:pPr>
            <a:r>
              <a:rPr lang="en-US" sz="1400" dirty="0">
                <a:solidFill>
                  <a:schemeClr val="tx1"/>
                </a:solidFill>
              </a:rPr>
              <a:t>training and running models is expensive.</a:t>
            </a:r>
            <a:endParaRPr lang="en-US" sz="1400" dirty="0"/>
          </a:p>
        </p:txBody>
      </p:sp>
      <p:sp>
        <p:nvSpPr>
          <p:cNvPr id="15" name="IconBg 426"/>
          <p:cNvSpPr/>
          <p:nvPr/>
        </p:nvSpPr>
        <p:spPr>
          <a:xfrm>
            <a:off x="685800" y="4005072"/>
            <a:ext cx="457200" cy="457200"/>
          </a:xfrm>
          <a:prstGeom prst="ellipse">
            <a:avLst/>
          </a:prstGeom>
          <a:solidFill>
            <a:schemeClr val="accent1"/>
          </a:solidFill>
          <a:ln/>
        </p:spPr>
      </p:sp>
      <p:pic>
        <p:nvPicPr>
          <p:cNvPr id="16" name="Image 3" descr="Memory icon">    </p:cNvPr>
          <p:cNvPicPr>
            <a:picLocks noChangeAspect="1"/>
          </p:cNvPicPr>
          <p:nvPr/>
        </p:nvPicPr>
        <p:blipFill>
          <a:blip r:embed="rId4"/>
          <a:stretch>
            <a:fillRect/>
          </a:stretch>
        </p:blipFill>
        <p:spPr>
          <a:xfrm>
            <a:off x="800100" y="4119372"/>
            <a:ext cx="228600" cy="228600"/>
          </a:xfrm>
          <a:prstGeom prst="rect">
            <a:avLst/>
          </a:prstGeom>
        </p:spPr>
      </p:pic>
      <p:sp>
        <p:nvSpPr>
          <p:cNvPr id="17" name="Text 427"/>
          <p:cNvSpPr txBox="1"/>
          <p:nvPr/>
        </p:nvSpPr>
        <p:spPr>
          <a:xfrm>
            <a:off x="1280160" y="3941064"/>
            <a:ext cx="3063240" cy="594360"/>
          </a:xfrm>
          <a:prstGeom prst="rect">
            <a:avLst/>
          </a:prstGeom>
          <a:noFill/>
          <a:ln/>
        </p:spPr>
        <p:txBody>
          <a:bodyPr wrap="square" lIns="0" tIns="0" rIns="0" bIns="0" rtlCol="0" anchor="ctr"/>
          <a:lstStyle/>
          <a:p>
            <a:pPr indent="0" marL="0">
              <a:buNone/>
            </a:pPr>
            <a:r>
              <a:rPr lang="en-US" sz="1400" b="1" dirty="0">
                <a:solidFill>
                  <a:schemeClr val="tx1"/>
                </a:solidFill>
              </a:rPr>
              <a:t>Memory: </a:t>
            </a:r>
            <a:pPr indent="0" marL="0">
              <a:buNone/>
            </a:pPr>
            <a:r>
              <a:rPr lang="en-US" sz="1400" dirty="0">
                <a:solidFill>
                  <a:schemeClr val="tx1"/>
                </a:solidFill>
              </a:rPr>
              <a:t>limited context, can miss recent facts.</a:t>
            </a:r>
            <a:endParaRPr lang="en-US" sz="1400" dirty="0"/>
          </a:p>
        </p:txBody>
      </p:sp>
      <p:sp>
        <p:nvSpPr>
          <p:cNvPr id="18" name="Card 428"/>
          <p:cNvSpPr/>
          <p:nvPr/>
        </p:nvSpPr>
        <p:spPr>
          <a:xfrm>
            <a:off x="4663440" y="1143000"/>
            <a:ext cx="4023360" cy="3520440"/>
          </a:xfrm>
          <a:prstGeom prst="roundRect">
            <a:avLst>
              <a:gd name="adj" fmla="val 2078"/>
            </a:avLst>
          </a:prstGeom>
          <a:solidFill>
            <a:schemeClr val="bg2"/>
          </a:solidFill>
          <a:ln/>
        </p:spPr>
      </p:sp>
      <p:sp>
        <p:nvSpPr>
          <p:cNvPr id="19" name="Text 429"/>
          <p:cNvSpPr txBox="1"/>
          <p:nvPr/>
        </p:nvSpPr>
        <p:spPr>
          <a:xfrm>
            <a:off x="4892040" y="1280160"/>
            <a:ext cx="3566160" cy="365760"/>
          </a:xfrm>
          <a:prstGeom prst="rect">
            <a:avLst/>
          </a:prstGeom>
          <a:noFill/>
          <a:ln/>
        </p:spPr>
        <p:txBody>
          <a:bodyPr wrap="square" lIns="0" tIns="0" rIns="0" bIns="0" rtlCol="0" anchor="t"/>
          <a:lstStyle/>
          <a:p>
            <a:pPr indent="0" marL="0">
              <a:buNone/>
            </a:pPr>
            <a:r>
              <a:rPr lang="en-US" sz="1900" b="1" dirty="0">
                <a:solidFill>
                  <a:schemeClr val="accent3"/>
                </a:solidFill>
              </a:rPr>
              <a:t>What you can do</a:t>
            </a:r>
            <a:endParaRPr lang="en-US" sz="1900" dirty="0"/>
          </a:p>
        </p:txBody>
      </p:sp>
      <p:sp>
        <p:nvSpPr>
          <p:cNvPr id="20" name="IconBg 430"/>
          <p:cNvSpPr/>
          <p:nvPr/>
        </p:nvSpPr>
        <p:spPr>
          <a:xfrm>
            <a:off x="4892040" y="1892808"/>
            <a:ext cx="457200" cy="457200"/>
          </a:xfrm>
          <a:prstGeom prst="ellipse">
            <a:avLst/>
          </a:prstGeom>
          <a:solidFill>
            <a:schemeClr val="accent3"/>
          </a:solidFill>
          <a:ln/>
        </p:spPr>
      </p:sp>
      <p:pic>
        <p:nvPicPr>
          <p:cNvPr id="21" name="Image 4" descr="Check icon">    </p:cNvPr>
          <p:cNvPicPr>
            <a:picLocks noChangeAspect="1"/>
          </p:cNvPicPr>
          <p:nvPr/>
        </p:nvPicPr>
        <p:blipFill>
          <a:blip r:embed="rId5"/>
          <a:stretch>
            <a:fillRect/>
          </a:stretch>
        </p:blipFill>
        <p:spPr>
          <a:xfrm>
            <a:off x="5006340" y="2007108"/>
            <a:ext cx="228600" cy="228600"/>
          </a:xfrm>
          <a:prstGeom prst="rect">
            <a:avLst/>
          </a:prstGeom>
        </p:spPr>
      </p:pic>
      <p:sp>
        <p:nvSpPr>
          <p:cNvPr id="22" name="Text 431"/>
          <p:cNvSpPr txBox="1"/>
          <p:nvPr/>
        </p:nvSpPr>
        <p:spPr>
          <a:xfrm>
            <a:off x="5486400" y="1828800"/>
            <a:ext cx="3063240" cy="594360"/>
          </a:xfrm>
          <a:prstGeom prst="rect">
            <a:avLst/>
          </a:prstGeom>
          <a:noFill/>
          <a:ln/>
        </p:spPr>
        <p:txBody>
          <a:bodyPr wrap="square" lIns="0" tIns="0" rIns="0" bIns="0" rtlCol="0" anchor="ctr"/>
          <a:lstStyle/>
          <a:p>
            <a:pPr indent="0" marL="0">
              <a:buNone/>
            </a:pPr>
            <a:r>
              <a:rPr lang="en-US" sz="1400" dirty="0">
                <a:solidFill>
                  <a:schemeClr val="tx1"/>
                </a:solidFill>
              </a:rPr>
              <a:t>Verify important facts with trusted sources.</a:t>
            </a:r>
            <a:endParaRPr lang="en-US" sz="1400" dirty="0"/>
          </a:p>
        </p:txBody>
      </p:sp>
      <p:sp>
        <p:nvSpPr>
          <p:cNvPr id="23" name="IconBg 432"/>
          <p:cNvSpPr/>
          <p:nvPr/>
        </p:nvSpPr>
        <p:spPr>
          <a:xfrm>
            <a:off x="4892040" y="2596896"/>
            <a:ext cx="457200" cy="457200"/>
          </a:xfrm>
          <a:prstGeom prst="ellipse">
            <a:avLst/>
          </a:prstGeom>
          <a:solidFill>
            <a:schemeClr val="accent3"/>
          </a:solidFill>
          <a:ln/>
        </p:spPr>
      </p:sp>
      <p:pic>
        <p:nvPicPr>
          <p:cNvPr id="24" name="Image 5" descr="Book icon">    </p:cNvPr>
          <p:cNvPicPr>
            <a:picLocks noChangeAspect="1"/>
          </p:cNvPicPr>
          <p:nvPr/>
        </p:nvPicPr>
        <p:blipFill>
          <a:blip r:embed="rId6"/>
          <a:stretch>
            <a:fillRect/>
          </a:stretch>
        </p:blipFill>
        <p:spPr>
          <a:xfrm>
            <a:off x="5006340" y="2711196"/>
            <a:ext cx="228600" cy="228600"/>
          </a:xfrm>
          <a:prstGeom prst="rect">
            <a:avLst/>
          </a:prstGeom>
        </p:spPr>
      </p:pic>
      <p:sp>
        <p:nvSpPr>
          <p:cNvPr id="25" name="Text 433"/>
          <p:cNvSpPr txBox="1"/>
          <p:nvPr/>
        </p:nvSpPr>
        <p:spPr>
          <a:xfrm>
            <a:off x="5486400" y="2532888"/>
            <a:ext cx="3063240" cy="594360"/>
          </a:xfrm>
          <a:prstGeom prst="rect">
            <a:avLst/>
          </a:prstGeom>
          <a:noFill/>
          <a:ln/>
        </p:spPr>
        <p:txBody>
          <a:bodyPr wrap="square" lIns="0" tIns="0" rIns="0" bIns="0" rtlCol="0" anchor="ctr"/>
          <a:lstStyle/>
          <a:p>
            <a:pPr indent="0" marL="0">
              <a:buNone/>
            </a:pPr>
            <a:r>
              <a:rPr lang="en-US" sz="1400" dirty="0">
                <a:solidFill>
                  <a:schemeClr val="tx1"/>
                </a:solidFill>
              </a:rPr>
              <a:t>Provide your own documents as reference.</a:t>
            </a:r>
            <a:endParaRPr lang="en-US" sz="1400" dirty="0"/>
          </a:p>
        </p:txBody>
      </p:sp>
      <p:sp>
        <p:nvSpPr>
          <p:cNvPr id="26" name="IconBg 434"/>
          <p:cNvSpPr/>
          <p:nvPr/>
        </p:nvSpPr>
        <p:spPr>
          <a:xfrm>
            <a:off x="4892040" y="3300984"/>
            <a:ext cx="457200" cy="457200"/>
          </a:xfrm>
          <a:prstGeom prst="ellipse">
            <a:avLst/>
          </a:prstGeom>
          <a:solidFill>
            <a:schemeClr val="accent3"/>
          </a:solidFill>
          <a:ln/>
        </p:spPr>
      </p:sp>
      <p:pic>
        <p:nvPicPr>
          <p:cNvPr id="27" name="Image 6" descr="UserShield icon">    </p:cNvPr>
          <p:cNvPicPr>
            <a:picLocks noChangeAspect="1"/>
          </p:cNvPicPr>
          <p:nvPr/>
        </p:nvPicPr>
        <p:blipFill>
          <a:blip r:embed="rId7"/>
          <a:stretch>
            <a:fillRect/>
          </a:stretch>
        </p:blipFill>
        <p:spPr>
          <a:xfrm>
            <a:off x="5006340" y="3415284"/>
            <a:ext cx="228600" cy="228600"/>
          </a:xfrm>
          <a:prstGeom prst="rect">
            <a:avLst/>
          </a:prstGeom>
        </p:spPr>
      </p:pic>
      <p:sp>
        <p:nvSpPr>
          <p:cNvPr id="28" name="Text 435"/>
          <p:cNvSpPr txBox="1"/>
          <p:nvPr/>
        </p:nvSpPr>
        <p:spPr>
          <a:xfrm>
            <a:off x="5486400" y="3236976"/>
            <a:ext cx="3063240" cy="594360"/>
          </a:xfrm>
          <a:prstGeom prst="rect">
            <a:avLst/>
          </a:prstGeom>
          <a:noFill/>
          <a:ln/>
        </p:spPr>
        <p:txBody>
          <a:bodyPr wrap="square" lIns="0" tIns="0" rIns="0" bIns="0" rtlCol="0" anchor="ctr"/>
          <a:lstStyle/>
          <a:p>
            <a:pPr indent="0" marL="0">
              <a:buNone/>
            </a:pPr>
            <a:r>
              <a:rPr lang="en-US" sz="1400" dirty="0">
                <a:solidFill>
                  <a:schemeClr val="tx1"/>
                </a:solidFill>
              </a:rPr>
              <a:t>Keep a human in the loop for key decisions.</a:t>
            </a:r>
            <a:endParaRPr lang="en-US" sz="1400" dirty="0"/>
          </a:p>
        </p:txBody>
      </p:sp>
      <p:sp>
        <p:nvSpPr>
          <p:cNvPr id="29" name="IconBg 436"/>
          <p:cNvSpPr/>
          <p:nvPr/>
        </p:nvSpPr>
        <p:spPr>
          <a:xfrm>
            <a:off x="4892040" y="4005072"/>
            <a:ext cx="457200" cy="457200"/>
          </a:xfrm>
          <a:prstGeom prst="ellipse">
            <a:avLst/>
          </a:prstGeom>
          <a:solidFill>
            <a:schemeClr val="accent3"/>
          </a:solidFill>
          <a:ln/>
        </p:spPr>
      </p:sp>
      <p:pic>
        <p:nvPicPr>
          <p:cNvPr id="30" name="Image 7" descr="ShieldAlt icon">    </p:cNvPr>
          <p:cNvPicPr>
            <a:picLocks noChangeAspect="1"/>
          </p:cNvPicPr>
          <p:nvPr/>
        </p:nvPicPr>
        <p:blipFill>
          <a:blip r:embed="rId8"/>
          <a:stretch>
            <a:fillRect/>
          </a:stretch>
        </p:blipFill>
        <p:spPr>
          <a:xfrm>
            <a:off x="5006340" y="4119372"/>
            <a:ext cx="228600" cy="228600"/>
          </a:xfrm>
          <a:prstGeom prst="rect">
            <a:avLst/>
          </a:prstGeom>
        </p:spPr>
      </p:pic>
      <p:sp>
        <p:nvSpPr>
          <p:cNvPr id="31" name="Text 437"/>
          <p:cNvSpPr txBox="1"/>
          <p:nvPr/>
        </p:nvSpPr>
        <p:spPr>
          <a:xfrm>
            <a:off x="5486400" y="3941064"/>
            <a:ext cx="3063240" cy="594360"/>
          </a:xfrm>
          <a:prstGeom prst="rect">
            <a:avLst/>
          </a:prstGeom>
          <a:noFill/>
          <a:ln/>
        </p:spPr>
        <p:txBody>
          <a:bodyPr wrap="square" lIns="0" tIns="0" rIns="0" bIns="0" rtlCol="0" anchor="ctr"/>
          <a:lstStyle/>
          <a:p>
            <a:pPr indent="0" marL="0">
              <a:buNone/>
            </a:pPr>
            <a:r>
              <a:rPr lang="en-US" sz="1400" dirty="0">
                <a:solidFill>
                  <a:schemeClr val="tx1"/>
                </a:solidFill>
              </a:rPr>
              <a:t>Never paste passwords or private data.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What Is Prompt Engineering?</a:t>
            </a:r>
            <a:endParaRPr lang="en-US" sz="3000" dirty="0"/>
          </a:p>
        </p:txBody>
      </p:sp>
      <p:sp>
        <p:nvSpPr>
          <p:cNvPr id="4" name="Text 438"/>
          <p:cNvSpPr txBox="1"/>
          <p:nvPr/>
        </p:nvSpPr>
        <p:spPr>
          <a:xfrm>
            <a:off x="457200" y="1097280"/>
            <a:ext cx="8229600" cy="594360"/>
          </a:xfrm>
          <a:prstGeom prst="rect">
            <a:avLst/>
          </a:prstGeom>
          <a:noFill/>
          <a:ln/>
        </p:spPr>
        <p:txBody>
          <a:bodyPr wrap="square" lIns="0" tIns="0" rIns="0" bIns="0" rtlCol="0" anchor="t"/>
          <a:lstStyle/>
          <a:p>
            <a:pPr indent="0" marL="0">
              <a:buNone/>
            </a:pPr>
            <a:r>
              <a:rPr lang="en-US" sz="1700" dirty="0">
                <a:solidFill>
                  <a:schemeClr val="tx1"/>
                </a:solidFill>
              </a:rPr>
              <a:t>A prompt is the instruction you give an AI. Prompt engineering is writing it so the AI gives better answers.</a:t>
            </a:r>
            <a:endParaRPr lang="en-US" sz="1700" dirty="0"/>
          </a:p>
        </p:txBody>
      </p:sp>
      <p:sp>
        <p:nvSpPr>
          <p:cNvPr id="5" name="Card 439"/>
          <p:cNvSpPr/>
          <p:nvPr/>
        </p:nvSpPr>
        <p:spPr>
          <a:xfrm>
            <a:off x="457200" y="1828800"/>
            <a:ext cx="4023360" cy="2148840"/>
          </a:xfrm>
          <a:prstGeom prst="roundRect">
            <a:avLst>
              <a:gd name="adj" fmla="val 3404"/>
            </a:avLst>
          </a:prstGeom>
          <a:solidFill>
            <a:srgbClr val="FCE4EB"/>
          </a:solidFill>
          <a:ln/>
        </p:spPr>
      </p:sp>
      <p:sp>
        <p:nvSpPr>
          <p:cNvPr id="6" name="Chip 440"/>
          <p:cNvSpPr txBox="1"/>
          <p:nvPr/>
        </p:nvSpPr>
        <p:spPr>
          <a:xfrm>
            <a:off x="685800" y="1993392"/>
            <a:ext cx="1737360" cy="365760"/>
          </a:xfrm>
          <a:prstGeom prst="roundRect">
            <a:avLst>
              <a:gd name="adj" fmla="val 20000"/>
            </a:avLst>
          </a:prstGeom>
          <a:solidFill>
            <a:schemeClr val="accent4"/>
          </a:solidFill>
          <a:ln/>
        </p:spPr>
        <p:txBody>
          <a:bodyPr wrap="square" lIns="381" tIns="381" rIns="381" bIns="381" rtlCol="0" anchor="ctr"/>
          <a:lstStyle/>
          <a:p>
            <a:pPr algn="ctr" indent="0" marL="0">
              <a:buNone/>
            </a:pPr>
            <a:r>
              <a:rPr lang="en-US" sz="1400" b="1" dirty="0">
                <a:solidFill>
                  <a:schemeClr val="bg1"/>
                </a:solidFill>
              </a:rPr>
              <a:t>Vague prompt</a:t>
            </a:r>
            <a:endParaRPr lang="en-US" sz="1400" dirty="0"/>
          </a:p>
        </p:txBody>
      </p:sp>
      <p:sp>
        <p:nvSpPr>
          <p:cNvPr id="7" name="Card 441"/>
          <p:cNvSpPr/>
          <p:nvPr/>
        </p:nvSpPr>
        <p:spPr>
          <a:xfrm>
            <a:off x="685800" y="2514600"/>
            <a:ext cx="3566160" cy="868680"/>
          </a:xfrm>
          <a:prstGeom prst="roundRect">
            <a:avLst>
              <a:gd name="adj" fmla="val 8421"/>
            </a:avLst>
          </a:prstGeom>
          <a:solidFill>
            <a:schemeClr val="bg1"/>
          </a:solidFill>
          <a:ln/>
        </p:spPr>
      </p:sp>
      <p:sp>
        <p:nvSpPr>
          <p:cNvPr id="8" name="Text 442"/>
          <p:cNvSpPr txBox="1"/>
          <p:nvPr/>
        </p:nvSpPr>
        <p:spPr>
          <a:xfrm>
            <a:off x="822960" y="2514600"/>
            <a:ext cx="3291840" cy="868680"/>
          </a:xfrm>
          <a:prstGeom prst="rect">
            <a:avLst/>
          </a:prstGeom>
          <a:noFill/>
          <a:ln/>
        </p:spPr>
        <p:txBody>
          <a:bodyPr wrap="square" lIns="0" tIns="0" rIns="0" bIns="0" rtlCol="0" anchor="ctr"/>
          <a:lstStyle/>
          <a:p>
            <a:pPr indent="0" marL="0">
              <a:buNone/>
            </a:pPr>
            <a:r>
              <a:rPr lang="en-US" sz="1500" i="1" dirty="0">
                <a:solidFill>
                  <a:schemeClr val="tx1"/>
                </a:solidFill>
              </a:rPr>
              <a:t>“Tell me about AI.”</a:t>
            </a:r>
            <a:endParaRPr lang="en-US" sz="1500" dirty="0"/>
          </a:p>
        </p:txBody>
      </p:sp>
      <p:sp>
        <p:nvSpPr>
          <p:cNvPr id="9" name="Text 443"/>
          <p:cNvSpPr txBox="1"/>
          <p:nvPr/>
        </p:nvSpPr>
        <p:spPr>
          <a:xfrm>
            <a:off x="685800" y="3474720"/>
            <a:ext cx="3566160" cy="365760"/>
          </a:xfrm>
          <a:prstGeom prst="rect">
            <a:avLst/>
          </a:prstGeom>
          <a:noFill/>
          <a:ln/>
        </p:spPr>
        <p:txBody>
          <a:bodyPr wrap="square" lIns="0" tIns="0" rIns="0" bIns="0" rtlCol="0" anchor="ctr"/>
          <a:lstStyle/>
          <a:p>
            <a:pPr indent="0" marL="0">
              <a:buNone/>
            </a:pPr>
            <a:r>
              <a:rPr lang="en-US" sz="1500" b="1" dirty="0">
                <a:solidFill>
                  <a:schemeClr val="tx1"/>
                </a:solidFill>
              </a:rPr>
              <a:t>Result: </a:t>
            </a:r>
            <a:pPr indent="0" marL="0">
              <a:buNone/>
            </a:pPr>
            <a:r>
              <a:rPr lang="en-US" sz="1500" dirty="0">
                <a:solidFill>
                  <a:schemeClr val="tx1"/>
                </a:solidFill>
              </a:rPr>
              <a:t>Long, generic, unfocused</a:t>
            </a:r>
            <a:endParaRPr lang="en-US" sz="1500" dirty="0"/>
          </a:p>
        </p:txBody>
      </p:sp>
      <p:sp>
        <p:nvSpPr>
          <p:cNvPr id="10" name="Card 444"/>
          <p:cNvSpPr/>
          <p:nvPr/>
        </p:nvSpPr>
        <p:spPr>
          <a:xfrm>
            <a:off x="4663440" y="1828800"/>
            <a:ext cx="4023360" cy="2148840"/>
          </a:xfrm>
          <a:prstGeom prst="roundRect">
            <a:avLst>
              <a:gd name="adj" fmla="val 3404"/>
            </a:avLst>
          </a:prstGeom>
          <a:solidFill>
            <a:srgbClr val="DDF1F0"/>
          </a:solidFill>
          <a:ln/>
        </p:spPr>
      </p:sp>
      <p:sp>
        <p:nvSpPr>
          <p:cNvPr id="11" name="Chip 445"/>
          <p:cNvSpPr txBox="1"/>
          <p:nvPr/>
        </p:nvSpPr>
        <p:spPr>
          <a:xfrm>
            <a:off x="4892040" y="1993392"/>
            <a:ext cx="1737360" cy="365760"/>
          </a:xfrm>
          <a:prstGeom prst="roundRect">
            <a:avLst>
              <a:gd name="adj" fmla="val 20000"/>
            </a:avLst>
          </a:prstGeom>
          <a:solidFill>
            <a:schemeClr val="accent3"/>
          </a:solidFill>
          <a:ln/>
        </p:spPr>
        <p:txBody>
          <a:bodyPr wrap="square" lIns="381" tIns="381" rIns="381" bIns="381" rtlCol="0" anchor="ctr"/>
          <a:lstStyle/>
          <a:p>
            <a:pPr algn="ctr" indent="0" marL="0">
              <a:buNone/>
            </a:pPr>
            <a:r>
              <a:rPr lang="en-US" sz="1400" b="1" dirty="0">
                <a:solidFill>
                  <a:schemeClr val="bg1"/>
                </a:solidFill>
              </a:rPr>
              <a:t>Specific prompt</a:t>
            </a:r>
            <a:endParaRPr lang="en-US" sz="1400" dirty="0"/>
          </a:p>
        </p:txBody>
      </p:sp>
      <p:sp>
        <p:nvSpPr>
          <p:cNvPr id="12" name="Card 446"/>
          <p:cNvSpPr/>
          <p:nvPr/>
        </p:nvSpPr>
        <p:spPr>
          <a:xfrm>
            <a:off x="4892040" y="2514600"/>
            <a:ext cx="3566160" cy="868680"/>
          </a:xfrm>
          <a:prstGeom prst="roundRect">
            <a:avLst>
              <a:gd name="adj" fmla="val 8421"/>
            </a:avLst>
          </a:prstGeom>
          <a:solidFill>
            <a:schemeClr val="bg1"/>
          </a:solidFill>
          <a:ln/>
        </p:spPr>
      </p:sp>
      <p:sp>
        <p:nvSpPr>
          <p:cNvPr id="13" name="Text 447"/>
          <p:cNvSpPr txBox="1"/>
          <p:nvPr/>
        </p:nvSpPr>
        <p:spPr>
          <a:xfrm>
            <a:off x="5029200" y="2514600"/>
            <a:ext cx="3291840" cy="868680"/>
          </a:xfrm>
          <a:prstGeom prst="rect">
            <a:avLst/>
          </a:prstGeom>
          <a:noFill/>
          <a:ln/>
        </p:spPr>
        <p:txBody>
          <a:bodyPr wrap="square" lIns="0" tIns="0" rIns="0" bIns="0" rtlCol="0" anchor="ctr"/>
          <a:lstStyle/>
          <a:p>
            <a:pPr indent="0" marL="0">
              <a:buNone/>
            </a:pPr>
            <a:r>
              <a:rPr lang="en-US" sz="1500" i="1" dirty="0">
                <a:solidFill>
                  <a:schemeClr val="tx1"/>
                </a:solidFill>
              </a:rPr>
              <a:t>“Explain AI in 3 bullet points for a 10-year-old, using a cooking analogy.”</a:t>
            </a:r>
            <a:endParaRPr lang="en-US" sz="1500" dirty="0"/>
          </a:p>
        </p:txBody>
      </p:sp>
      <p:sp>
        <p:nvSpPr>
          <p:cNvPr id="14" name="Text 448"/>
          <p:cNvSpPr txBox="1"/>
          <p:nvPr/>
        </p:nvSpPr>
        <p:spPr>
          <a:xfrm>
            <a:off x="4892040" y="3474720"/>
            <a:ext cx="3566160" cy="365760"/>
          </a:xfrm>
          <a:prstGeom prst="rect">
            <a:avLst/>
          </a:prstGeom>
          <a:noFill/>
          <a:ln/>
        </p:spPr>
        <p:txBody>
          <a:bodyPr wrap="square" lIns="0" tIns="0" rIns="0" bIns="0" rtlCol="0" anchor="ctr"/>
          <a:lstStyle/>
          <a:p>
            <a:pPr indent="0" marL="0">
              <a:buNone/>
            </a:pPr>
            <a:r>
              <a:rPr lang="en-US" sz="1500" b="1" dirty="0">
                <a:solidFill>
                  <a:schemeClr val="tx1"/>
                </a:solidFill>
              </a:rPr>
              <a:t>Result: </a:t>
            </a:r>
            <a:pPr indent="0" marL="0">
              <a:buNone/>
            </a:pPr>
            <a:r>
              <a:rPr lang="en-US" sz="1500" dirty="0">
                <a:solidFill>
                  <a:schemeClr val="tx1"/>
                </a:solidFill>
              </a:rPr>
              <a:t>Short, clear, right level</a:t>
            </a:r>
            <a:endParaRPr lang="en-US" sz="1500" dirty="0"/>
          </a:p>
        </p:txBody>
      </p:sp>
      <p:sp>
        <p:nvSpPr>
          <p:cNvPr id="15" name="Card 449"/>
          <p:cNvSpPr/>
          <p:nvPr/>
        </p:nvSpPr>
        <p:spPr>
          <a:xfrm>
            <a:off x="457200" y="4160520"/>
            <a:ext cx="8229600" cy="502920"/>
          </a:xfrm>
          <a:prstGeom prst="roundRect">
            <a:avLst>
              <a:gd name="adj" fmla="val 14545"/>
            </a:avLst>
          </a:prstGeom>
          <a:solidFill>
            <a:schemeClr val="tx2"/>
          </a:solidFill>
          <a:ln/>
        </p:spPr>
      </p:sp>
      <p:sp>
        <p:nvSpPr>
          <p:cNvPr id="16" name="Text 450"/>
          <p:cNvSpPr txBox="1"/>
          <p:nvPr/>
        </p:nvSpPr>
        <p:spPr>
          <a:xfrm>
            <a:off x="685800" y="4160520"/>
            <a:ext cx="7772400" cy="502920"/>
          </a:xfrm>
          <a:prstGeom prst="rect">
            <a:avLst/>
          </a:prstGeom>
          <a:noFill/>
          <a:ln/>
        </p:spPr>
        <p:txBody>
          <a:bodyPr wrap="square" lIns="0" tIns="0" rIns="0" bIns="0" rtlCol="0" anchor="ctr"/>
          <a:lstStyle/>
          <a:p>
            <a:pPr indent="0" marL="0">
              <a:buNone/>
            </a:pPr>
            <a:r>
              <a:rPr lang="en-US" sz="1600" b="1" dirty="0">
                <a:solidFill>
                  <a:schemeClr val="bg1"/>
                </a:solidFill>
              </a:rPr>
              <a:t>Same AI model. Better prompt means a much better answer.</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Anatomy of a Good Prompt</a:t>
            </a:r>
            <a:endParaRPr lang="en-US" sz="3000" dirty="0"/>
          </a:p>
        </p:txBody>
      </p:sp>
      <p:sp>
        <p:nvSpPr>
          <p:cNvPr id="4" name="Card 451"/>
          <p:cNvSpPr/>
          <p:nvPr/>
        </p:nvSpPr>
        <p:spPr>
          <a:xfrm>
            <a:off x="457200" y="1143000"/>
            <a:ext cx="3566160" cy="621792"/>
          </a:xfrm>
          <a:prstGeom prst="roundRect">
            <a:avLst>
              <a:gd name="adj" fmla="val 11765"/>
            </a:avLst>
          </a:prstGeom>
          <a:solidFill>
            <a:srgbClr val="E0E1FA"/>
          </a:solidFill>
          <a:ln/>
        </p:spPr>
      </p:sp>
      <p:sp>
        <p:nvSpPr>
          <p:cNvPr id="5" name="Badge 452"/>
          <p:cNvSpPr txBox="1"/>
          <p:nvPr/>
        </p:nvSpPr>
        <p:spPr>
          <a:xfrm>
            <a:off x="594360" y="1252728"/>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53"/>
          <p:cNvSpPr txBox="1"/>
          <p:nvPr/>
        </p:nvSpPr>
        <p:spPr>
          <a:xfrm>
            <a:off x="1143000" y="1143000"/>
            <a:ext cx="2743200" cy="621792"/>
          </a:xfrm>
          <a:prstGeom prst="rect">
            <a:avLst/>
          </a:prstGeom>
          <a:noFill/>
          <a:ln/>
        </p:spPr>
        <p:txBody>
          <a:bodyPr wrap="square" lIns="0" tIns="0" rIns="0" bIns="0" rtlCol="0" anchor="ctr"/>
          <a:lstStyle/>
          <a:p>
            <a:pPr indent="0" marL="0">
              <a:buNone/>
            </a:pPr>
            <a:r>
              <a:rPr lang="en-US" sz="1600" b="1" dirty="0">
                <a:solidFill>
                  <a:schemeClr val="tx2"/>
                </a:solidFill>
              </a:rPr>
              <a:t>Role</a:t>
            </a:r>
            <a:endParaRPr lang="en-US" sz="1400" dirty="0"/>
          </a:p>
          <a:p>
            <a:pPr indent="0" marL="0">
              <a:buNone/>
            </a:pPr>
            <a:r>
              <a:rPr lang="en-US" sz="1300" dirty="0">
                <a:solidFill>
                  <a:schemeClr val="tx1"/>
                </a:solidFill>
              </a:rPr>
              <a:t>Who should the AI be?</a:t>
            </a:r>
            <a:endParaRPr lang="en-US" sz="1400" dirty="0"/>
          </a:p>
        </p:txBody>
      </p:sp>
      <p:sp>
        <p:nvSpPr>
          <p:cNvPr id="7" name="Card 454"/>
          <p:cNvSpPr/>
          <p:nvPr/>
        </p:nvSpPr>
        <p:spPr>
          <a:xfrm>
            <a:off x="457200" y="1856232"/>
            <a:ext cx="3566160" cy="621792"/>
          </a:xfrm>
          <a:prstGeom prst="roundRect">
            <a:avLst>
              <a:gd name="adj" fmla="val 11765"/>
            </a:avLst>
          </a:prstGeom>
          <a:solidFill>
            <a:srgbClr val="FFE8C2"/>
          </a:solidFill>
          <a:ln/>
        </p:spPr>
      </p:sp>
      <p:sp>
        <p:nvSpPr>
          <p:cNvPr id="8" name="Badge 455"/>
          <p:cNvSpPr txBox="1"/>
          <p:nvPr/>
        </p:nvSpPr>
        <p:spPr>
          <a:xfrm>
            <a:off x="594360" y="1965960"/>
            <a:ext cx="402336" cy="402336"/>
          </a:xfrm>
          <a:prstGeom prst="ellipse">
            <a:avLst/>
          </a:prstGeom>
          <a:solidFill>
            <a:schemeClr val="accent2"/>
          </a:solidFill>
          <a:ln/>
        </p:spPr>
        <p:txBody>
          <a:bodyPr wrap="square" lIns="0" tIns="0" rIns="0" bIns="0" rtlCol="0" anchor="ctr"/>
          <a:lstStyle/>
          <a:p>
            <a:pPr algn="ctr" indent="0" marL="0">
              <a:buNone/>
            </a:pPr>
            <a:r>
              <a:rPr lang="en-US" sz="1500" b="1" dirty="0">
                <a:solidFill>
                  <a:schemeClr val="tx1"/>
                </a:solidFill>
              </a:rPr>
              <a:t>2</a:t>
            </a:r>
            <a:endParaRPr lang="en-US" sz="1500" dirty="0"/>
          </a:p>
        </p:txBody>
      </p:sp>
      <p:sp>
        <p:nvSpPr>
          <p:cNvPr id="9" name="Text 456"/>
          <p:cNvSpPr txBox="1"/>
          <p:nvPr/>
        </p:nvSpPr>
        <p:spPr>
          <a:xfrm>
            <a:off x="1143000" y="1856232"/>
            <a:ext cx="2743200" cy="621792"/>
          </a:xfrm>
          <a:prstGeom prst="rect">
            <a:avLst/>
          </a:prstGeom>
          <a:noFill/>
          <a:ln/>
        </p:spPr>
        <p:txBody>
          <a:bodyPr wrap="square" lIns="0" tIns="0" rIns="0" bIns="0" rtlCol="0" anchor="ctr"/>
          <a:lstStyle/>
          <a:p>
            <a:pPr indent="0" marL="0">
              <a:buNone/>
            </a:pPr>
            <a:r>
              <a:rPr lang="en-US" sz="1600" b="1" dirty="0">
                <a:solidFill>
                  <a:schemeClr val="tx2"/>
                </a:solidFill>
              </a:rPr>
              <a:t>Task</a:t>
            </a:r>
            <a:endParaRPr lang="en-US" sz="1400" dirty="0"/>
          </a:p>
          <a:p>
            <a:pPr indent="0" marL="0">
              <a:buNone/>
            </a:pPr>
            <a:r>
              <a:rPr lang="en-US" sz="1300" dirty="0">
                <a:solidFill>
                  <a:schemeClr val="tx1"/>
                </a:solidFill>
              </a:rPr>
              <a:t>What exactly should it do?</a:t>
            </a:r>
            <a:endParaRPr lang="en-US" sz="1400" dirty="0"/>
          </a:p>
        </p:txBody>
      </p:sp>
      <p:sp>
        <p:nvSpPr>
          <p:cNvPr id="10" name="Card 457"/>
          <p:cNvSpPr/>
          <p:nvPr/>
        </p:nvSpPr>
        <p:spPr>
          <a:xfrm>
            <a:off x="457200" y="2569464"/>
            <a:ext cx="3566160" cy="621792"/>
          </a:xfrm>
          <a:prstGeom prst="roundRect">
            <a:avLst>
              <a:gd name="adj" fmla="val 11765"/>
            </a:avLst>
          </a:prstGeom>
          <a:solidFill>
            <a:srgbClr val="D5F1EE"/>
          </a:solidFill>
          <a:ln/>
        </p:spPr>
      </p:sp>
      <p:sp>
        <p:nvSpPr>
          <p:cNvPr id="11" name="Badge 458"/>
          <p:cNvSpPr txBox="1"/>
          <p:nvPr/>
        </p:nvSpPr>
        <p:spPr>
          <a:xfrm>
            <a:off x="594360" y="2679192"/>
            <a:ext cx="402336" cy="402336"/>
          </a:xfrm>
          <a:prstGeom prst="ellipse">
            <a:avLst/>
          </a:prstGeom>
          <a:solidFill>
            <a:schemeClr val="accent3"/>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2" name="Text 459"/>
          <p:cNvSpPr txBox="1"/>
          <p:nvPr/>
        </p:nvSpPr>
        <p:spPr>
          <a:xfrm>
            <a:off x="1143000" y="2569464"/>
            <a:ext cx="2743200" cy="621792"/>
          </a:xfrm>
          <a:prstGeom prst="rect">
            <a:avLst/>
          </a:prstGeom>
          <a:noFill/>
          <a:ln/>
        </p:spPr>
        <p:txBody>
          <a:bodyPr wrap="square" lIns="0" tIns="0" rIns="0" bIns="0" rtlCol="0" anchor="ctr"/>
          <a:lstStyle/>
          <a:p>
            <a:pPr indent="0" marL="0">
              <a:buNone/>
            </a:pPr>
            <a:r>
              <a:rPr lang="en-US" sz="1600" b="1" dirty="0">
                <a:solidFill>
                  <a:schemeClr val="tx2"/>
                </a:solidFill>
              </a:rPr>
              <a:t>Context</a:t>
            </a:r>
            <a:endParaRPr lang="en-US" sz="1400" dirty="0"/>
          </a:p>
          <a:p>
            <a:pPr indent="0" marL="0">
              <a:buNone/>
            </a:pPr>
            <a:r>
              <a:rPr lang="en-US" sz="1300" dirty="0">
                <a:solidFill>
                  <a:schemeClr val="tx1"/>
                </a:solidFill>
              </a:rPr>
              <a:t>Background and audience</a:t>
            </a:r>
            <a:endParaRPr lang="en-US" sz="1400" dirty="0"/>
          </a:p>
        </p:txBody>
      </p:sp>
      <p:sp>
        <p:nvSpPr>
          <p:cNvPr id="13" name="Card 460"/>
          <p:cNvSpPr/>
          <p:nvPr/>
        </p:nvSpPr>
        <p:spPr>
          <a:xfrm>
            <a:off x="457200" y="3282696"/>
            <a:ext cx="3566160" cy="621792"/>
          </a:xfrm>
          <a:prstGeom prst="roundRect">
            <a:avLst>
              <a:gd name="adj" fmla="val 11765"/>
            </a:avLst>
          </a:prstGeom>
          <a:solidFill>
            <a:srgbClr val="FBDDE7"/>
          </a:solidFill>
          <a:ln/>
        </p:spPr>
      </p:sp>
      <p:sp>
        <p:nvSpPr>
          <p:cNvPr id="14" name="Badge 461"/>
          <p:cNvSpPr txBox="1"/>
          <p:nvPr/>
        </p:nvSpPr>
        <p:spPr>
          <a:xfrm>
            <a:off x="594360" y="3392424"/>
            <a:ext cx="402336" cy="402336"/>
          </a:xfrm>
          <a:prstGeom prst="ellipse">
            <a:avLst/>
          </a:prstGeom>
          <a:solidFill>
            <a:schemeClr val="accent4"/>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5" name="Text 462"/>
          <p:cNvSpPr txBox="1"/>
          <p:nvPr/>
        </p:nvSpPr>
        <p:spPr>
          <a:xfrm>
            <a:off x="1143000" y="3282696"/>
            <a:ext cx="2743200" cy="621792"/>
          </a:xfrm>
          <a:prstGeom prst="rect">
            <a:avLst/>
          </a:prstGeom>
          <a:noFill/>
          <a:ln/>
        </p:spPr>
        <p:txBody>
          <a:bodyPr wrap="square" lIns="0" tIns="0" rIns="0" bIns="0" rtlCol="0" anchor="ctr"/>
          <a:lstStyle/>
          <a:p>
            <a:pPr indent="0" marL="0">
              <a:buNone/>
            </a:pPr>
            <a:r>
              <a:rPr lang="en-US" sz="1600" b="1" dirty="0">
                <a:solidFill>
                  <a:schemeClr val="tx2"/>
                </a:solidFill>
              </a:rPr>
              <a:t>Format</a:t>
            </a:r>
            <a:endParaRPr lang="en-US" sz="1400" dirty="0"/>
          </a:p>
          <a:p>
            <a:pPr indent="0" marL="0">
              <a:buNone/>
            </a:pPr>
            <a:r>
              <a:rPr lang="en-US" sz="1300" dirty="0">
                <a:solidFill>
                  <a:schemeClr val="tx1"/>
                </a:solidFill>
              </a:rPr>
              <a:t>Shape of the answer</a:t>
            </a:r>
            <a:endParaRPr lang="en-US" sz="1400" dirty="0"/>
          </a:p>
        </p:txBody>
      </p:sp>
      <p:sp>
        <p:nvSpPr>
          <p:cNvPr id="16" name="Card 463"/>
          <p:cNvSpPr/>
          <p:nvPr/>
        </p:nvSpPr>
        <p:spPr>
          <a:xfrm>
            <a:off x="457200" y="3995928"/>
            <a:ext cx="3566160" cy="621792"/>
          </a:xfrm>
          <a:prstGeom prst="roundRect">
            <a:avLst>
              <a:gd name="adj" fmla="val 11765"/>
            </a:avLst>
          </a:prstGeom>
          <a:solidFill>
            <a:srgbClr val="E6DEF8"/>
          </a:solidFill>
          <a:ln/>
        </p:spPr>
      </p:sp>
      <p:sp>
        <p:nvSpPr>
          <p:cNvPr id="17" name="Badge 464"/>
          <p:cNvSpPr txBox="1"/>
          <p:nvPr/>
        </p:nvSpPr>
        <p:spPr>
          <a:xfrm>
            <a:off x="594360" y="4105656"/>
            <a:ext cx="402336" cy="402336"/>
          </a:xfrm>
          <a:prstGeom prst="ellipse">
            <a:avLst/>
          </a:prstGeom>
          <a:solidFill>
            <a:schemeClr val="accent5"/>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18" name="Text 465"/>
          <p:cNvSpPr txBox="1"/>
          <p:nvPr/>
        </p:nvSpPr>
        <p:spPr>
          <a:xfrm>
            <a:off x="1143000" y="3995928"/>
            <a:ext cx="2743200" cy="621792"/>
          </a:xfrm>
          <a:prstGeom prst="rect">
            <a:avLst/>
          </a:prstGeom>
          <a:noFill/>
          <a:ln/>
        </p:spPr>
        <p:txBody>
          <a:bodyPr wrap="square" lIns="0" tIns="0" rIns="0" bIns="0" rtlCol="0" anchor="ctr"/>
          <a:lstStyle/>
          <a:p>
            <a:pPr indent="0" marL="0">
              <a:buNone/>
            </a:pPr>
            <a:r>
              <a:rPr lang="en-US" sz="1600" b="1" dirty="0">
                <a:solidFill>
                  <a:schemeClr val="tx2"/>
                </a:solidFill>
              </a:rPr>
              <a:t>Constraints</a:t>
            </a:r>
            <a:endParaRPr lang="en-US" sz="1400" dirty="0"/>
          </a:p>
          <a:p>
            <a:pPr indent="0" marL="0">
              <a:buNone/>
            </a:pPr>
            <a:r>
              <a:rPr lang="en-US" sz="1300" dirty="0">
                <a:solidFill>
                  <a:schemeClr val="tx1"/>
                </a:solidFill>
              </a:rPr>
              <a:t>Limits and style rules</a:t>
            </a:r>
            <a:endParaRPr lang="en-US" sz="1400" dirty="0"/>
          </a:p>
        </p:txBody>
      </p:sp>
      <p:sp>
        <p:nvSpPr>
          <p:cNvPr id="19" name="Card 466"/>
          <p:cNvSpPr/>
          <p:nvPr/>
        </p:nvSpPr>
        <p:spPr>
          <a:xfrm>
            <a:off x="4297680" y="1143000"/>
            <a:ext cx="4389120" cy="3520440"/>
          </a:xfrm>
          <a:prstGeom prst="roundRect">
            <a:avLst>
              <a:gd name="adj" fmla="val 2078"/>
            </a:avLst>
          </a:prstGeom>
          <a:solidFill>
            <a:schemeClr val="bg2"/>
          </a:solidFill>
          <a:ln/>
        </p:spPr>
      </p:sp>
      <p:sp>
        <p:nvSpPr>
          <p:cNvPr id="20" name="Text 467"/>
          <p:cNvSpPr txBox="1"/>
          <p:nvPr/>
        </p:nvSpPr>
        <p:spPr>
          <a:xfrm>
            <a:off x="4526280" y="1280160"/>
            <a:ext cx="3931920" cy="228600"/>
          </a:xfrm>
          <a:prstGeom prst="rect">
            <a:avLst/>
          </a:prstGeom>
          <a:noFill/>
          <a:ln/>
        </p:spPr>
        <p:txBody>
          <a:bodyPr wrap="square" lIns="0" tIns="0" rIns="0" bIns="0" rtlCol="0" anchor="t"/>
          <a:lstStyle/>
          <a:p>
            <a:pPr indent="0" marL="0">
              <a:buNone/>
            </a:pPr>
            <a:r>
              <a:rPr lang="en-US" sz="1100" b="1" dirty="0">
                <a:solidFill>
                  <a:schemeClr val="accent1"/>
                </a:solidFill>
              </a:rPr>
              <a:t>EXAMPLE PROMPT</a:t>
            </a:r>
            <a:endParaRPr lang="en-US" sz="1100" dirty="0"/>
          </a:p>
        </p:txBody>
      </p:sp>
      <p:sp>
        <p:nvSpPr>
          <p:cNvPr id="21" name="Text 468"/>
          <p:cNvSpPr txBox="1"/>
          <p:nvPr/>
        </p:nvSpPr>
        <p:spPr>
          <a:xfrm>
            <a:off x="4526280" y="1645920"/>
            <a:ext cx="3931920" cy="2194560"/>
          </a:xfrm>
          <a:prstGeom prst="rect">
            <a:avLst/>
          </a:prstGeom>
          <a:noFill/>
          <a:ln/>
        </p:spPr>
        <p:txBody>
          <a:bodyPr wrap="square" lIns="0" tIns="0" rIns="0" bIns="0" rtlCol="0" anchor="t"/>
          <a:lstStyle/>
          <a:p>
            <a:pPr indent="0" marL="0">
              <a:lnSpc>
                <a:spcPct val="120000"/>
              </a:lnSpc>
              <a:buNone/>
            </a:pPr>
            <a:r>
              <a:rPr lang="en-US" sz="1700" dirty="0">
                <a:solidFill>
                  <a:schemeClr val="tx1"/>
                </a:solidFill>
                <a:highlight>
                  <a:srgbClr val="E0E1FA"/>
                </a:highlight>
              </a:rPr>
              <a:t>You are a friendly science teacher. </a:t>
            </a:r>
            <a:pPr indent="0" marL="0">
              <a:lnSpc>
                <a:spcPct val="120000"/>
              </a:lnSpc>
              <a:buNone/>
            </a:pPr>
            <a:r>
              <a:rPr lang="en-US" sz="1700" dirty="0">
                <a:solidFill>
                  <a:schemeClr val="tx1"/>
                </a:solidFill>
                <a:highlight>
                  <a:srgbClr val="FFE8C2"/>
                </a:highlight>
              </a:rPr>
              <a:t>Explain how a Transformer works </a:t>
            </a:r>
            <a:pPr indent="0" marL="0">
              <a:lnSpc>
                <a:spcPct val="120000"/>
              </a:lnSpc>
              <a:buNone/>
            </a:pPr>
            <a:r>
              <a:rPr lang="en-US" sz="1700" dirty="0">
                <a:solidFill>
                  <a:schemeClr val="tx1"/>
                </a:solidFill>
                <a:highlight>
                  <a:srgbClr val="D5F1EE"/>
                </a:highlight>
              </a:rPr>
              <a:t>to a 10-year-old who loves football. </a:t>
            </a:r>
            <a:pPr indent="0" marL="0">
              <a:lnSpc>
                <a:spcPct val="120000"/>
              </a:lnSpc>
              <a:buNone/>
            </a:pPr>
            <a:r>
              <a:rPr lang="en-US" sz="1700" dirty="0">
                <a:solidFill>
                  <a:schemeClr val="tx1"/>
                </a:solidFill>
                <a:highlight>
                  <a:srgbClr val="FBDDE7"/>
                </a:highlight>
              </a:rPr>
              <a:t>Use 3 short bullet points </a:t>
            </a:r>
            <a:pPr indent="0" marL="0">
              <a:lnSpc>
                <a:spcPct val="120000"/>
              </a:lnSpc>
              <a:buNone/>
            </a:pPr>
            <a:r>
              <a:rPr lang="en-US" sz="1700" dirty="0">
                <a:solidFill>
                  <a:schemeClr val="tx1"/>
                </a:solidFill>
                <a:highlight>
                  <a:srgbClr val="E6DEF8"/>
                </a:highlight>
              </a:rPr>
              <a:t>and avoid technical jargon.</a:t>
            </a:r>
            <a:endParaRPr lang="en-US" sz="1700" dirty="0"/>
          </a:p>
        </p:txBody>
      </p:sp>
      <p:sp>
        <p:nvSpPr>
          <p:cNvPr id="22" name="Text 469"/>
          <p:cNvSpPr txBox="1"/>
          <p:nvPr/>
        </p:nvSpPr>
        <p:spPr>
          <a:xfrm>
            <a:off x="4526280" y="3566160"/>
            <a:ext cx="3931920" cy="320040"/>
          </a:xfrm>
          <a:prstGeom prst="rect">
            <a:avLst/>
          </a:prstGeom>
          <a:noFill/>
          <a:ln/>
        </p:spPr>
        <p:txBody>
          <a:bodyPr wrap="square" lIns="0" tIns="0" rIns="0" bIns="0" rtlCol="0" anchor="t"/>
          <a:lstStyle/>
          <a:p>
            <a:pPr indent="0" marL="0">
              <a:buNone/>
            </a:pPr>
            <a:r>
              <a:rPr lang="en-US" sz="1200" i="1" dirty="0">
                <a:solidFill>
                  <a:schemeClr val="tx1"/>
                </a:solidFill>
              </a:rPr>
              <a:t>Each highlight colour matches a block on the left.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Prompting Techniques</a:t>
            </a:r>
            <a:endParaRPr lang="en-US" sz="3000" dirty="0"/>
          </a:p>
        </p:txBody>
      </p:sp>
      <p:sp>
        <p:nvSpPr>
          <p:cNvPr id="4" name="Card 470"/>
          <p:cNvSpPr/>
          <p:nvPr/>
        </p:nvSpPr>
        <p:spPr>
          <a:xfrm>
            <a:off x="457200" y="1143000"/>
            <a:ext cx="4023360" cy="1709928"/>
          </a:xfrm>
          <a:prstGeom prst="roundRect">
            <a:avLst>
              <a:gd name="adj" fmla="val 4278"/>
            </a:avLst>
          </a:prstGeom>
          <a:solidFill>
            <a:schemeClr val="bg2"/>
          </a:solidFill>
          <a:ln/>
        </p:spPr>
      </p:sp>
      <p:sp>
        <p:nvSpPr>
          <p:cNvPr id="5" name="Badge 471"/>
          <p:cNvSpPr txBox="1"/>
          <p:nvPr/>
        </p:nvSpPr>
        <p:spPr>
          <a:xfrm>
            <a:off x="640080" y="1280160"/>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472"/>
          <p:cNvSpPr txBox="1"/>
          <p:nvPr/>
        </p:nvSpPr>
        <p:spPr>
          <a:xfrm>
            <a:off x="1143000" y="1280160"/>
            <a:ext cx="3108960" cy="365760"/>
          </a:xfrm>
          <a:prstGeom prst="rect">
            <a:avLst/>
          </a:prstGeom>
          <a:noFill/>
          <a:ln/>
        </p:spPr>
        <p:txBody>
          <a:bodyPr wrap="square" lIns="0" tIns="0" rIns="0" bIns="0" rtlCol="0" anchor="ctr"/>
          <a:lstStyle/>
          <a:p>
            <a:pPr indent="0" marL="0">
              <a:buNone/>
            </a:pPr>
            <a:r>
              <a:rPr lang="en-US" sz="1800" b="1" dirty="0">
                <a:solidFill>
                  <a:schemeClr val="tx2"/>
                </a:solidFill>
              </a:rPr>
              <a:t>Zero-shot</a:t>
            </a:r>
            <a:endParaRPr lang="en-US" sz="1800" dirty="0"/>
          </a:p>
        </p:txBody>
      </p:sp>
      <p:sp>
        <p:nvSpPr>
          <p:cNvPr id="7" name="Text 473"/>
          <p:cNvSpPr txBox="1"/>
          <p:nvPr/>
        </p:nvSpPr>
        <p:spPr>
          <a:xfrm>
            <a:off x="685800" y="1764792"/>
            <a:ext cx="3566160" cy="274320"/>
          </a:xfrm>
          <a:prstGeom prst="rect">
            <a:avLst/>
          </a:prstGeom>
          <a:noFill/>
          <a:ln/>
        </p:spPr>
        <p:txBody>
          <a:bodyPr wrap="square" lIns="0" tIns="0" rIns="0" bIns="0" rtlCol="0" anchor="t"/>
          <a:lstStyle/>
          <a:p>
            <a:pPr indent="0" marL="0">
              <a:buNone/>
            </a:pPr>
            <a:r>
              <a:rPr lang="en-US" sz="1400" dirty="0">
                <a:solidFill>
                  <a:schemeClr val="tx1"/>
                </a:solidFill>
              </a:rPr>
              <a:t>Just ask, with no examples.</a:t>
            </a:r>
            <a:endParaRPr lang="en-US" sz="1400" dirty="0"/>
          </a:p>
        </p:txBody>
      </p:sp>
      <p:sp>
        <p:nvSpPr>
          <p:cNvPr id="8" name="Card 474"/>
          <p:cNvSpPr/>
          <p:nvPr/>
        </p:nvSpPr>
        <p:spPr>
          <a:xfrm>
            <a:off x="685800" y="2103120"/>
            <a:ext cx="3566160" cy="594360"/>
          </a:xfrm>
          <a:prstGeom prst="roundRect">
            <a:avLst>
              <a:gd name="adj" fmla="val 12308"/>
            </a:avLst>
          </a:prstGeom>
          <a:solidFill>
            <a:schemeClr val="bg1"/>
          </a:solidFill>
          <a:ln/>
        </p:spPr>
      </p:sp>
      <p:sp>
        <p:nvSpPr>
          <p:cNvPr id="9" name="Text 475"/>
          <p:cNvSpPr txBox="1"/>
          <p:nvPr/>
        </p:nvSpPr>
        <p:spPr>
          <a:xfrm>
            <a:off x="822960" y="2103120"/>
            <a:ext cx="3291840" cy="5943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Translate to French: Good morning</a:t>
            </a:r>
            <a:endParaRPr lang="en-US" sz="1200" dirty="0"/>
          </a:p>
        </p:txBody>
      </p:sp>
      <p:sp>
        <p:nvSpPr>
          <p:cNvPr id="10" name="Card 476"/>
          <p:cNvSpPr/>
          <p:nvPr/>
        </p:nvSpPr>
        <p:spPr>
          <a:xfrm>
            <a:off x="4663440" y="1143000"/>
            <a:ext cx="4023360" cy="1709928"/>
          </a:xfrm>
          <a:prstGeom prst="roundRect">
            <a:avLst>
              <a:gd name="adj" fmla="val 4278"/>
            </a:avLst>
          </a:prstGeom>
          <a:solidFill>
            <a:schemeClr val="bg2"/>
          </a:solidFill>
          <a:ln/>
        </p:spPr>
      </p:sp>
      <p:sp>
        <p:nvSpPr>
          <p:cNvPr id="11" name="Badge 477"/>
          <p:cNvSpPr txBox="1"/>
          <p:nvPr/>
        </p:nvSpPr>
        <p:spPr>
          <a:xfrm>
            <a:off x="4846320" y="1280160"/>
            <a:ext cx="365760" cy="36576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478"/>
          <p:cNvSpPr txBox="1"/>
          <p:nvPr/>
        </p:nvSpPr>
        <p:spPr>
          <a:xfrm>
            <a:off x="5349240" y="1280160"/>
            <a:ext cx="3108960" cy="365760"/>
          </a:xfrm>
          <a:prstGeom prst="rect">
            <a:avLst/>
          </a:prstGeom>
          <a:noFill/>
          <a:ln/>
        </p:spPr>
        <p:txBody>
          <a:bodyPr wrap="square" lIns="0" tIns="0" rIns="0" bIns="0" rtlCol="0" anchor="ctr"/>
          <a:lstStyle/>
          <a:p>
            <a:pPr indent="0" marL="0">
              <a:buNone/>
            </a:pPr>
            <a:r>
              <a:rPr lang="en-US" sz="1800" b="1" dirty="0">
                <a:solidFill>
                  <a:schemeClr val="tx2"/>
                </a:solidFill>
              </a:rPr>
              <a:t>Few-shot</a:t>
            </a:r>
            <a:endParaRPr lang="en-US" sz="1800" dirty="0"/>
          </a:p>
        </p:txBody>
      </p:sp>
      <p:sp>
        <p:nvSpPr>
          <p:cNvPr id="13" name="Text 479"/>
          <p:cNvSpPr txBox="1"/>
          <p:nvPr/>
        </p:nvSpPr>
        <p:spPr>
          <a:xfrm>
            <a:off x="4892040" y="1764792"/>
            <a:ext cx="3566160" cy="274320"/>
          </a:xfrm>
          <a:prstGeom prst="rect">
            <a:avLst/>
          </a:prstGeom>
          <a:noFill/>
          <a:ln/>
        </p:spPr>
        <p:txBody>
          <a:bodyPr wrap="square" lIns="0" tIns="0" rIns="0" bIns="0" rtlCol="0" anchor="t"/>
          <a:lstStyle/>
          <a:p>
            <a:pPr indent="0" marL="0">
              <a:buNone/>
            </a:pPr>
            <a:r>
              <a:rPr lang="en-US" sz="1400" dirty="0">
                <a:solidFill>
                  <a:schemeClr val="tx1"/>
                </a:solidFill>
              </a:rPr>
              <a:t>Show 2 or 3 examples first.</a:t>
            </a:r>
            <a:endParaRPr lang="en-US" sz="1400" dirty="0"/>
          </a:p>
        </p:txBody>
      </p:sp>
      <p:sp>
        <p:nvSpPr>
          <p:cNvPr id="14" name="Card 480"/>
          <p:cNvSpPr/>
          <p:nvPr/>
        </p:nvSpPr>
        <p:spPr>
          <a:xfrm>
            <a:off x="4892040" y="2103120"/>
            <a:ext cx="3566160" cy="594360"/>
          </a:xfrm>
          <a:prstGeom prst="roundRect">
            <a:avLst>
              <a:gd name="adj" fmla="val 12308"/>
            </a:avLst>
          </a:prstGeom>
          <a:solidFill>
            <a:schemeClr val="bg1"/>
          </a:solidFill>
          <a:ln/>
        </p:spPr>
      </p:sp>
      <p:sp>
        <p:nvSpPr>
          <p:cNvPr id="15" name="Text 481"/>
          <p:cNvSpPr txBox="1"/>
          <p:nvPr/>
        </p:nvSpPr>
        <p:spPr>
          <a:xfrm>
            <a:off x="5029200" y="2103120"/>
            <a:ext cx="3291840" cy="5943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Cat → animal, Rose → flower, Oak → ?</a:t>
            </a:r>
            <a:endParaRPr lang="en-US" sz="1200" dirty="0"/>
          </a:p>
        </p:txBody>
      </p:sp>
      <p:sp>
        <p:nvSpPr>
          <p:cNvPr id="16" name="Card 482"/>
          <p:cNvSpPr/>
          <p:nvPr/>
        </p:nvSpPr>
        <p:spPr>
          <a:xfrm>
            <a:off x="457200" y="2944368"/>
            <a:ext cx="4023360" cy="1709928"/>
          </a:xfrm>
          <a:prstGeom prst="roundRect">
            <a:avLst>
              <a:gd name="adj" fmla="val 4278"/>
            </a:avLst>
          </a:prstGeom>
          <a:solidFill>
            <a:schemeClr val="bg2"/>
          </a:solidFill>
          <a:ln/>
        </p:spPr>
      </p:sp>
      <p:sp>
        <p:nvSpPr>
          <p:cNvPr id="17" name="Badge 483"/>
          <p:cNvSpPr txBox="1"/>
          <p:nvPr/>
        </p:nvSpPr>
        <p:spPr>
          <a:xfrm>
            <a:off x="640080" y="3081528"/>
            <a:ext cx="365760" cy="365760"/>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484"/>
          <p:cNvSpPr txBox="1"/>
          <p:nvPr/>
        </p:nvSpPr>
        <p:spPr>
          <a:xfrm>
            <a:off x="1143000" y="3081528"/>
            <a:ext cx="3108960" cy="365760"/>
          </a:xfrm>
          <a:prstGeom prst="rect">
            <a:avLst/>
          </a:prstGeom>
          <a:noFill/>
          <a:ln/>
        </p:spPr>
        <p:txBody>
          <a:bodyPr wrap="square" lIns="0" tIns="0" rIns="0" bIns="0" rtlCol="0" anchor="ctr"/>
          <a:lstStyle/>
          <a:p>
            <a:pPr indent="0" marL="0">
              <a:buNone/>
            </a:pPr>
            <a:r>
              <a:rPr lang="en-US" sz="1800" b="1" dirty="0">
                <a:solidFill>
                  <a:schemeClr val="tx2"/>
                </a:solidFill>
              </a:rPr>
              <a:t>Chain-of-thought</a:t>
            </a:r>
            <a:endParaRPr lang="en-US" sz="1800" dirty="0"/>
          </a:p>
        </p:txBody>
      </p:sp>
      <p:sp>
        <p:nvSpPr>
          <p:cNvPr id="19" name="Text 485"/>
          <p:cNvSpPr txBox="1"/>
          <p:nvPr/>
        </p:nvSpPr>
        <p:spPr>
          <a:xfrm>
            <a:off x="685800" y="3566160"/>
            <a:ext cx="3566160" cy="274320"/>
          </a:xfrm>
          <a:prstGeom prst="rect">
            <a:avLst/>
          </a:prstGeom>
          <a:noFill/>
          <a:ln/>
        </p:spPr>
        <p:txBody>
          <a:bodyPr wrap="square" lIns="0" tIns="0" rIns="0" bIns="0" rtlCol="0" anchor="t"/>
          <a:lstStyle/>
          <a:p>
            <a:pPr indent="0" marL="0">
              <a:buNone/>
            </a:pPr>
            <a:r>
              <a:rPr lang="en-US" sz="1400" dirty="0">
                <a:solidFill>
                  <a:schemeClr val="tx1"/>
                </a:solidFill>
              </a:rPr>
              <a:t>Ask it to reason step by step.</a:t>
            </a:r>
            <a:endParaRPr lang="en-US" sz="1400" dirty="0"/>
          </a:p>
        </p:txBody>
      </p:sp>
      <p:sp>
        <p:nvSpPr>
          <p:cNvPr id="20" name="Card 486"/>
          <p:cNvSpPr/>
          <p:nvPr/>
        </p:nvSpPr>
        <p:spPr>
          <a:xfrm>
            <a:off x="685800" y="3904488"/>
            <a:ext cx="3566160" cy="594360"/>
          </a:xfrm>
          <a:prstGeom prst="roundRect">
            <a:avLst>
              <a:gd name="adj" fmla="val 12308"/>
            </a:avLst>
          </a:prstGeom>
          <a:solidFill>
            <a:schemeClr val="bg1"/>
          </a:solidFill>
          <a:ln/>
        </p:spPr>
      </p:sp>
      <p:sp>
        <p:nvSpPr>
          <p:cNvPr id="21" name="Text 487"/>
          <p:cNvSpPr txBox="1"/>
          <p:nvPr/>
        </p:nvSpPr>
        <p:spPr>
          <a:xfrm>
            <a:off x="822960" y="3904488"/>
            <a:ext cx="3291840" cy="5943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A $20 shirt is 25% off. Think step by step.</a:t>
            </a:r>
            <a:endParaRPr lang="en-US" sz="1200" dirty="0"/>
          </a:p>
        </p:txBody>
      </p:sp>
      <p:sp>
        <p:nvSpPr>
          <p:cNvPr id="22" name="Card 488"/>
          <p:cNvSpPr/>
          <p:nvPr/>
        </p:nvSpPr>
        <p:spPr>
          <a:xfrm>
            <a:off x="4663440" y="2944368"/>
            <a:ext cx="4023360" cy="1709928"/>
          </a:xfrm>
          <a:prstGeom prst="roundRect">
            <a:avLst>
              <a:gd name="adj" fmla="val 4278"/>
            </a:avLst>
          </a:prstGeom>
          <a:solidFill>
            <a:schemeClr val="bg2"/>
          </a:solidFill>
          <a:ln/>
        </p:spPr>
      </p:sp>
      <p:sp>
        <p:nvSpPr>
          <p:cNvPr id="23" name="Badge 489"/>
          <p:cNvSpPr txBox="1"/>
          <p:nvPr/>
        </p:nvSpPr>
        <p:spPr>
          <a:xfrm>
            <a:off x="4846320" y="3081528"/>
            <a:ext cx="365760" cy="36576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490"/>
          <p:cNvSpPr txBox="1"/>
          <p:nvPr/>
        </p:nvSpPr>
        <p:spPr>
          <a:xfrm>
            <a:off x="5349240" y="3081528"/>
            <a:ext cx="3108960" cy="365760"/>
          </a:xfrm>
          <a:prstGeom prst="rect">
            <a:avLst/>
          </a:prstGeom>
          <a:noFill/>
          <a:ln/>
        </p:spPr>
        <p:txBody>
          <a:bodyPr wrap="square" lIns="0" tIns="0" rIns="0" bIns="0" rtlCol="0" anchor="ctr"/>
          <a:lstStyle/>
          <a:p>
            <a:pPr indent="0" marL="0">
              <a:buNone/>
            </a:pPr>
            <a:r>
              <a:rPr lang="en-US" sz="1800" b="1" dirty="0">
                <a:solidFill>
                  <a:schemeClr val="tx2"/>
                </a:solidFill>
              </a:rPr>
              <a:t>Role prompting</a:t>
            </a:r>
            <a:endParaRPr lang="en-US" sz="1800" dirty="0"/>
          </a:p>
        </p:txBody>
      </p:sp>
      <p:sp>
        <p:nvSpPr>
          <p:cNvPr id="25" name="Text 491"/>
          <p:cNvSpPr txBox="1"/>
          <p:nvPr/>
        </p:nvSpPr>
        <p:spPr>
          <a:xfrm>
            <a:off x="4892040" y="3566160"/>
            <a:ext cx="3566160" cy="274320"/>
          </a:xfrm>
          <a:prstGeom prst="rect">
            <a:avLst/>
          </a:prstGeom>
          <a:noFill/>
          <a:ln/>
        </p:spPr>
        <p:txBody>
          <a:bodyPr wrap="square" lIns="0" tIns="0" rIns="0" bIns="0" rtlCol="0" anchor="t"/>
          <a:lstStyle/>
          <a:p>
            <a:pPr indent="0" marL="0">
              <a:buNone/>
            </a:pPr>
            <a:r>
              <a:rPr lang="en-US" sz="1400" dirty="0">
                <a:solidFill>
                  <a:schemeClr val="tx1"/>
                </a:solidFill>
              </a:rPr>
              <a:t>Give it a job or expertise.</a:t>
            </a:r>
            <a:endParaRPr lang="en-US" sz="1400" dirty="0"/>
          </a:p>
        </p:txBody>
      </p:sp>
      <p:sp>
        <p:nvSpPr>
          <p:cNvPr id="26" name="Card 492"/>
          <p:cNvSpPr/>
          <p:nvPr/>
        </p:nvSpPr>
        <p:spPr>
          <a:xfrm>
            <a:off x="4892040" y="3904488"/>
            <a:ext cx="3566160" cy="594360"/>
          </a:xfrm>
          <a:prstGeom prst="roundRect">
            <a:avLst>
              <a:gd name="adj" fmla="val 12308"/>
            </a:avLst>
          </a:prstGeom>
          <a:solidFill>
            <a:schemeClr val="bg1"/>
          </a:solidFill>
          <a:ln/>
        </p:spPr>
      </p:sp>
      <p:sp>
        <p:nvSpPr>
          <p:cNvPr id="27" name="Text 493"/>
          <p:cNvSpPr txBox="1"/>
          <p:nvPr/>
        </p:nvSpPr>
        <p:spPr>
          <a:xfrm>
            <a:off x="5029200" y="3904488"/>
            <a:ext cx="3291840" cy="5943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Act as a travel guide. Plan 2 days in Paris.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tx2"/>
                </a:solidFill>
              </a:rPr>
              <a:t>Prompting Best Practices</a:t>
            </a:r>
            <a:endParaRPr lang="en-US" sz="3000" dirty="0"/>
          </a:p>
        </p:txBody>
      </p:sp>
      <p:sp>
        <p:nvSpPr>
          <p:cNvPr id="4" name="IconBg 494"/>
          <p:cNvSpPr/>
          <p:nvPr/>
        </p:nvSpPr>
        <p:spPr>
          <a:xfrm>
            <a:off x="457200" y="1179576"/>
            <a:ext cx="411480" cy="411480"/>
          </a:xfrm>
          <a:prstGeom prst="ellipse">
            <a:avLst/>
          </a:prstGeom>
          <a:solidFill>
            <a:schemeClr val="accent3"/>
          </a:solidFill>
          <a:ln/>
        </p:spPr>
      </p:sp>
      <p:pic>
        <p:nvPicPr>
          <p:cNvPr id="5" name="Image 0" descr="Check icon">    </p:cNvPr>
          <p:cNvPicPr>
            <a:picLocks noChangeAspect="1"/>
          </p:cNvPicPr>
          <p:nvPr/>
        </p:nvPicPr>
        <p:blipFill>
          <a:blip r:embed="rId1"/>
          <a:stretch>
            <a:fillRect/>
          </a:stretch>
        </p:blipFill>
        <p:spPr>
          <a:xfrm>
            <a:off x="560070" y="1282446"/>
            <a:ext cx="205740" cy="205740"/>
          </a:xfrm>
          <a:prstGeom prst="rect">
            <a:avLst/>
          </a:prstGeom>
        </p:spPr>
      </p:pic>
      <p:sp>
        <p:nvSpPr>
          <p:cNvPr id="6" name="Text 495"/>
          <p:cNvSpPr txBox="1"/>
          <p:nvPr/>
        </p:nvSpPr>
        <p:spPr>
          <a:xfrm>
            <a:off x="1051560" y="1143000"/>
            <a:ext cx="4297680" cy="484632"/>
          </a:xfrm>
          <a:prstGeom prst="rect">
            <a:avLst/>
          </a:prstGeom>
          <a:noFill/>
          <a:ln/>
        </p:spPr>
        <p:txBody>
          <a:bodyPr wrap="square" lIns="0" tIns="0" rIns="0" bIns="0" rtlCol="0" anchor="ctr"/>
          <a:lstStyle/>
          <a:p>
            <a:pPr indent="0" marL="0">
              <a:buNone/>
            </a:pPr>
            <a:r>
              <a:rPr lang="en-US" sz="1600" b="1" dirty="0">
                <a:solidFill>
                  <a:schemeClr val="tx2"/>
                </a:solidFill>
              </a:rPr>
              <a:t>Be specific: </a:t>
            </a:r>
            <a:pPr indent="0" marL="0">
              <a:buNone/>
            </a:pPr>
            <a:r>
              <a:rPr lang="en-US" sz="1600" dirty="0">
                <a:solidFill>
                  <a:schemeClr val="tx1"/>
                </a:solidFill>
              </a:rPr>
              <a:t>say exactly what you want</a:t>
            </a:r>
            <a:endParaRPr lang="en-US" sz="1600" dirty="0"/>
          </a:p>
        </p:txBody>
      </p:sp>
      <p:sp>
        <p:nvSpPr>
          <p:cNvPr id="7" name="IconBg 496"/>
          <p:cNvSpPr/>
          <p:nvPr/>
        </p:nvSpPr>
        <p:spPr>
          <a:xfrm>
            <a:off x="457200" y="1773936"/>
            <a:ext cx="411480" cy="411480"/>
          </a:xfrm>
          <a:prstGeom prst="ellipse">
            <a:avLst/>
          </a:prstGeom>
          <a:solidFill>
            <a:schemeClr val="accent3"/>
          </a:solidFill>
          <a:ln/>
        </p:spPr>
      </p:sp>
      <p:pic>
        <p:nvPicPr>
          <p:cNvPr id="8" name="Image 1" descr="Check icon">    </p:cNvPr>
          <p:cNvPicPr>
            <a:picLocks noChangeAspect="1"/>
          </p:cNvPicPr>
          <p:nvPr/>
        </p:nvPicPr>
        <p:blipFill>
          <a:blip r:embed="rId2"/>
          <a:stretch>
            <a:fillRect/>
          </a:stretch>
        </p:blipFill>
        <p:spPr>
          <a:xfrm>
            <a:off x="560070" y="1876806"/>
            <a:ext cx="205740" cy="205740"/>
          </a:xfrm>
          <a:prstGeom prst="rect">
            <a:avLst/>
          </a:prstGeom>
        </p:spPr>
      </p:pic>
      <p:sp>
        <p:nvSpPr>
          <p:cNvPr id="9" name="Text 497"/>
          <p:cNvSpPr txBox="1"/>
          <p:nvPr/>
        </p:nvSpPr>
        <p:spPr>
          <a:xfrm>
            <a:off x="1051560" y="1737360"/>
            <a:ext cx="4297680" cy="484632"/>
          </a:xfrm>
          <a:prstGeom prst="rect">
            <a:avLst/>
          </a:prstGeom>
          <a:noFill/>
          <a:ln/>
        </p:spPr>
        <p:txBody>
          <a:bodyPr wrap="square" lIns="0" tIns="0" rIns="0" bIns="0" rtlCol="0" anchor="ctr"/>
          <a:lstStyle/>
          <a:p>
            <a:pPr indent="0" marL="0">
              <a:buNone/>
            </a:pPr>
            <a:r>
              <a:rPr lang="en-US" sz="1600" b="1" dirty="0">
                <a:solidFill>
                  <a:schemeClr val="tx2"/>
                </a:solidFill>
              </a:rPr>
              <a:t>Give context: </a:t>
            </a:r>
            <a:pPr indent="0" marL="0">
              <a:buNone/>
            </a:pPr>
            <a:r>
              <a:rPr lang="en-US" sz="1600" dirty="0">
                <a:solidFill>
                  <a:schemeClr val="tx1"/>
                </a:solidFill>
              </a:rPr>
              <a:t>audience, goal and background</a:t>
            </a:r>
            <a:endParaRPr lang="en-US" sz="1600" dirty="0"/>
          </a:p>
        </p:txBody>
      </p:sp>
      <p:sp>
        <p:nvSpPr>
          <p:cNvPr id="10" name="IconBg 498"/>
          <p:cNvSpPr/>
          <p:nvPr/>
        </p:nvSpPr>
        <p:spPr>
          <a:xfrm>
            <a:off x="457200" y="2368296"/>
            <a:ext cx="411480" cy="411480"/>
          </a:xfrm>
          <a:prstGeom prst="ellipse">
            <a:avLst/>
          </a:prstGeom>
          <a:solidFill>
            <a:schemeClr val="accent3"/>
          </a:solidFill>
          <a:ln/>
        </p:spPr>
      </p:sp>
      <p:pic>
        <p:nvPicPr>
          <p:cNvPr id="11" name="Image 2" descr="Check icon">    </p:cNvPr>
          <p:cNvPicPr>
            <a:picLocks noChangeAspect="1"/>
          </p:cNvPicPr>
          <p:nvPr/>
        </p:nvPicPr>
        <p:blipFill>
          <a:blip r:embed="rId3"/>
          <a:stretch>
            <a:fillRect/>
          </a:stretch>
        </p:blipFill>
        <p:spPr>
          <a:xfrm>
            <a:off x="560070" y="2471166"/>
            <a:ext cx="205740" cy="205740"/>
          </a:xfrm>
          <a:prstGeom prst="rect">
            <a:avLst/>
          </a:prstGeom>
        </p:spPr>
      </p:pic>
      <p:sp>
        <p:nvSpPr>
          <p:cNvPr id="12" name="Text 499"/>
          <p:cNvSpPr txBox="1"/>
          <p:nvPr/>
        </p:nvSpPr>
        <p:spPr>
          <a:xfrm>
            <a:off x="1051560" y="2331720"/>
            <a:ext cx="4297680" cy="484632"/>
          </a:xfrm>
          <a:prstGeom prst="rect">
            <a:avLst/>
          </a:prstGeom>
          <a:noFill/>
          <a:ln/>
        </p:spPr>
        <p:txBody>
          <a:bodyPr wrap="square" lIns="0" tIns="0" rIns="0" bIns="0" rtlCol="0" anchor="ctr"/>
          <a:lstStyle/>
          <a:p>
            <a:pPr indent="0" marL="0">
              <a:buNone/>
            </a:pPr>
            <a:r>
              <a:rPr lang="en-US" sz="1600" b="1" dirty="0">
                <a:solidFill>
                  <a:schemeClr val="tx2"/>
                </a:solidFill>
              </a:rPr>
              <a:t>Show examples: </a:t>
            </a:r>
            <a:pPr indent="0" marL="0">
              <a:buNone/>
            </a:pPr>
            <a:r>
              <a:rPr lang="en-US" sz="1600" dirty="0">
                <a:solidFill>
                  <a:schemeClr val="tx1"/>
                </a:solidFill>
              </a:rPr>
              <a:t>one sample beats long rules</a:t>
            </a:r>
            <a:endParaRPr lang="en-US" sz="1600" dirty="0"/>
          </a:p>
        </p:txBody>
      </p:sp>
      <p:sp>
        <p:nvSpPr>
          <p:cNvPr id="13" name="IconBg 500"/>
          <p:cNvSpPr/>
          <p:nvPr/>
        </p:nvSpPr>
        <p:spPr>
          <a:xfrm>
            <a:off x="457200" y="2962656"/>
            <a:ext cx="411480" cy="411480"/>
          </a:xfrm>
          <a:prstGeom prst="ellipse">
            <a:avLst/>
          </a:prstGeom>
          <a:solidFill>
            <a:schemeClr val="accent3"/>
          </a:solidFill>
          <a:ln/>
        </p:spPr>
      </p:sp>
      <p:pic>
        <p:nvPicPr>
          <p:cNvPr id="14" name="Image 3" descr="Check icon">    </p:cNvPr>
          <p:cNvPicPr>
            <a:picLocks noChangeAspect="1"/>
          </p:cNvPicPr>
          <p:nvPr/>
        </p:nvPicPr>
        <p:blipFill>
          <a:blip r:embed="rId4"/>
          <a:stretch>
            <a:fillRect/>
          </a:stretch>
        </p:blipFill>
        <p:spPr>
          <a:xfrm>
            <a:off x="560070" y="3065526"/>
            <a:ext cx="205740" cy="205740"/>
          </a:xfrm>
          <a:prstGeom prst="rect">
            <a:avLst/>
          </a:prstGeom>
        </p:spPr>
      </p:pic>
      <p:sp>
        <p:nvSpPr>
          <p:cNvPr id="15" name="Text 501"/>
          <p:cNvSpPr txBox="1"/>
          <p:nvPr/>
        </p:nvSpPr>
        <p:spPr>
          <a:xfrm>
            <a:off x="1051560" y="2926080"/>
            <a:ext cx="4297680" cy="484632"/>
          </a:xfrm>
          <a:prstGeom prst="rect">
            <a:avLst/>
          </a:prstGeom>
          <a:noFill/>
          <a:ln/>
        </p:spPr>
        <p:txBody>
          <a:bodyPr wrap="square" lIns="0" tIns="0" rIns="0" bIns="0" rtlCol="0" anchor="ctr"/>
          <a:lstStyle/>
          <a:p>
            <a:pPr indent="0" marL="0">
              <a:buNone/>
            </a:pPr>
            <a:r>
              <a:rPr lang="en-US" sz="1600" b="1" dirty="0">
                <a:solidFill>
                  <a:schemeClr val="tx2"/>
                </a:solidFill>
              </a:rPr>
              <a:t>Set the format: </a:t>
            </a:r>
            <a:pPr indent="0" marL="0">
              <a:buNone/>
            </a:pPr>
            <a:r>
              <a:rPr lang="en-US" sz="1600" dirty="0">
                <a:solidFill>
                  <a:schemeClr val="tx1"/>
                </a:solidFill>
              </a:rPr>
              <a:t>bullets, table or word limit</a:t>
            </a:r>
            <a:endParaRPr lang="en-US" sz="1600" dirty="0"/>
          </a:p>
        </p:txBody>
      </p:sp>
      <p:sp>
        <p:nvSpPr>
          <p:cNvPr id="16" name="IconBg 502"/>
          <p:cNvSpPr/>
          <p:nvPr/>
        </p:nvSpPr>
        <p:spPr>
          <a:xfrm>
            <a:off x="457200" y="3557016"/>
            <a:ext cx="411480" cy="411480"/>
          </a:xfrm>
          <a:prstGeom prst="ellipse">
            <a:avLst/>
          </a:prstGeom>
          <a:solidFill>
            <a:schemeClr val="accent3"/>
          </a:solidFill>
          <a:ln/>
        </p:spPr>
      </p:sp>
      <p:pic>
        <p:nvPicPr>
          <p:cNvPr id="17" name="Image 4" descr="Check icon">    </p:cNvPr>
          <p:cNvPicPr>
            <a:picLocks noChangeAspect="1"/>
          </p:cNvPicPr>
          <p:nvPr/>
        </p:nvPicPr>
        <p:blipFill>
          <a:blip r:embed="rId5"/>
          <a:stretch>
            <a:fillRect/>
          </a:stretch>
        </p:blipFill>
        <p:spPr>
          <a:xfrm>
            <a:off x="560070" y="3659886"/>
            <a:ext cx="205740" cy="205740"/>
          </a:xfrm>
          <a:prstGeom prst="rect">
            <a:avLst/>
          </a:prstGeom>
        </p:spPr>
      </p:pic>
      <p:sp>
        <p:nvSpPr>
          <p:cNvPr id="18" name="Text 503"/>
          <p:cNvSpPr txBox="1"/>
          <p:nvPr/>
        </p:nvSpPr>
        <p:spPr>
          <a:xfrm>
            <a:off x="1051560" y="3520440"/>
            <a:ext cx="4297680" cy="484632"/>
          </a:xfrm>
          <a:prstGeom prst="rect">
            <a:avLst/>
          </a:prstGeom>
          <a:noFill/>
          <a:ln/>
        </p:spPr>
        <p:txBody>
          <a:bodyPr wrap="square" lIns="0" tIns="0" rIns="0" bIns="0" rtlCol="0" anchor="ctr"/>
          <a:lstStyle/>
          <a:p>
            <a:pPr indent="0" marL="0">
              <a:buNone/>
            </a:pPr>
            <a:r>
              <a:rPr lang="en-US" sz="1600" b="1" dirty="0">
                <a:solidFill>
                  <a:schemeClr val="tx2"/>
                </a:solidFill>
              </a:rPr>
              <a:t>Break it down: </a:t>
            </a:r>
            <a:pPr indent="0" marL="0">
              <a:buNone/>
            </a:pPr>
            <a:r>
              <a:rPr lang="en-US" sz="1600" dirty="0">
                <a:solidFill>
                  <a:schemeClr val="tx1"/>
                </a:solidFill>
              </a:rPr>
              <a:t>split big tasks into steps</a:t>
            </a:r>
            <a:endParaRPr lang="en-US" sz="1600" dirty="0"/>
          </a:p>
        </p:txBody>
      </p:sp>
      <p:sp>
        <p:nvSpPr>
          <p:cNvPr id="19" name="IconBg 504"/>
          <p:cNvSpPr/>
          <p:nvPr/>
        </p:nvSpPr>
        <p:spPr>
          <a:xfrm>
            <a:off x="457200" y="4151376"/>
            <a:ext cx="411480" cy="411480"/>
          </a:xfrm>
          <a:prstGeom prst="ellipse">
            <a:avLst/>
          </a:prstGeom>
          <a:solidFill>
            <a:schemeClr val="accent3"/>
          </a:solidFill>
          <a:ln/>
        </p:spPr>
      </p:sp>
      <p:pic>
        <p:nvPicPr>
          <p:cNvPr id="20" name="Image 5" descr="Check icon">    </p:cNvPr>
          <p:cNvPicPr>
            <a:picLocks noChangeAspect="1"/>
          </p:cNvPicPr>
          <p:nvPr/>
        </p:nvPicPr>
        <p:blipFill>
          <a:blip r:embed="rId6"/>
          <a:stretch>
            <a:fillRect/>
          </a:stretch>
        </p:blipFill>
        <p:spPr>
          <a:xfrm>
            <a:off x="560070" y="4254246"/>
            <a:ext cx="205740" cy="205740"/>
          </a:xfrm>
          <a:prstGeom prst="rect">
            <a:avLst/>
          </a:prstGeom>
        </p:spPr>
      </p:pic>
      <p:sp>
        <p:nvSpPr>
          <p:cNvPr id="21" name="Text 505"/>
          <p:cNvSpPr txBox="1"/>
          <p:nvPr/>
        </p:nvSpPr>
        <p:spPr>
          <a:xfrm>
            <a:off x="1051560" y="4114800"/>
            <a:ext cx="4297680" cy="484632"/>
          </a:xfrm>
          <a:prstGeom prst="rect">
            <a:avLst/>
          </a:prstGeom>
          <a:noFill/>
          <a:ln/>
        </p:spPr>
        <p:txBody>
          <a:bodyPr wrap="square" lIns="0" tIns="0" rIns="0" bIns="0" rtlCol="0" anchor="ctr"/>
          <a:lstStyle/>
          <a:p>
            <a:pPr indent="0" marL="0">
              <a:buNone/>
            </a:pPr>
            <a:r>
              <a:rPr lang="en-US" sz="1600" b="1" dirty="0">
                <a:solidFill>
                  <a:schemeClr val="tx2"/>
                </a:solidFill>
              </a:rPr>
              <a:t>Verify: </a:t>
            </a:r>
            <a:pPr indent="0" marL="0">
              <a:buNone/>
            </a:pPr>
            <a:r>
              <a:rPr lang="en-US" sz="1600" dirty="0">
                <a:solidFill>
                  <a:schemeClr val="tx1"/>
                </a:solidFill>
              </a:rPr>
              <a:t>check facts before you trust them</a:t>
            </a:r>
            <a:endParaRPr lang="en-US" sz="1600" dirty="0"/>
          </a:p>
        </p:txBody>
      </p:sp>
      <p:sp>
        <p:nvSpPr>
          <p:cNvPr id="22" name="Card 506"/>
          <p:cNvSpPr/>
          <p:nvPr/>
        </p:nvSpPr>
        <p:spPr>
          <a:xfrm>
            <a:off x="5486400" y="1143000"/>
            <a:ext cx="3200400" cy="3520440"/>
          </a:xfrm>
          <a:prstGeom prst="roundRect">
            <a:avLst>
              <a:gd name="adj" fmla="val 2286"/>
            </a:avLst>
          </a:prstGeom>
          <a:solidFill>
            <a:schemeClr val="bg2"/>
          </a:solidFill>
          <a:ln/>
        </p:spPr>
      </p:sp>
      <p:sp>
        <p:nvSpPr>
          <p:cNvPr id="23" name="Text 507"/>
          <p:cNvSpPr txBox="1"/>
          <p:nvPr/>
        </p:nvSpPr>
        <p:spPr>
          <a:xfrm>
            <a:off x="5715000" y="1280160"/>
            <a:ext cx="2743200" cy="320040"/>
          </a:xfrm>
          <a:prstGeom prst="rect">
            <a:avLst/>
          </a:prstGeom>
          <a:noFill/>
          <a:ln/>
        </p:spPr>
        <p:txBody>
          <a:bodyPr wrap="square" lIns="0" tIns="0" rIns="0" bIns="0" rtlCol="0" anchor="t"/>
          <a:lstStyle/>
          <a:p>
            <a:pPr indent="0" marL="0">
              <a:buNone/>
            </a:pPr>
            <a:r>
              <a:rPr lang="en-US" sz="1800" b="1" dirty="0">
                <a:solidFill>
                  <a:schemeClr val="tx2"/>
                </a:solidFill>
              </a:rPr>
              <a:t>The prompt loop</a:t>
            </a:r>
            <a:endParaRPr lang="en-US" sz="1800" dirty="0"/>
          </a:p>
        </p:txBody>
      </p:sp>
      <p:sp>
        <p:nvSpPr>
          <p:cNvPr id="24" name="Chip 508"/>
          <p:cNvSpPr txBox="1"/>
          <p:nvPr/>
        </p:nvSpPr>
        <p:spPr>
          <a:xfrm>
            <a:off x="5760720" y="1828800"/>
            <a:ext cx="2194560" cy="594360"/>
          </a:xfrm>
          <a:prstGeom prst="roundRect">
            <a:avLst>
              <a:gd name="adj" fmla="val 12308"/>
            </a:avLst>
          </a:prstGeom>
          <a:solidFill>
            <a:schemeClr val="accent1"/>
          </a:solidFill>
          <a:ln/>
        </p:spPr>
        <p:txBody>
          <a:bodyPr wrap="square" lIns="381" tIns="381" rIns="381" bIns="381" rtlCol="0" anchor="ctr"/>
          <a:lstStyle/>
          <a:p>
            <a:pPr algn="ctr" indent="0" marL="0">
              <a:buNone/>
            </a:pPr>
            <a:r>
              <a:rPr lang="en-US" sz="1700" b="1" dirty="0">
                <a:solidFill>
                  <a:schemeClr val="bg1"/>
                </a:solidFill>
              </a:rPr>
              <a:t>1  Write</a:t>
            </a:r>
            <a:endParaRPr lang="en-US" sz="1700" dirty="0"/>
          </a:p>
        </p:txBody>
      </p:sp>
      <p:sp>
        <p:nvSpPr>
          <p:cNvPr id="25" name="Arrow 509"/>
          <p:cNvSpPr/>
          <p:nvPr/>
        </p:nvSpPr>
        <p:spPr>
          <a:xfrm>
            <a:off x="6858000" y="2423160"/>
            <a:ext cx="0" cy="320040"/>
          </a:xfrm>
          <a:prstGeom prst="line">
            <a:avLst/>
          </a:prstGeom>
          <a:noFill/>
          <a:ln w="22225">
            <a:solidFill>
              <a:schemeClr val="tx2"/>
            </a:solidFill>
            <a:prstDash val="solid"/>
            <a:tailEnd type="triangle"/>
          </a:ln>
        </p:spPr>
      </p:sp>
      <p:sp>
        <p:nvSpPr>
          <p:cNvPr id="26" name="Chip 510"/>
          <p:cNvSpPr txBox="1"/>
          <p:nvPr/>
        </p:nvSpPr>
        <p:spPr>
          <a:xfrm>
            <a:off x="5760720" y="2743200"/>
            <a:ext cx="2194560" cy="594360"/>
          </a:xfrm>
          <a:prstGeom prst="roundRect">
            <a:avLst>
              <a:gd name="adj" fmla="val 12308"/>
            </a:avLst>
          </a:prstGeom>
          <a:solidFill>
            <a:schemeClr val="accent5"/>
          </a:solidFill>
          <a:ln/>
        </p:spPr>
        <p:txBody>
          <a:bodyPr wrap="square" lIns="381" tIns="381" rIns="381" bIns="381" rtlCol="0" anchor="ctr"/>
          <a:lstStyle/>
          <a:p>
            <a:pPr algn="ctr" indent="0" marL="0">
              <a:buNone/>
            </a:pPr>
            <a:r>
              <a:rPr lang="en-US" sz="1700" b="1" dirty="0">
                <a:solidFill>
                  <a:schemeClr val="bg1"/>
                </a:solidFill>
              </a:rPr>
              <a:t>2  Test</a:t>
            </a:r>
            <a:endParaRPr lang="en-US" sz="1700" dirty="0"/>
          </a:p>
        </p:txBody>
      </p:sp>
      <p:sp>
        <p:nvSpPr>
          <p:cNvPr id="27" name="Arrow 511"/>
          <p:cNvSpPr/>
          <p:nvPr/>
        </p:nvSpPr>
        <p:spPr>
          <a:xfrm>
            <a:off x="6858000" y="3337560"/>
            <a:ext cx="0" cy="320040"/>
          </a:xfrm>
          <a:prstGeom prst="line">
            <a:avLst/>
          </a:prstGeom>
          <a:noFill/>
          <a:ln w="22225">
            <a:solidFill>
              <a:schemeClr val="tx2"/>
            </a:solidFill>
            <a:prstDash val="solid"/>
            <a:tailEnd type="triangle"/>
          </a:ln>
        </p:spPr>
      </p:sp>
      <p:sp>
        <p:nvSpPr>
          <p:cNvPr id="28" name="Chip 512"/>
          <p:cNvSpPr txBox="1"/>
          <p:nvPr/>
        </p:nvSpPr>
        <p:spPr>
          <a:xfrm>
            <a:off x="5760720" y="3657600"/>
            <a:ext cx="2194560" cy="594360"/>
          </a:xfrm>
          <a:prstGeom prst="roundRect">
            <a:avLst>
              <a:gd name="adj" fmla="val 12308"/>
            </a:avLst>
          </a:prstGeom>
          <a:solidFill>
            <a:schemeClr val="accent3"/>
          </a:solidFill>
          <a:ln/>
        </p:spPr>
        <p:txBody>
          <a:bodyPr wrap="square" lIns="381" tIns="381" rIns="381" bIns="381" rtlCol="0" anchor="ctr"/>
          <a:lstStyle/>
          <a:p>
            <a:pPr algn="ctr" indent="0" marL="0">
              <a:buNone/>
            </a:pPr>
            <a:r>
              <a:rPr lang="en-US" sz="1700" b="1" dirty="0">
                <a:solidFill>
                  <a:schemeClr val="bg1"/>
                </a:solidFill>
              </a:rPr>
              <a:t>3  Refine</a:t>
            </a:r>
            <a:endParaRPr lang="en-US" sz="1700" dirty="0"/>
          </a:p>
        </p:txBody>
      </p:sp>
      <p:sp>
        <p:nvSpPr>
          <p:cNvPr id="29" name="Line 513"/>
          <p:cNvSpPr/>
          <p:nvPr/>
        </p:nvSpPr>
        <p:spPr>
          <a:xfrm>
            <a:off x="7955280" y="3954780"/>
            <a:ext cx="411480" cy="0"/>
          </a:xfrm>
          <a:prstGeom prst="line">
            <a:avLst/>
          </a:prstGeom>
          <a:noFill/>
          <a:ln w="22225">
            <a:solidFill>
              <a:schemeClr val="tx2"/>
            </a:solidFill>
            <a:prstDash val="solid"/>
          </a:ln>
        </p:spPr>
      </p:sp>
      <p:sp>
        <p:nvSpPr>
          <p:cNvPr id="30" name="Line 514"/>
          <p:cNvSpPr/>
          <p:nvPr/>
        </p:nvSpPr>
        <p:spPr>
          <a:xfrm>
            <a:off x="8366760" y="2125980"/>
            <a:ext cx="0" cy="1828800"/>
          </a:xfrm>
          <a:prstGeom prst="line">
            <a:avLst/>
          </a:prstGeom>
          <a:noFill/>
          <a:ln w="22225">
            <a:solidFill>
              <a:schemeClr val="tx2"/>
            </a:solidFill>
            <a:prstDash val="solid"/>
          </a:ln>
        </p:spPr>
      </p:sp>
      <p:sp>
        <p:nvSpPr>
          <p:cNvPr id="31" name="Arrow 515"/>
          <p:cNvSpPr/>
          <p:nvPr/>
        </p:nvSpPr>
        <p:spPr>
          <a:xfrm flipH="1">
            <a:off x="7955280" y="2125980"/>
            <a:ext cx="411480" cy="0"/>
          </a:xfrm>
          <a:prstGeom prst="line">
            <a:avLst/>
          </a:prstGeom>
          <a:noFill/>
          <a:ln w="22225">
            <a:solidFill>
              <a:schemeClr val="tx2"/>
            </a:solidFill>
            <a:prstDash val="solid"/>
            <a:tailEnd type="triangle"/>
          </a:ln>
        </p:spPr>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FB0"/>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000" b="1" dirty="0">
                <a:solidFill>
                  <a:schemeClr val="bg1"/>
                </a:solidFill>
              </a:rPr>
              <a:t>Key Takeaways</a:t>
            </a:r>
            <a:endParaRPr lang="en-US" sz="3000" dirty="0"/>
          </a:p>
        </p:txBody>
      </p:sp>
      <p:sp>
        <p:nvSpPr>
          <p:cNvPr id="4" name="Card 516"/>
          <p:cNvSpPr/>
          <p:nvPr/>
        </p:nvSpPr>
        <p:spPr>
          <a:xfrm>
            <a:off x="457200" y="1143000"/>
            <a:ext cx="8229600" cy="621792"/>
          </a:xfrm>
          <a:prstGeom prst="roundRect">
            <a:avLst>
              <a:gd name="adj" fmla="val 11765"/>
            </a:avLst>
          </a:prstGeom>
          <a:solidFill>
            <a:srgbClr val="2A2F66"/>
          </a:solidFill>
          <a:ln/>
        </p:spPr>
      </p:sp>
      <p:sp>
        <p:nvSpPr>
          <p:cNvPr id="5" name="Badge 517"/>
          <p:cNvSpPr txBox="1"/>
          <p:nvPr/>
        </p:nvSpPr>
        <p:spPr>
          <a:xfrm>
            <a:off x="640080" y="1234440"/>
            <a:ext cx="438912" cy="438912"/>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tx1"/>
                </a:solidFill>
              </a:rPr>
              <a:t>1</a:t>
            </a:r>
            <a:endParaRPr lang="en-US" sz="1700" dirty="0"/>
          </a:p>
        </p:txBody>
      </p:sp>
      <p:sp>
        <p:nvSpPr>
          <p:cNvPr id="6" name="Text 518"/>
          <p:cNvSpPr txBox="1"/>
          <p:nvPr/>
        </p:nvSpPr>
        <p:spPr>
          <a:xfrm>
            <a:off x="1280160" y="1143000"/>
            <a:ext cx="7223760" cy="621792"/>
          </a:xfrm>
          <a:prstGeom prst="rect">
            <a:avLst/>
          </a:prstGeom>
          <a:noFill/>
          <a:ln/>
        </p:spPr>
        <p:txBody>
          <a:bodyPr wrap="square" lIns="0" tIns="0" rIns="0" bIns="0" rtlCol="0" anchor="ctr"/>
          <a:lstStyle/>
          <a:p>
            <a:pPr indent="0" marL="0">
              <a:buNone/>
            </a:pPr>
            <a:r>
              <a:rPr lang="en-US" sz="1600" dirty="0">
                <a:solidFill>
                  <a:schemeClr val="bg1"/>
                </a:solidFill>
              </a:rPr>
              <a:t>Transformers use attention to understand context across a whole sentence.</a:t>
            </a:r>
            <a:endParaRPr lang="en-US" sz="1600" dirty="0"/>
          </a:p>
        </p:txBody>
      </p:sp>
      <p:sp>
        <p:nvSpPr>
          <p:cNvPr id="7" name="Card 519"/>
          <p:cNvSpPr/>
          <p:nvPr/>
        </p:nvSpPr>
        <p:spPr>
          <a:xfrm>
            <a:off x="457200" y="1856232"/>
            <a:ext cx="8229600" cy="621792"/>
          </a:xfrm>
          <a:prstGeom prst="roundRect">
            <a:avLst>
              <a:gd name="adj" fmla="val 11765"/>
            </a:avLst>
          </a:prstGeom>
          <a:solidFill>
            <a:srgbClr val="2A2F66"/>
          </a:solidFill>
          <a:ln/>
        </p:spPr>
      </p:sp>
      <p:sp>
        <p:nvSpPr>
          <p:cNvPr id="8" name="Badge 520"/>
          <p:cNvSpPr txBox="1"/>
          <p:nvPr/>
        </p:nvSpPr>
        <p:spPr>
          <a:xfrm>
            <a:off x="640080" y="1947672"/>
            <a:ext cx="438912" cy="438912"/>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tx1"/>
                </a:solidFill>
              </a:rPr>
              <a:t>2</a:t>
            </a:r>
            <a:endParaRPr lang="en-US" sz="1700" dirty="0"/>
          </a:p>
        </p:txBody>
      </p:sp>
      <p:sp>
        <p:nvSpPr>
          <p:cNvPr id="9" name="Text 521"/>
          <p:cNvSpPr txBox="1"/>
          <p:nvPr/>
        </p:nvSpPr>
        <p:spPr>
          <a:xfrm>
            <a:off x="1280160" y="1856232"/>
            <a:ext cx="7223760" cy="621792"/>
          </a:xfrm>
          <a:prstGeom prst="rect">
            <a:avLst/>
          </a:prstGeom>
          <a:noFill/>
          <a:ln/>
        </p:spPr>
        <p:txBody>
          <a:bodyPr wrap="square" lIns="0" tIns="0" rIns="0" bIns="0" rtlCol="0" anchor="ctr"/>
          <a:lstStyle/>
          <a:p>
            <a:pPr indent="0" marL="0">
              <a:buNone/>
            </a:pPr>
            <a:r>
              <a:rPr lang="en-US" sz="1600" dirty="0">
                <a:solidFill>
                  <a:schemeClr val="bg1"/>
                </a:solidFill>
              </a:rPr>
              <a:t>Text becomes tokens, then embeddings plus position, then attention layers, then the next word.</a:t>
            </a:r>
            <a:endParaRPr lang="en-US" sz="1600" dirty="0"/>
          </a:p>
        </p:txBody>
      </p:sp>
      <p:sp>
        <p:nvSpPr>
          <p:cNvPr id="10" name="Card 522"/>
          <p:cNvSpPr/>
          <p:nvPr/>
        </p:nvSpPr>
        <p:spPr>
          <a:xfrm>
            <a:off x="457200" y="2569464"/>
            <a:ext cx="8229600" cy="621792"/>
          </a:xfrm>
          <a:prstGeom prst="roundRect">
            <a:avLst>
              <a:gd name="adj" fmla="val 11765"/>
            </a:avLst>
          </a:prstGeom>
          <a:solidFill>
            <a:srgbClr val="2A2F66"/>
          </a:solidFill>
          <a:ln/>
        </p:spPr>
      </p:sp>
      <p:sp>
        <p:nvSpPr>
          <p:cNvPr id="11" name="Badge 523"/>
          <p:cNvSpPr txBox="1"/>
          <p:nvPr/>
        </p:nvSpPr>
        <p:spPr>
          <a:xfrm>
            <a:off x="640080" y="2660904"/>
            <a:ext cx="438912" cy="438912"/>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tx1"/>
                </a:solidFill>
              </a:rPr>
              <a:t>3</a:t>
            </a:r>
            <a:endParaRPr lang="en-US" sz="1700" dirty="0"/>
          </a:p>
        </p:txBody>
      </p:sp>
      <p:sp>
        <p:nvSpPr>
          <p:cNvPr id="12" name="Text 524"/>
          <p:cNvSpPr txBox="1"/>
          <p:nvPr/>
        </p:nvSpPr>
        <p:spPr>
          <a:xfrm>
            <a:off x="1280160" y="2569464"/>
            <a:ext cx="7223760" cy="621792"/>
          </a:xfrm>
          <a:prstGeom prst="rect">
            <a:avLst/>
          </a:prstGeom>
          <a:noFill/>
          <a:ln/>
        </p:spPr>
        <p:txBody>
          <a:bodyPr wrap="square" lIns="0" tIns="0" rIns="0" bIns="0" rtlCol="0" anchor="ctr"/>
          <a:lstStyle/>
          <a:p>
            <a:pPr indent="0" marL="0">
              <a:buNone/>
            </a:pPr>
            <a:r>
              <a:rPr lang="en-US" sz="1600" dirty="0">
                <a:solidFill>
                  <a:schemeClr val="bg1"/>
                </a:solidFill>
              </a:rPr>
              <a:t>Encoders understand text; decoders generate it.</a:t>
            </a:r>
            <a:endParaRPr lang="en-US" sz="1600" dirty="0"/>
          </a:p>
        </p:txBody>
      </p:sp>
      <p:sp>
        <p:nvSpPr>
          <p:cNvPr id="13" name="Card 525"/>
          <p:cNvSpPr/>
          <p:nvPr/>
        </p:nvSpPr>
        <p:spPr>
          <a:xfrm>
            <a:off x="457200" y="3282696"/>
            <a:ext cx="8229600" cy="621792"/>
          </a:xfrm>
          <a:prstGeom prst="roundRect">
            <a:avLst>
              <a:gd name="adj" fmla="val 11765"/>
            </a:avLst>
          </a:prstGeom>
          <a:solidFill>
            <a:srgbClr val="2A2F66"/>
          </a:solidFill>
          <a:ln/>
        </p:spPr>
      </p:sp>
      <p:sp>
        <p:nvSpPr>
          <p:cNvPr id="14" name="Badge 526"/>
          <p:cNvSpPr txBox="1"/>
          <p:nvPr/>
        </p:nvSpPr>
        <p:spPr>
          <a:xfrm>
            <a:off x="640080" y="3374136"/>
            <a:ext cx="438912" cy="438912"/>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tx1"/>
                </a:solidFill>
              </a:rPr>
              <a:t>4</a:t>
            </a:r>
            <a:endParaRPr lang="en-US" sz="1700" dirty="0"/>
          </a:p>
        </p:txBody>
      </p:sp>
      <p:sp>
        <p:nvSpPr>
          <p:cNvPr id="15" name="Text 527"/>
          <p:cNvSpPr txBox="1"/>
          <p:nvPr/>
        </p:nvSpPr>
        <p:spPr>
          <a:xfrm>
            <a:off x="1280160" y="3282696"/>
            <a:ext cx="7223760" cy="621792"/>
          </a:xfrm>
          <a:prstGeom prst="rect">
            <a:avLst/>
          </a:prstGeom>
          <a:noFill/>
          <a:ln/>
        </p:spPr>
        <p:txBody>
          <a:bodyPr wrap="square" lIns="0" tIns="0" rIns="0" bIns="0" rtlCol="0" anchor="ctr"/>
          <a:lstStyle/>
          <a:p>
            <a:pPr indent="0" marL="0">
              <a:buNone/>
            </a:pPr>
            <a:r>
              <a:rPr lang="en-US" sz="1600" dirty="0">
                <a:solidFill>
                  <a:schemeClr val="bg1"/>
                </a:solidFill>
              </a:rPr>
              <a:t>GPT, Claude, Gemini and Llama power chat, code, translation and more.</a:t>
            </a:r>
            <a:endParaRPr lang="en-US" sz="1600" dirty="0"/>
          </a:p>
        </p:txBody>
      </p:sp>
      <p:sp>
        <p:nvSpPr>
          <p:cNvPr id="16" name="Card 528"/>
          <p:cNvSpPr/>
          <p:nvPr/>
        </p:nvSpPr>
        <p:spPr>
          <a:xfrm>
            <a:off x="457200" y="3995928"/>
            <a:ext cx="8229600" cy="621792"/>
          </a:xfrm>
          <a:prstGeom prst="roundRect">
            <a:avLst>
              <a:gd name="adj" fmla="val 11765"/>
            </a:avLst>
          </a:prstGeom>
          <a:solidFill>
            <a:srgbClr val="2A2F66"/>
          </a:solidFill>
          <a:ln/>
        </p:spPr>
      </p:sp>
      <p:sp>
        <p:nvSpPr>
          <p:cNvPr id="17" name="Badge 529"/>
          <p:cNvSpPr txBox="1"/>
          <p:nvPr/>
        </p:nvSpPr>
        <p:spPr>
          <a:xfrm>
            <a:off x="640080" y="4087368"/>
            <a:ext cx="438912" cy="438912"/>
          </a:xfrm>
          <a:prstGeom prst="ellipse">
            <a:avLst/>
          </a:prstGeom>
          <a:solidFill>
            <a:schemeClr val="accent2"/>
          </a:solidFill>
          <a:ln/>
        </p:spPr>
        <p:txBody>
          <a:bodyPr wrap="square" lIns="0" tIns="0" rIns="0" bIns="0" rtlCol="0" anchor="ctr"/>
          <a:lstStyle/>
          <a:p>
            <a:pPr algn="ctr" indent="0" marL="0">
              <a:buNone/>
            </a:pPr>
            <a:r>
              <a:rPr lang="en-US" sz="1700" b="1" dirty="0">
                <a:solidFill>
                  <a:schemeClr val="tx1"/>
                </a:solidFill>
              </a:rPr>
              <a:t>5</a:t>
            </a:r>
            <a:endParaRPr lang="en-US" sz="1700" dirty="0"/>
          </a:p>
        </p:txBody>
      </p:sp>
      <p:sp>
        <p:nvSpPr>
          <p:cNvPr id="18" name="Text 530"/>
          <p:cNvSpPr txBox="1"/>
          <p:nvPr/>
        </p:nvSpPr>
        <p:spPr>
          <a:xfrm>
            <a:off x="1280160" y="3995928"/>
            <a:ext cx="7223760" cy="621792"/>
          </a:xfrm>
          <a:prstGeom prst="rect">
            <a:avLst/>
          </a:prstGeom>
          <a:noFill/>
          <a:ln/>
        </p:spPr>
        <p:txBody>
          <a:bodyPr wrap="square" lIns="0" tIns="0" rIns="0" bIns="0" rtlCol="0" anchor="ctr"/>
          <a:lstStyle/>
          <a:p>
            <a:pPr indent="0" marL="0">
              <a:buNone/>
            </a:pPr>
            <a:r>
              <a:rPr lang="en-US" sz="1600" dirty="0">
                <a:solidFill>
                  <a:schemeClr val="bg1"/>
                </a:solidFill>
              </a:rPr>
              <a:t>Better prompts get better results: role, task, context, format.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9BDF0"/>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Transformer Foundations">
  <a:themeElements>
    <a:clrScheme name="Transformer Foundations">
      <a:dk1>
        <a:srgbClr val="1A1D3A"/>
      </a:dk1>
      <a:lt1>
        <a:srgbClr val="FFFFFF"/>
      </a:lt1>
      <a:dk2>
        <a:srgbClr val="1B1F4B"/>
      </a:dk2>
      <a:lt2>
        <a:srgbClr val="F1F2FA"/>
      </a:lt2>
      <a:accent1>
        <a:srgbClr val="3B3FA8"/>
      </a:accent1>
      <a:accent2>
        <a:srgbClr val="F59E0B"/>
      </a:accent2>
      <a:accent3>
        <a:srgbClr val="0F8B8D"/>
      </a:accent3>
      <a:accent4>
        <a:srgbClr val="E5486E"/>
      </a:accent4>
      <a:accent5>
        <a:srgbClr val="7C5CD6"/>
      </a:accent5>
      <a:accent6>
        <a:srgbClr val="2A9DF4"/>
      </a:accent6>
      <a:hlink>
        <a:srgbClr val="3B3FA8"/>
      </a:hlink>
      <a:folHlink>
        <a:srgbClr val="7C5CD6"/>
      </a:folHlink>
    </a:clrScheme>
    <a:fontScheme name="Transformer Foundation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Transformers in Generative AI</dc:title>
  <dc:subject>PptxGenJS Presentation</dc:subject>
  <dc:creator>Foundation Series</dc:creator>
  <cp:lastModifiedBy>Foundation Series</cp:lastModifiedBy>
  <cp:revision>1</cp:revision>
  <dcterms:created xsi:type="dcterms:W3CDTF">2026-10-14T05:26:14Z</dcterms:created>
  <dcterms:modified xsi:type="dcterms:W3CDTF">2026-10-14T05:26:14Z</dcterms:modified>
</cp:coreProperties>
</file>