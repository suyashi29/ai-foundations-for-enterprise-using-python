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undations" id="{632098e8-1e86-1542-e383-b7d4b08b69d3}">
          <p14:sldIdLst>
            <p14:sldId id="256"/>
            <p14:sldId id="257"/>
            <p14:sldId id="258"/>
            <p14:sldId id="259"/>
            <p14:sldId id="260"/>
            <p14:sldId id="261"/>
          </p14:sldIdLst>
        </p14:section>
        <p14:section name="Learning" id="{32a496be-c8b3-cdf7-f7a0-b6a3ce56d53d}">
          <p14:sldIdLst>
            <p14:sldId id="262"/>
            <p14:sldId id="263"/>
            <p14:sldId id="264"/>
            <p14:sldId id="265"/>
            <p14:sldId id="266"/>
          </p14:sldIdLst>
        </p14:section>
        <p14:section name="Wrap-up" id="{c90708a8-afda-f0da-d453-95b227ca650e}">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A3F73"/>
                </a:solidFill>
                <a:latin typeface="+mn-lt"/>
              </a:defRPr>
            </a:pPr>
            <a:r>
              <a:rPr sz="1400" b="0" i="0" u="none" strike="noStrike">
                <a:solidFill>
                  <a:srgbClr val="4A3F73"/>
                </a:solidFill>
                <a:latin typeface="+mn-lt"/>
              </a:rPr>
              <a:t>Output as a function of input</a:t>
            </a:r>
          </a:p>
        </c:rich>
      </c:tx>
      <c:layout/>
      <c:overlay val="0"/>
    </c:title>
    <c:autoTitleDeleted val="0"/>
    <c:plotArea>
      <c:layout/>
      <c:lineChart>
        <c:varyColors val="0"/>
        <c:ser>
          <c:idx val="0"/>
          <c:order val="0"/>
          <c:tx>
            <c:strRef>
              <c:f>Sheet1!$B$1</c:f>
              <c:strCache>
                <c:ptCount val="1"/>
                <c:pt idx="0">
                  <c:v>Sigmoid</c:v>
                </c:pt>
              </c:strCache>
            </c:strRef>
          </c:tx>
          <c:spPr>
            <a:solidFill>
              <a:srgbClr val="7C5CFF"/>
            </a:solidFill>
            <a:ln w="38100" cap="flat">
              <a:solidFill>
                <a:srgbClr val="7C5C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C5CFF"/>
              </a:solidFill>
              <a:ln w="9525" cap="flat">
                <a:solidFill>
                  <a:srgbClr val="7C5CFF"/>
                </a:solidFill>
                <a:prstDash val="solid"/>
                <a:round/>
              </a:ln>
              <a:effectLst/>
            </c:spPr>
          </c:marker>
          <c:cat>
            <c:multiLvlStrRef>
              <c:f>Sheet1!$A$2:$A$18</c:f>
              <c:multiLvlStrCache>
                <c:ptCount val="17"/>
                <c:lvl>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lvl>
              </c:multiLvlStrCache>
            </c:multiLvlStrRef>
          </c:cat>
          <c:val>
            <c:numRef>
              <c:f>Sheet1!$B$2:$B$18</c:f>
              <c:numCache>
                <c:formatCode>General</c:formatCode>
                <c:ptCount val="17"/>
                <c:pt idx="0">
                  <c:v>0.018</c:v>
                </c:pt>
                <c:pt idx="1">
                  <c:v>0.029</c:v>
                </c:pt>
                <c:pt idx="2">
                  <c:v>0.047</c:v>
                </c:pt>
                <c:pt idx="3">
                  <c:v>0.076</c:v>
                </c:pt>
                <c:pt idx="4">
                  <c:v>0.119</c:v>
                </c:pt>
                <c:pt idx="5">
                  <c:v>0.182</c:v>
                </c:pt>
                <c:pt idx="6">
                  <c:v>0.269</c:v>
                </c:pt>
                <c:pt idx="7">
                  <c:v>0.378</c:v>
                </c:pt>
                <c:pt idx="8">
                  <c:v>0.5</c:v>
                </c:pt>
                <c:pt idx="9">
                  <c:v>0.622</c:v>
                </c:pt>
                <c:pt idx="10">
                  <c:v>0.731</c:v>
                </c:pt>
                <c:pt idx="11">
                  <c:v>0.818</c:v>
                </c:pt>
                <c:pt idx="12">
                  <c:v>0.881</c:v>
                </c:pt>
                <c:pt idx="13">
                  <c:v>0.924</c:v>
                </c:pt>
                <c:pt idx="14">
                  <c:v>0.953</c:v>
                </c:pt>
                <c:pt idx="15">
                  <c:v>0.971</c:v>
                </c:pt>
                <c:pt idx="16">
                  <c:v>0.982</c:v>
                </c:pt>
              </c:numCache>
            </c:numRef>
          </c:val>
          <c:smooth val="0"/>
        </c:ser>
        <c:ser>
          <c:idx val="1"/>
          <c:order val="1"/>
          <c:tx>
            <c:strRef>
              <c:f>Sheet1!$C$1</c:f>
              <c:strCache>
                <c:ptCount val="1"/>
                <c:pt idx="0">
                  <c:v>Tanh</c:v>
                </c:pt>
              </c:strCache>
            </c:strRef>
          </c:tx>
          <c:spPr>
            <a:solidFill>
              <a:srgbClr val="1FA99B"/>
            </a:solidFill>
            <a:ln w="38100" cap="flat">
              <a:solidFill>
                <a:srgbClr val="1FA99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A99B"/>
              </a:solidFill>
              <a:ln w="9525" cap="flat">
                <a:solidFill>
                  <a:srgbClr val="1FA99B"/>
                </a:solidFill>
                <a:prstDash val="solid"/>
                <a:round/>
              </a:ln>
              <a:effectLst/>
            </c:spPr>
          </c:marker>
          <c:cat>
            <c:multiLvlStrRef>
              <c:f>Sheet1!$A$2:$A$18</c:f>
              <c:multiLvlStrCache>
                <c:ptCount val="17"/>
                <c:lvl>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lvl>
              </c:multiLvlStrCache>
            </c:multiLvlStrRef>
          </c:cat>
          <c:val>
            <c:numRef>
              <c:f>Sheet1!$C$2:$C$18</c:f>
              <c:numCache>
                <c:formatCode>General</c:formatCode>
                <c:ptCount val="17"/>
                <c:pt idx="0">
                  <c:v>-0.999</c:v>
                </c:pt>
                <c:pt idx="1">
                  <c:v>-0.998</c:v>
                </c:pt>
                <c:pt idx="2">
                  <c:v>-0.995</c:v>
                </c:pt>
                <c:pt idx="3">
                  <c:v>-0.987</c:v>
                </c:pt>
                <c:pt idx="4">
                  <c:v>-0.964</c:v>
                </c:pt>
                <c:pt idx="5">
                  <c:v>-0.905</c:v>
                </c:pt>
                <c:pt idx="6">
                  <c:v>-0.762</c:v>
                </c:pt>
                <c:pt idx="7">
                  <c:v>-0.462</c:v>
                </c:pt>
                <c:pt idx="8">
                  <c:v>0</c:v>
                </c:pt>
                <c:pt idx="9">
                  <c:v>0.462</c:v>
                </c:pt>
                <c:pt idx="10">
                  <c:v>0.762</c:v>
                </c:pt>
                <c:pt idx="11">
                  <c:v>0.905</c:v>
                </c:pt>
                <c:pt idx="12">
                  <c:v>0.964</c:v>
                </c:pt>
                <c:pt idx="13">
                  <c:v>0.987</c:v>
                </c:pt>
                <c:pt idx="14">
                  <c:v>0.995</c:v>
                </c:pt>
                <c:pt idx="15">
                  <c:v>0.998</c:v>
                </c:pt>
                <c:pt idx="16">
                  <c:v>0.999</c:v>
                </c:pt>
              </c:numCache>
            </c:numRef>
          </c:val>
          <c:smooth val="0"/>
        </c:ser>
        <c:ser>
          <c:idx val="2"/>
          <c:order val="2"/>
          <c:tx>
            <c:strRef>
              <c:f>Sheet1!$D$1</c:f>
              <c:strCache>
                <c:ptCount val="1"/>
                <c:pt idx="0">
                  <c:v>ReLU</c:v>
                </c:pt>
              </c:strCache>
            </c:strRef>
          </c:tx>
          <c:spPr>
            <a:solidFill>
              <a:srgbClr val="E8537A"/>
            </a:solidFill>
            <a:ln w="38100" cap="flat">
              <a:solidFill>
                <a:srgbClr val="E853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537A"/>
              </a:solidFill>
              <a:ln w="9525" cap="flat">
                <a:solidFill>
                  <a:srgbClr val="E8537A"/>
                </a:solidFill>
                <a:prstDash val="solid"/>
                <a:round/>
              </a:ln>
              <a:effectLst/>
            </c:spPr>
          </c:marker>
          <c:cat>
            <c:multiLvlStrRef>
              <c:f>Sheet1!$A$2:$A$18</c:f>
              <c:multiLvlStrCache>
                <c:ptCount val="17"/>
                <c:lvl>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lvl>
              </c:multiLvlStrCache>
            </c:multiLvlStrRef>
          </c:cat>
          <c:val>
            <c:numRef>
              <c:f>Sheet1!$D$2:$D$18</c:f>
              <c:numCache>
                <c:formatCode>General</c:formatCode>
                <c:ptCount val="17"/>
                <c:pt idx="0">
                  <c:v>0</c:v>
                </c:pt>
                <c:pt idx="1">
                  <c:v>0</c:v>
                </c:pt>
                <c:pt idx="2">
                  <c:v>0</c:v>
                </c:pt>
                <c:pt idx="3">
                  <c:v>0</c:v>
                </c:pt>
                <c:pt idx="4">
                  <c:v>0</c:v>
                </c:pt>
                <c:pt idx="5">
                  <c:v>0</c:v>
                </c:pt>
                <c:pt idx="6">
                  <c:v>0</c:v>
                </c:pt>
                <c:pt idx="7">
                  <c:v>0</c:v>
                </c:pt>
                <c:pt idx="8">
                  <c:v>0</c:v>
                </c:pt>
                <c:pt idx="9">
                  <c:v>0.5</c:v>
                </c:pt>
                <c:pt idx="10">
                  <c:v>1</c:v>
                </c:pt>
                <c:pt idx="11">
                  <c:v>1.5</c:v>
                </c:pt>
                <c:pt idx="12">
                  <c:v>2</c:v>
                </c:pt>
                <c:pt idx="13">
                  <c:v>2.5</c:v>
                </c:pt>
                <c:pt idx="14">
                  <c:v>3</c:v>
                </c:pt>
                <c:pt idx="15">
                  <c:v>3.5</c:v>
                </c:pt>
                <c:pt idx="16">
                  <c:v>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3F73"/>
                </a:solidFill>
                <a:latin typeface="+mn-lt"/>
              </a:defRPr>
            </a:pPr>
            <a:endParaRPr lang="en-US"/>
          </a:p>
        </c:txPr>
        <c:crossAx val="2094734552"/>
        <c:crosses val="autoZero"/>
        <c:auto val="1"/>
        <c:lblAlgn val="ctr"/>
        <c:noMultiLvlLbl val="1"/>
        <c:tickLblSkip val="2"/>
      </c:catAx>
      <c:valAx>
        <c:axId val="2094734552"/>
        <c:scaling>
          <c:orientation val="minMax"/>
          <c:max val="4"/>
          <c:min val="-1"/>
        </c:scaling>
        <c:delete val="0"/>
        <c:axPos val="l"/>
        <c:majorGridlines>
          <c:spPr>
            <a:ln w="9525" cap="flat">
              <a:solidFill>
                <a:srgbClr val="E4E0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3F73"/>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4A3F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A3F73"/>
                </a:solidFill>
                <a:latin typeface="+mn-lt"/>
              </a:defRPr>
            </a:pPr>
            <a:r>
              <a:rPr sz="1400" b="0" i="0" u="none" strike="noStrike">
                <a:solidFill>
                  <a:srgbClr val="4A3F73"/>
                </a:solidFill>
                <a:latin typeface="+mn-lt"/>
              </a:rPr>
              <a:t>Loss per epoch (illustrative)</a:t>
            </a:r>
          </a:p>
        </c:rich>
      </c:tx>
      <c:layout/>
      <c:overlay val="0"/>
    </c:title>
    <c:autoTitleDeleted val="0"/>
    <c:plotArea>
      <c:layout/>
      <c:lineChart>
        <c:varyColors val="0"/>
        <c:ser>
          <c:idx val="0"/>
          <c:order val="0"/>
          <c:tx>
            <c:strRef>
              <c:f>Sheet1!$B$1</c:f>
              <c:strCache>
                <c:ptCount val="1"/>
                <c:pt idx="0">
                  <c:v>Training loss</c:v>
                </c:pt>
              </c:strCache>
            </c:strRef>
          </c:tx>
          <c:spPr>
            <a:solidFill>
              <a:srgbClr val="7C5CFF"/>
            </a:solidFill>
            <a:ln w="38100" cap="flat">
              <a:solidFill>
                <a:srgbClr val="7C5C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C5CFF"/>
              </a:solidFill>
              <a:ln w="9525" cap="flat">
                <a:solidFill>
                  <a:srgbClr val="7C5CF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c:v>
                </c:pt>
                <c:pt idx="2">
                  <c:v>0.52</c:v>
                </c:pt>
                <c:pt idx="3">
                  <c:v>0.4</c:v>
                </c:pt>
                <c:pt idx="4">
                  <c:v>0.32</c:v>
                </c:pt>
                <c:pt idx="5">
                  <c:v>0.26</c:v>
                </c:pt>
                <c:pt idx="6">
                  <c:v>0.21</c:v>
                </c:pt>
                <c:pt idx="7">
                  <c:v>0.17</c:v>
                </c:pt>
                <c:pt idx="8">
                  <c:v>0.14</c:v>
                </c:pt>
                <c:pt idx="9">
                  <c:v>0.11</c:v>
                </c:pt>
              </c:numCache>
            </c:numRef>
          </c:val>
          <c:smooth val="0"/>
        </c:ser>
        <c:ser>
          <c:idx val="1"/>
          <c:order val="1"/>
          <c:tx>
            <c:strRef>
              <c:f>Sheet1!$C$1</c:f>
              <c:strCache>
                <c:ptCount val="1"/>
                <c:pt idx="0">
                  <c:v>Validation loss</c:v>
                </c:pt>
              </c:strCache>
            </c:strRef>
          </c:tx>
          <c:spPr>
            <a:solidFill>
              <a:srgbClr val="E8537A"/>
            </a:solidFill>
            <a:ln w="38100" cap="flat">
              <a:solidFill>
                <a:srgbClr val="E853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537A"/>
              </a:solidFill>
              <a:ln w="9525" cap="flat">
                <a:solidFill>
                  <a:srgbClr val="E8537A"/>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0.75</c:v>
                </c:pt>
                <c:pt idx="2">
                  <c:v>0.58</c:v>
                </c:pt>
                <c:pt idx="3">
                  <c:v>0.48</c:v>
                </c:pt>
                <c:pt idx="4">
                  <c:v>0.42</c:v>
                </c:pt>
                <c:pt idx="5">
                  <c:v>0.4</c:v>
                </c:pt>
                <c:pt idx="6">
                  <c:v>0.41</c:v>
                </c:pt>
                <c:pt idx="7">
                  <c:v>0.44</c:v>
                </c:pt>
                <c:pt idx="8">
                  <c:v>0.48</c:v>
                </c:pt>
                <c:pt idx="9">
                  <c:v>0.53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3F73"/>
                    </a:solidFill>
                    <a:latin typeface="+mn-lt"/>
                  </a:defRPr>
                </a:pPr>
                <a:r>
                  <a:rPr sz="1200" b="0" i="0" u="none" strike="noStrike">
                    <a:solidFill>
                      <a:srgbClr val="4A3F73"/>
                    </a:solidFill>
                    <a:latin typeface="+mn-lt"/>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3F73"/>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4E0F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3F73"/>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4A3F7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builds up neural networks from the smallest piece, a single neuron, to how whole networks are trained. Each slide has one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Neural networks sit inside deep learning, which sits inside machine learning, which sits inside AI. The key idea: a flexible function whose parameters are learned from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input is multiplied by a weight (how much it matters), summed with a bias (a baseline shift), then passed through an activation function that adds non-linearity. That is all a neuron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Activations make the network non-linear, which is what lets it learn curves and complex boundaries. ReLU is the common default in hidden layers; sigmoid and softmax typically appear at the output for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node connects to every node in the next layer. Early layers tend to learn simple features; deeper layers combine them into more abstract ones. Parameters: 3x4 + 4x4 + 4x2 = 36 weights, plus 4 + 4 + 2 = 10 biases.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arithmetic: 2 x 0.5 = 1, 1 x -1 = -1, plus bias 0.5 gives z = 0.5. Sigmoid of 0.5 is about 0.62. If the true label is 1, we are off by 0.38.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turns 'how wrong are we?' into one number we can optimise. Use MSE when predicting a number, cross-entropy when predicting a class. For the earlier example, a squared error is (1 - 0.62)^2, about 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the whole of training. Backpropagation is simply an efficient way to compute the gradient of the loss with respect to every weight. The learning rate controls step size: too big and training diverges, too small and it crawls.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(Adaptive Moment Estimation) combines momentum with per-parameter step sizes. Weights with consistently large gradients get smaller steps; weights with small or noisy gradients get relatively larger ones. The defaults work well across many problems, so the learning rate is usually the only thing to tune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hold out validation data. When training loss keeps improving but validation loss turns upward, the model is memorising rather than generalising. Stop early or regularise.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stopping halts training once validation loss stops improving for 'patience' epochs, then restores the best weights seen. In Keras: EarlyStopping(monitor='val_loss', patience=5, restore_best_weights=True). In PyTorch, keep a copy of model.state_dict() at the best epoch and reload it after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ingredients (neurons, layers, loss, gradient descent), different wiring. Pick the architecture that matches the structure of your data: grids for CNNs, sequences for RNNs and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five ideas, then point to hands-on practice. Building a tiny network in NumPy is the fastest way to make backpropagation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1417320"/>
            <a:ext cx="493776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548640" y="3063240"/>
            <a:ext cx="4754880" cy="82296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rgbClr val="4A3F73"/>
                </a:solidFill>
              </a:rPr>
              <a:t>Neural Network Fundamentals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rgbClr val="CFC6F5"/>
                </a:solidFill>
              </a:rPr>
              <a:t>Neural Network Fundamentals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FC6F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417320"/>
            <a:ext cx="4937760" cy="1463040"/>
          </a:xfrm>
          <a:prstGeom prst="rect">
            <a:avLst/>
          </a:prstGeom>
          <a:noFill/>
          <a:ln/>
        </p:spPr>
        <p:txBody>
          <a:bodyPr wrap="square" lIns="0" tIns="0" rIns="0" bIns="0" rtlCol="0" anchor="b"/>
          <a:lstStyle/>
          <a:p>
            <a:pPr algn="l" indent="0" marL="0">
              <a:buNone/>
            </a:pPr>
            <a:r>
              <a:rPr lang="en-US" sz="4400" b="1" dirty="0">
                <a:solidFill>
                  <a:schemeClr val="bg1"/>
                </a:solidFill>
              </a:rPr>
              <a:t>Neural Network Fundamentals</a:t>
            </a:r>
            <a:endParaRPr lang="en-US" sz="4400" dirty="0"/>
          </a:p>
        </p:txBody>
      </p:sp>
      <p:sp>
        <p:nvSpPr>
          <p:cNvPr id="3" name="Text 1"/>
          <p:cNvSpPr/>
          <p:nvPr>
            <p:ph idx="102" type="body" hasCustomPrompt="1"/>
          </p:nvPr>
        </p:nvSpPr>
        <p:spPr>
          <a:xfrm>
            <a:off x="548640" y="3063240"/>
            <a:ext cx="4754880" cy="822960"/>
          </a:xfrm>
          <a:prstGeom prst="rect">
            <a:avLst/>
          </a:prstGeom>
          <a:noFill/>
          <a:ln/>
        </p:spPr>
        <p:txBody>
          <a:bodyPr wrap="square" lIns="0" tIns="0" rIns="0" bIns="0" rtlCol="0" anchor="t"/>
          <a:lstStyle/>
          <a:p>
            <a:pPr algn="l" indent="0" marL="0">
              <a:buNone/>
            </a:pPr>
            <a:r>
              <a:rPr lang="en-US" sz="2000" dirty="0">
                <a:solidFill>
                  <a:schemeClr val="accent2"/>
                </a:solidFill>
              </a:rPr>
              <a:t>From a single neuron to training deep networks</a:t>
            </a:r>
            <a:endParaRPr lang="en-US" sz="2000" dirty="0"/>
          </a:p>
        </p:txBody>
      </p:sp>
      <p:sp>
        <p:nvSpPr>
          <p:cNvPr id="4" name="Shape 2"/>
          <p:cNvSpPr/>
          <p:nvPr/>
        </p:nvSpPr>
        <p:spPr>
          <a:xfrm flipV="1">
            <a:off x="5760720" y="1801368"/>
            <a:ext cx="914400" cy="283464"/>
          </a:xfrm>
          <a:prstGeom prst="line">
            <a:avLst/>
          </a:prstGeom>
          <a:noFill/>
          <a:ln w="9525">
            <a:solidFill>
              <a:srgbClr val="5B4A99"/>
            </a:solidFill>
            <a:prstDash val="solid"/>
          </a:ln>
        </p:spPr>
      </p:sp>
      <p:sp>
        <p:nvSpPr>
          <p:cNvPr id="5" name="Shape 3"/>
          <p:cNvSpPr/>
          <p:nvPr/>
        </p:nvSpPr>
        <p:spPr>
          <a:xfrm>
            <a:off x="5760720" y="2084832"/>
            <a:ext cx="914400" cy="283464"/>
          </a:xfrm>
          <a:prstGeom prst="line">
            <a:avLst/>
          </a:prstGeom>
          <a:noFill/>
          <a:ln w="9525">
            <a:solidFill>
              <a:srgbClr val="5B4A99"/>
            </a:solidFill>
            <a:prstDash val="solid"/>
          </a:ln>
        </p:spPr>
      </p:sp>
      <p:sp>
        <p:nvSpPr>
          <p:cNvPr id="6" name="Shape 4"/>
          <p:cNvSpPr/>
          <p:nvPr/>
        </p:nvSpPr>
        <p:spPr>
          <a:xfrm>
            <a:off x="5760720" y="2084832"/>
            <a:ext cx="914400" cy="850392"/>
          </a:xfrm>
          <a:prstGeom prst="line">
            <a:avLst/>
          </a:prstGeom>
          <a:noFill/>
          <a:ln w="9525">
            <a:solidFill>
              <a:srgbClr val="5B4A99"/>
            </a:solidFill>
            <a:prstDash val="solid"/>
          </a:ln>
        </p:spPr>
      </p:sp>
      <p:sp>
        <p:nvSpPr>
          <p:cNvPr id="7" name="Shape 5"/>
          <p:cNvSpPr/>
          <p:nvPr/>
        </p:nvSpPr>
        <p:spPr>
          <a:xfrm>
            <a:off x="5760720" y="2084832"/>
            <a:ext cx="914400" cy="1417320"/>
          </a:xfrm>
          <a:prstGeom prst="line">
            <a:avLst/>
          </a:prstGeom>
          <a:noFill/>
          <a:ln w="9525">
            <a:solidFill>
              <a:srgbClr val="5B4A99"/>
            </a:solidFill>
            <a:prstDash val="solid"/>
          </a:ln>
        </p:spPr>
      </p:sp>
      <p:sp>
        <p:nvSpPr>
          <p:cNvPr id="8" name="Shape 6"/>
          <p:cNvSpPr/>
          <p:nvPr/>
        </p:nvSpPr>
        <p:spPr>
          <a:xfrm flipV="1">
            <a:off x="5760720" y="1801368"/>
            <a:ext cx="914400" cy="850392"/>
          </a:xfrm>
          <a:prstGeom prst="line">
            <a:avLst/>
          </a:prstGeom>
          <a:noFill/>
          <a:ln w="9525">
            <a:solidFill>
              <a:srgbClr val="5B4A99"/>
            </a:solidFill>
            <a:prstDash val="solid"/>
          </a:ln>
        </p:spPr>
      </p:sp>
      <p:sp>
        <p:nvSpPr>
          <p:cNvPr id="9" name="Shape 7"/>
          <p:cNvSpPr/>
          <p:nvPr/>
        </p:nvSpPr>
        <p:spPr>
          <a:xfrm flipV="1">
            <a:off x="5760720" y="2368296"/>
            <a:ext cx="914400" cy="283464"/>
          </a:xfrm>
          <a:prstGeom prst="line">
            <a:avLst/>
          </a:prstGeom>
          <a:noFill/>
          <a:ln w="9525">
            <a:solidFill>
              <a:srgbClr val="5B4A99"/>
            </a:solidFill>
            <a:prstDash val="solid"/>
          </a:ln>
        </p:spPr>
      </p:sp>
      <p:sp>
        <p:nvSpPr>
          <p:cNvPr id="10" name="Shape 8"/>
          <p:cNvSpPr/>
          <p:nvPr/>
        </p:nvSpPr>
        <p:spPr>
          <a:xfrm>
            <a:off x="5760720" y="2651760"/>
            <a:ext cx="914400" cy="283464"/>
          </a:xfrm>
          <a:prstGeom prst="line">
            <a:avLst/>
          </a:prstGeom>
          <a:noFill/>
          <a:ln w="9525">
            <a:solidFill>
              <a:srgbClr val="5B4A99"/>
            </a:solidFill>
            <a:prstDash val="solid"/>
          </a:ln>
        </p:spPr>
      </p:sp>
      <p:sp>
        <p:nvSpPr>
          <p:cNvPr id="11" name="Shape 9"/>
          <p:cNvSpPr/>
          <p:nvPr/>
        </p:nvSpPr>
        <p:spPr>
          <a:xfrm>
            <a:off x="5760720" y="2651760"/>
            <a:ext cx="914400" cy="850392"/>
          </a:xfrm>
          <a:prstGeom prst="line">
            <a:avLst/>
          </a:prstGeom>
          <a:noFill/>
          <a:ln w="9525">
            <a:solidFill>
              <a:srgbClr val="5B4A99"/>
            </a:solidFill>
            <a:prstDash val="solid"/>
          </a:ln>
        </p:spPr>
      </p:sp>
      <p:sp>
        <p:nvSpPr>
          <p:cNvPr id="12" name="Shape 10"/>
          <p:cNvSpPr/>
          <p:nvPr/>
        </p:nvSpPr>
        <p:spPr>
          <a:xfrm flipV="1">
            <a:off x="5760720" y="1801368"/>
            <a:ext cx="914400" cy="1417320"/>
          </a:xfrm>
          <a:prstGeom prst="line">
            <a:avLst/>
          </a:prstGeom>
          <a:noFill/>
          <a:ln w="9525">
            <a:solidFill>
              <a:srgbClr val="5B4A99"/>
            </a:solidFill>
            <a:prstDash val="solid"/>
          </a:ln>
        </p:spPr>
      </p:sp>
      <p:sp>
        <p:nvSpPr>
          <p:cNvPr id="13" name="Shape 11"/>
          <p:cNvSpPr/>
          <p:nvPr/>
        </p:nvSpPr>
        <p:spPr>
          <a:xfrm flipV="1">
            <a:off x="5760720" y="2368296"/>
            <a:ext cx="914400" cy="850392"/>
          </a:xfrm>
          <a:prstGeom prst="line">
            <a:avLst/>
          </a:prstGeom>
          <a:noFill/>
          <a:ln w="9525">
            <a:solidFill>
              <a:srgbClr val="5B4A99"/>
            </a:solidFill>
            <a:prstDash val="solid"/>
          </a:ln>
        </p:spPr>
      </p:sp>
      <p:sp>
        <p:nvSpPr>
          <p:cNvPr id="14" name="Shape 12"/>
          <p:cNvSpPr/>
          <p:nvPr/>
        </p:nvSpPr>
        <p:spPr>
          <a:xfrm flipV="1">
            <a:off x="5760720" y="2935224"/>
            <a:ext cx="914400" cy="283464"/>
          </a:xfrm>
          <a:prstGeom prst="line">
            <a:avLst/>
          </a:prstGeom>
          <a:noFill/>
          <a:ln w="9525">
            <a:solidFill>
              <a:srgbClr val="5B4A99"/>
            </a:solidFill>
            <a:prstDash val="solid"/>
          </a:ln>
        </p:spPr>
      </p:sp>
      <p:sp>
        <p:nvSpPr>
          <p:cNvPr id="15" name="Shape 13"/>
          <p:cNvSpPr/>
          <p:nvPr/>
        </p:nvSpPr>
        <p:spPr>
          <a:xfrm>
            <a:off x="5760720" y="3218688"/>
            <a:ext cx="914400" cy="283464"/>
          </a:xfrm>
          <a:prstGeom prst="line">
            <a:avLst/>
          </a:prstGeom>
          <a:noFill/>
          <a:ln w="9525">
            <a:solidFill>
              <a:srgbClr val="5B4A99"/>
            </a:solidFill>
            <a:prstDash val="solid"/>
          </a:ln>
        </p:spPr>
      </p:sp>
      <p:sp>
        <p:nvSpPr>
          <p:cNvPr id="16" name="Shape 14"/>
          <p:cNvSpPr/>
          <p:nvPr/>
        </p:nvSpPr>
        <p:spPr>
          <a:xfrm>
            <a:off x="6675120" y="1801368"/>
            <a:ext cx="914400" cy="0"/>
          </a:xfrm>
          <a:prstGeom prst="line">
            <a:avLst/>
          </a:prstGeom>
          <a:noFill/>
          <a:ln w="9525">
            <a:solidFill>
              <a:srgbClr val="5B4A99"/>
            </a:solidFill>
            <a:prstDash val="solid"/>
          </a:ln>
        </p:spPr>
      </p:sp>
      <p:sp>
        <p:nvSpPr>
          <p:cNvPr id="17" name="Shape 15"/>
          <p:cNvSpPr/>
          <p:nvPr/>
        </p:nvSpPr>
        <p:spPr>
          <a:xfrm>
            <a:off x="6675120" y="1801368"/>
            <a:ext cx="914400" cy="566928"/>
          </a:xfrm>
          <a:prstGeom prst="line">
            <a:avLst/>
          </a:prstGeom>
          <a:noFill/>
          <a:ln w="9525">
            <a:solidFill>
              <a:srgbClr val="5B4A99"/>
            </a:solidFill>
            <a:prstDash val="solid"/>
          </a:ln>
        </p:spPr>
      </p:sp>
      <p:sp>
        <p:nvSpPr>
          <p:cNvPr id="18" name="Shape 16"/>
          <p:cNvSpPr/>
          <p:nvPr/>
        </p:nvSpPr>
        <p:spPr>
          <a:xfrm>
            <a:off x="6675120" y="1801368"/>
            <a:ext cx="914400" cy="1133856"/>
          </a:xfrm>
          <a:prstGeom prst="line">
            <a:avLst/>
          </a:prstGeom>
          <a:noFill/>
          <a:ln w="9525">
            <a:solidFill>
              <a:srgbClr val="5B4A99"/>
            </a:solidFill>
            <a:prstDash val="solid"/>
          </a:ln>
        </p:spPr>
      </p:sp>
      <p:sp>
        <p:nvSpPr>
          <p:cNvPr id="19" name="Shape 17"/>
          <p:cNvSpPr/>
          <p:nvPr/>
        </p:nvSpPr>
        <p:spPr>
          <a:xfrm>
            <a:off x="6675120" y="1801368"/>
            <a:ext cx="914400" cy="1700784"/>
          </a:xfrm>
          <a:prstGeom prst="line">
            <a:avLst/>
          </a:prstGeom>
          <a:noFill/>
          <a:ln w="9525">
            <a:solidFill>
              <a:srgbClr val="5B4A99"/>
            </a:solidFill>
            <a:prstDash val="solid"/>
          </a:ln>
        </p:spPr>
      </p:sp>
      <p:sp>
        <p:nvSpPr>
          <p:cNvPr id="20" name="Shape 18"/>
          <p:cNvSpPr/>
          <p:nvPr/>
        </p:nvSpPr>
        <p:spPr>
          <a:xfrm flipV="1">
            <a:off x="6675120" y="1801368"/>
            <a:ext cx="914400" cy="566928"/>
          </a:xfrm>
          <a:prstGeom prst="line">
            <a:avLst/>
          </a:prstGeom>
          <a:noFill/>
          <a:ln w="9525">
            <a:solidFill>
              <a:srgbClr val="5B4A99"/>
            </a:solidFill>
            <a:prstDash val="solid"/>
          </a:ln>
        </p:spPr>
      </p:sp>
      <p:sp>
        <p:nvSpPr>
          <p:cNvPr id="21" name="Shape 19"/>
          <p:cNvSpPr/>
          <p:nvPr/>
        </p:nvSpPr>
        <p:spPr>
          <a:xfrm>
            <a:off x="6675120" y="2368296"/>
            <a:ext cx="914400" cy="0"/>
          </a:xfrm>
          <a:prstGeom prst="line">
            <a:avLst/>
          </a:prstGeom>
          <a:noFill/>
          <a:ln w="9525">
            <a:solidFill>
              <a:srgbClr val="5B4A99"/>
            </a:solidFill>
            <a:prstDash val="solid"/>
          </a:ln>
        </p:spPr>
      </p:sp>
      <p:sp>
        <p:nvSpPr>
          <p:cNvPr id="22" name="Shape 20"/>
          <p:cNvSpPr/>
          <p:nvPr/>
        </p:nvSpPr>
        <p:spPr>
          <a:xfrm>
            <a:off x="6675120" y="2368296"/>
            <a:ext cx="914400" cy="566928"/>
          </a:xfrm>
          <a:prstGeom prst="line">
            <a:avLst/>
          </a:prstGeom>
          <a:noFill/>
          <a:ln w="9525">
            <a:solidFill>
              <a:srgbClr val="5B4A99"/>
            </a:solidFill>
            <a:prstDash val="solid"/>
          </a:ln>
        </p:spPr>
      </p:sp>
      <p:sp>
        <p:nvSpPr>
          <p:cNvPr id="23" name="Shape 21"/>
          <p:cNvSpPr/>
          <p:nvPr/>
        </p:nvSpPr>
        <p:spPr>
          <a:xfrm>
            <a:off x="6675120" y="2368296"/>
            <a:ext cx="914400" cy="1133856"/>
          </a:xfrm>
          <a:prstGeom prst="line">
            <a:avLst/>
          </a:prstGeom>
          <a:noFill/>
          <a:ln w="9525">
            <a:solidFill>
              <a:srgbClr val="5B4A99"/>
            </a:solidFill>
            <a:prstDash val="solid"/>
          </a:ln>
        </p:spPr>
      </p:sp>
      <p:sp>
        <p:nvSpPr>
          <p:cNvPr id="24" name="Shape 22"/>
          <p:cNvSpPr/>
          <p:nvPr/>
        </p:nvSpPr>
        <p:spPr>
          <a:xfrm flipV="1">
            <a:off x="6675120" y="1801368"/>
            <a:ext cx="914400" cy="1133856"/>
          </a:xfrm>
          <a:prstGeom prst="line">
            <a:avLst/>
          </a:prstGeom>
          <a:noFill/>
          <a:ln w="9525">
            <a:solidFill>
              <a:srgbClr val="5B4A99"/>
            </a:solidFill>
            <a:prstDash val="solid"/>
          </a:ln>
        </p:spPr>
      </p:sp>
      <p:sp>
        <p:nvSpPr>
          <p:cNvPr id="25" name="Shape 23"/>
          <p:cNvSpPr/>
          <p:nvPr/>
        </p:nvSpPr>
        <p:spPr>
          <a:xfrm flipV="1">
            <a:off x="6675120" y="2368296"/>
            <a:ext cx="914400" cy="566928"/>
          </a:xfrm>
          <a:prstGeom prst="line">
            <a:avLst/>
          </a:prstGeom>
          <a:noFill/>
          <a:ln w="9525">
            <a:solidFill>
              <a:srgbClr val="5B4A99"/>
            </a:solidFill>
            <a:prstDash val="solid"/>
          </a:ln>
        </p:spPr>
      </p:sp>
      <p:sp>
        <p:nvSpPr>
          <p:cNvPr id="26" name="Shape 24"/>
          <p:cNvSpPr/>
          <p:nvPr/>
        </p:nvSpPr>
        <p:spPr>
          <a:xfrm>
            <a:off x="6675120" y="2935224"/>
            <a:ext cx="914400" cy="0"/>
          </a:xfrm>
          <a:prstGeom prst="line">
            <a:avLst/>
          </a:prstGeom>
          <a:noFill/>
          <a:ln w="9525">
            <a:solidFill>
              <a:srgbClr val="5B4A99"/>
            </a:solidFill>
            <a:prstDash val="solid"/>
          </a:ln>
        </p:spPr>
      </p:sp>
      <p:sp>
        <p:nvSpPr>
          <p:cNvPr id="27" name="Shape 25"/>
          <p:cNvSpPr/>
          <p:nvPr/>
        </p:nvSpPr>
        <p:spPr>
          <a:xfrm>
            <a:off x="6675120" y="2935224"/>
            <a:ext cx="914400" cy="566928"/>
          </a:xfrm>
          <a:prstGeom prst="line">
            <a:avLst/>
          </a:prstGeom>
          <a:noFill/>
          <a:ln w="9525">
            <a:solidFill>
              <a:srgbClr val="5B4A99"/>
            </a:solidFill>
            <a:prstDash val="solid"/>
          </a:ln>
        </p:spPr>
      </p:sp>
      <p:sp>
        <p:nvSpPr>
          <p:cNvPr id="28" name="Shape 26"/>
          <p:cNvSpPr/>
          <p:nvPr/>
        </p:nvSpPr>
        <p:spPr>
          <a:xfrm flipV="1">
            <a:off x="6675120" y="1801368"/>
            <a:ext cx="914400" cy="1700784"/>
          </a:xfrm>
          <a:prstGeom prst="line">
            <a:avLst/>
          </a:prstGeom>
          <a:noFill/>
          <a:ln w="9525">
            <a:solidFill>
              <a:srgbClr val="5B4A99"/>
            </a:solidFill>
            <a:prstDash val="solid"/>
          </a:ln>
        </p:spPr>
      </p:sp>
      <p:sp>
        <p:nvSpPr>
          <p:cNvPr id="29" name="Shape 27"/>
          <p:cNvSpPr/>
          <p:nvPr/>
        </p:nvSpPr>
        <p:spPr>
          <a:xfrm flipV="1">
            <a:off x="6675120" y="2368296"/>
            <a:ext cx="914400" cy="1133856"/>
          </a:xfrm>
          <a:prstGeom prst="line">
            <a:avLst/>
          </a:prstGeom>
          <a:noFill/>
          <a:ln w="9525">
            <a:solidFill>
              <a:srgbClr val="5B4A99"/>
            </a:solidFill>
            <a:prstDash val="solid"/>
          </a:ln>
        </p:spPr>
      </p:sp>
      <p:sp>
        <p:nvSpPr>
          <p:cNvPr id="30" name="Shape 28"/>
          <p:cNvSpPr/>
          <p:nvPr/>
        </p:nvSpPr>
        <p:spPr>
          <a:xfrm flipV="1">
            <a:off x="6675120" y="2935224"/>
            <a:ext cx="914400" cy="566928"/>
          </a:xfrm>
          <a:prstGeom prst="line">
            <a:avLst/>
          </a:prstGeom>
          <a:noFill/>
          <a:ln w="9525">
            <a:solidFill>
              <a:srgbClr val="5B4A99"/>
            </a:solidFill>
            <a:prstDash val="solid"/>
          </a:ln>
        </p:spPr>
      </p:sp>
      <p:sp>
        <p:nvSpPr>
          <p:cNvPr id="31" name="Shape 29"/>
          <p:cNvSpPr/>
          <p:nvPr/>
        </p:nvSpPr>
        <p:spPr>
          <a:xfrm>
            <a:off x="6675120" y="3502152"/>
            <a:ext cx="914400" cy="0"/>
          </a:xfrm>
          <a:prstGeom prst="line">
            <a:avLst/>
          </a:prstGeom>
          <a:noFill/>
          <a:ln w="9525">
            <a:solidFill>
              <a:srgbClr val="5B4A99"/>
            </a:solidFill>
            <a:prstDash val="solid"/>
          </a:ln>
        </p:spPr>
      </p:sp>
      <p:sp>
        <p:nvSpPr>
          <p:cNvPr id="32" name="Shape 30"/>
          <p:cNvSpPr/>
          <p:nvPr/>
        </p:nvSpPr>
        <p:spPr>
          <a:xfrm>
            <a:off x="7589520" y="1801368"/>
            <a:ext cx="822960" cy="566928"/>
          </a:xfrm>
          <a:prstGeom prst="line">
            <a:avLst/>
          </a:prstGeom>
          <a:noFill/>
          <a:ln w="9525">
            <a:solidFill>
              <a:srgbClr val="5B4A99"/>
            </a:solidFill>
            <a:prstDash val="solid"/>
          </a:ln>
        </p:spPr>
      </p:sp>
      <p:sp>
        <p:nvSpPr>
          <p:cNvPr id="33" name="Shape 31"/>
          <p:cNvSpPr/>
          <p:nvPr/>
        </p:nvSpPr>
        <p:spPr>
          <a:xfrm>
            <a:off x="7589520" y="1801368"/>
            <a:ext cx="822960" cy="1133856"/>
          </a:xfrm>
          <a:prstGeom prst="line">
            <a:avLst/>
          </a:prstGeom>
          <a:noFill/>
          <a:ln w="9525">
            <a:solidFill>
              <a:srgbClr val="5B4A99"/>
            </a:solidFill>
            <a:prstDash val="solid"/>
          </a:ln>
        </p:spPr>
      </p:sp>
      <p:sp>
        <p:nvSpPr>
          <p:cNvPr id="34" name="Shape 32"/>
          <p:cNvSpPr/>
          <p:nvPr/>
        </p:nvSpPr>
        <p:spPr>
          <a:xfrm>
            <a:off x="7589520" y="2368296"/>
            <a:ext cx="822960" cy="0"/>
          </a:xfrm>
          <a:prstGeom prst="line">
            <a:avLst/>
          </a:prstGeom>
          <a:noFill/>
          <a:ln w="9525">
            <a:solidFill>
              <a:srgbClr val="5B4A99"/>
            </a:solidFill>
            <a:prstDash val="solid"/>
          </a:ln>
        </p:spPr>
      </p:sp>
      <p:sp>
        <p:nvSpPr>
          <p:cNvPr id="35" name="Shape 33"/>
          <p:cNvSpPr/>
          <p:nvPr/>
        </p:nvSpPr>
        <p:spPr>
          <a:xfrm>
            <a:off x="7589520" y="2368296"/>
            <a:ext cx="822960" cy="566928"/>
          </a:xfrm>
          <a:prstGeom prst="line">
            <a:avLst/>
          </a:prstGeom>
          <a:noFill/>
          <a:ln w="9525">
            <a:solidFill>
              <a:srgbClr val="5B4A99"/>
            </a:solidFill>
            <a:prstDash val="solid"/>
          </a:ln>
        </p:spPr>
      </p:sp>
      <p:sp>
        <p:nvSpPr>
          <p:cNvPr id="36" name="Shape 34"/>
          <p:cNvSpPr/>
          <p:nvPr/>
        </p:nvSpPr>
        <p:spPr>
          <a:xfrm flipV="1">
            <a:off x="7589520" y="2368296"/>
            <a:ext cx="822960" cy="566928"/>
          </a:xfrm>
          <a:prstGeom prst="line">
            <a:avLst/>
          </a:prstGeom>
          <a:noFill/>
          <a:ln w="9525">
            <a:solidFill>
              <a:srgbClr val="5B4A99"/>
            </a:solidFill>
            <a:prstDash val="solid"/>
          </a:ln>
        </p:spPr>
      </p:sp>
      <p:sp>
        <p:nvSpPr>
          <p:cNvPr id="37" name="Shape 35"/>
          <p:cNvSpPr/>
          <p:nvPr/>
        </p:nvSpPr>
        <p:spPr>
          <a:xfrm>
            <a:off x="7589520" y="2935224"/>
            <a:ext cx="822960" cy="0"/>
          </a:xfrm>
          <a:prstGeom prst="line">
            <a:avLst/>
          </a:prstGeom>
          <a:noFill/>
          <a:ln w="9525">
            <a:solidFill>
              <a:srgbClr val="5B4A99"/>
            </a:solidFill>
            <a:prstDash val="solid"/>
          </a:ln>
        </p:spPr>
      </p:sp>
      <p:sp>
        <p:nvSpPr>
          <p:cNvPr id="38" name="Shape 36"/>
          <p:cNvSpPr/>
          <p:nvPr/>
        </p:nvSpPr>
        <p:spPr>
          <a:xfrm flipV="1">
            <a:off x="7589520" y="2368296"/>
            <a:ext cx="822960" cy="1133856"/>
          </a:xfrm>
          <a:prstGeom prst="line">
            <a:avLst/>
          </a:prstGeom>
          <a:noFill/>
          <a:ln w="9525">
            <a:solidFill>
              <a:srgbClr val="5B4A99"/>
            </a:solidFill>
            <a:prstDash val="solid"/>
          </a:ln>
        </p:spPr>
      </p:sp>
      <p:sp>
        <p:nvSpPr>
          <p:cNvPr id="39" name="Shape 37"/>
          <p:cNvSpPr/>
          <p:nvPr/>
        </p:nvSpPr>
        <p:spPr>
          <a:xfrm flipV="1">
            <a:off x="7589520" y="2935224"/>
            <a:ext cx="822960" cy="566928"/>
          </a:xfrm>
          <a:prstGeom prst="line">
            <a:avLst/>
          </a:prstGeom>
          <a:noFill/>
          <a:ln w="9525">
            <a:solidFill>
              <a:srgbClr val="5B4A99"/>
            </a:solidFill>
            <a:prstDash val="solid"/>
          </a:ln>
        </p:spPr>
      </p:sp>
      <p:sp>
        <p:nvSpPr>
          <p:cNvPr id="40" name="Shape 38"/>
          <p:cNvSpPr/>
          <p:nvPr/>
        </p:nvSpPr>
        <p:spPr>
          <a:xfrm>
            <a:off x="5605272" y="1929384"/>
            <a:ext cx="310896" cy="310896"/>
          </a:xfrm>
          <a:prstGeom prst="ellipse">
            <a:avLst/>
          </a:prstGeom>
          <a:solidFill>
            <a:srgbClr val="FFB347"/>
          </a:solidFill>
          <a:ln w="19050">
            <a:solidFill>
              <a:srgbClr val="FFFFFF"/>
            </a:solidFill>
            <a:prstDash val="solid"/>
          </a:ln>
        </p:spPr>
      </p:sp>
      <p:sp>
        <p:nvSpPr>
          <p:cNvPr id="41" name="Shape 39"/>
          <p:cNvSpPr/>
          <p:nvPr/>
        </p:nvSpPr>
        <p:spPr>
          <a:xfrm>
            <a:off x="5605272" y="2496312"/>
            <a:ext cx="310896" cy="310896"/>
          </a:xfrm>
          <a:prstGeom prst="ellipse">
            <a:avLst/>
          </a:prstGeom>
          <a:solidFill>
            <a:srgbClr val="FFB347"/>
          </a:solidFill>
          <a:ln w="19050">
            <a:solidFill>
              <a:srgbClr val="FFFFFF"/>
            </a:solidFill>
            <a:prstDash val="solid"/>
          </a:ln>
        </p:spPr>
      </p:sp>
      <p:sp>
        <p:nvSpPr>
          <p:cNvPr id="42" name="Shape 40"/>
          <p:cNvSpPr/>
          <p:nvPr/>
        </p:nvSpPr>
        <p:spPr>
          <a:xfrm>
            <a:off x="5605272" y="3063240"/>
            <a:ext cx="310896" cy="310896"/>
          </a:xfrm>
          <a:prstGeom prst="ellipse">
            <a:avLst/>
          </a:prstGeom>
          <a:solidFill>
            <a:srgbClr val="FFB347"/>
          </a:solidFill>
          <a:ln w="19050">
            <a:solidFill>
              <a:srgbClr val="FFFFFF"/>
            </a:solidFill>
            <a:prstDash val="solid"/>
          </a:ln>
        </p:spPr>
      </p:sp>
      <p:sp>
        <p:nvSpPr>
          <p:cNvPr id="43" name="Shape 41"/>
          <p:cNvSpPr/>
          <p:nvPr/>
        </p:nvSpPr>
        <p:spPr>
          <a:xfrm>
            <a:off x="6519672" y="1645920"/>
            <a:ext cx="310896" cy="310896"/>
          </a:xfrm>
          <a:prstGeom prst="ellipse">
            <a:avLst/>
          </a:prstGeom>
          <a:solidFill>
            <a:srgbClr val="7C5CFF"/>
          </a:solidFill>
          <a:ln w="19050">
            <a:solidFill>
              <a:srgbClr val="FFFFFF"/>
            </a:solidFill>
            <a:prstDash val="solid"/>
          </a:ln>
        </p:spPr>
      </p:sp>
      <p:sp>
        <p:nvSpPr>
          <p:cNvPr id="44" name="Shape 42"/>
          <p:cNvSpPr/>
          <p:nvPr/>
        </p:nvSpPr>
        <p:spPr>
          <a:xfrm>
            <a:off x="6519672" y="2212848"/>
            <a:ext cx="310896" cy="310896"/>
          </a:xfrm>
          <a:prstGeom prst="ellipse">
            <a:avLst/>
          </a:prstGeom>
          <a:solidFill>
            <a:srgbClr val="7C5CFF"/>
          </a:solidFill>
          <a:ln w="19050">
            <a:solidFill>
              <a:srgbClr val="FFFFFF"/>
            </a:solidFill>
            <a:prstDash val="solid"/>
          </a:ln>
        </p:spPr>
      </p:sp>
      <p:sp>
        <p:nvSpPr>
          <p:cNvPr id="45" name="Shape 43"/>
          <p:cNvSpPr/>
          <p:nvPr/>
        </p:nvSpPr>
        <p:spPr>
          <a:xfrm>
            <a:off x="6519672" y="2779776"/>
            <a:ext cx="310896" cy="310896"/>
          </a:xfrm>
          <a:prstGeom prst="ellipse">
            <a:avLst/>
          </a:prstGeom>
          <a:solidFill>
            <a:srgbClr val="7C5CFF"/>
          </a:solidFill>
          <a:ln w="19050">
            <a:solidFill>
              <a:srgbClr val="FFFFFF"/>
            </a:solidFill>
            <a:prstDash val="solid"/>
          </a:ln>
        </p:spPr>
      </p:sp>
      <p:sp>
        <p:nvSpPr>
          <p:cNvPr id="46" name="Shape 44"/>
          <p:cNvSpPr/>
          <p:nvPr/>
        </p:nvSpPr>
        <p:spPr>
          <a:xfrm>
            <a:off x="6519672" y="3346704"/>
            <a:ext cx="310896" cy="310896"/>
          </a:xfrm>
          <a:prstGeom prst="ellipse">
            <a:avLst/>
          </a:prstGeom>
          <a:solidFill>
            <a:srgbClr val="7C5CFF"/>
          </a:solidFill>
          <a:ln w="19050">
            <a:solidFill>
              <a:srgbClr val="FFFFFF"/>
            </a:solidFill>
            <a:prstDash val="solid"/>
          </a:ln>
        </p:spPr>
      </p:sp>
      <p:sp>
        <p:nvSpPr>
          <p:cNvPr id="47" name="Shape 45"/>
          <p:cNvSpPr/>
          <p:nvPr/>
        </p:nvSpPr>
        <p:spPr>
          <a:xfrm>
            <a:off x="7434072" y="1645920"/>
            <a:ext cx="310896" cy="310896"/>
          </a:xfrm>
          <a:prstGeom prst="ellipse">
            <a:avLst/>
          </a:prstGeom>
          <a:solidFill>
            <a:srgbClr val="7C5CFF"/>
          </a:solidFill>
          <a:ln w="19050">
            <a:solidFill>
              <a:srgbClr val="FFFFFF"/>
            </a:solidFill>
            <a:prstDash val="solid"/>
          </a:ln>
        </p:spPr>
      </p:sp>
      <p:sp>
        <p:nvSpPr>
          <p:cNvPr id="48" name="Shape 46"/>
          <p:cNvSpPr/>
          <p:nvPr/>
        </p:nvSpPr>
        <p:spPr>
          <a:xfrm>
            <a:off x="7434072" y="2212848"/>
            <a:ext cx="310896" cy="310896"/>
          </a:xfrm>
          <a:prstGeom prst="ellipse">
            <a:avLst/>
          </a:prstGeom>
          <a:solidFill>
            <a:srgbClr val="7C5CFF"/>
          </a:solidFill>
          <a:ln w="19050">
            <a:solidFill>
              <a:srgbClr val="FFFFFF"/>
            </a:solidFill>
            <a:prstDash val="solid"/>
          </a:ln>
        </p:spPr>
      </p:sp>
      <p:sp>
        <p:nvSpPr>
          <p:cNvPr id="49" name="Shape 47"/>
          <p:cNvSpPr/>
          <p:nvPr/>
        </p:nvSpPr>
        <p:spPr>
          <a:xfrm>
            <a:off x="7434072" y="2779776"/>
            <a:ext cx="310896" cy="310896"/>
          </a:xfrm>
          <a:prstGeom prst="ellipse">
            <a:avLst/>
          </a:prstGeom>
          <a:solidFill>
            <a:srgbClr val="7C5CFF"/>
          </a:solidFill>
          <a:ln w="19050">
            <a:solidFill>
              <a:srgbClr val="FFFFFF"/>
            </a:solidFill>
            <a:prstDash val="solid"/>
          </a:ln>
        </p:spPr>
      </p:sp>
      <p:sp>
        <p:nvSpPr>
          <p:cNvPr id="50" name="Shape 48"/>
          <p:cNvSpPr/>
          <p:nvPr/>
        </p:nvSpPr>
        <p:spPr>
          <a:xfrm>
            <a:off x="7434072" y="3346704"/>
            <a:ext cx="310896" cy="310896"/>
          </a:xfrm>
          <a:prstGeom prst="ellipse">
            <a:avLst/>
          </a:prstGeom>
          <a:solidFill>
            <a:srgbClr val="7C5CFF"/>
          </a:solidFill>
          <a:ln w="19050">
            <a:solidFill>
              <a:srgbClr val="FFFFFF"/>
            </a:solidFill>
            <a:prstDash val="solid"/>
          </a:ln>
        </p:spPr>
      </p:sp>
      <p:sp>
        <p:nvSpPr>
          <p:cNvPr id="51" name="Shape 49"/>
          <p:cNvSpPr/>
          <p:nvPr/>
        </p:nvSpPr>
        <p:spPr>
          <a:xfrm>
            <a:off x="8257032" y="2212848"/>
            <a:ext cx="310896" cy="310896"/>
          </a:xfrm>
          <a:prstGeom prst="ellipse">
            <a:avLst/>
          </a:prstGeom>
          <a:solidFill>
            <a:srgbClr val="1FA99B"/>
          </a:solidFill>
          <a:ln w="19050">
            <a:solidFill>
              <a:srgbClr val="FFFFFF"/>
            </a:solidFill>
            <a:prstDash val="solid"/>
          </a:ln>
        </p:spPr>
      </p:sp>
      <p:sp>
        <p:nvSpPr>
          <p:cNvPr id="52" name="Shape 50"/>
          <p:cNvSpPr/>
          <p:nvPr/>
        </p:nvSpPr>
        <p:spPr>
          <a:xfrm>
            <a:off x="8257032" y="2779776"/>
            <a:ext cx="310896" cy="310896"/>
          </a:xfrm>
          <a:prstGeom prst="ellipse">
            <a:avLst/>
          </a:prstGeom>
          <a:solidFill>
            <a:srgbClr val="1FA99B"/>
          </a:solidFill>
          <a:ln w="1905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What is a neural network?</a:t>
            </a:r>
            <a:endParaRPr lang="en-US" sz="3400" dirty="0"/>
          </a:p>
        </p:txBody>
      </p:sp>
      <p:sp>
        <p:nvSpPr>
          <p:cNvPr id="3" name="AI circle"/>
          <p:cNvSpPr/>
          <p:nvPr/>
        </p:nvSpPr>
        <p:spPr>
          <a:xfrm>
            <a:off x="594360" y="1280160"/>
            <a:ext cx="3200400" cy="3200400"/>
          </a:xfrm>
          <a:prstGeom prst="ellipse">
            <a:avLst/>
          </a:prstGeom>
          <a:solidFill>
            <a:schemeClr val="bg2"/>
          </a:solidFill>
          <a:ln w="12700">
            <a:solidFill>
              <a:srgbClr val="CFC6F5"/>
            </a:solidFill>
            <a:prstDash val="solid"/>
          </a:ln>
        </p:spPr>
      </p:sp>
      <p:sp>
        <p:nvSpPr>
          <p:cNvPr id="4" name="ML circle"/>
          <p:cNvSpPr/>
          <p:nvPr/>
        </p:nvSpPr>
        <p:spPr>
          <a:xfrm>
            <a:off x="1051560" y="2194560"/>
            <a:ext cx="2286000" cy="2286000"/>
          </a:xfrm>
          <a:prstGeom prst="ellipse">
            <a:avLst/>
          </a:prstGeom>
          <a:solidFill>
            <a:schemeClr val="accent1">
              <a:alpha val="30000"/>
            </a:schemeClr>
          </a:solidFill>
          <a:ln/>
        </p:spPr>
      </p:sp>
      <p:sp>
        <p:nvSpPr>
          <p:cNvPr id="5" name="DL circle"/>
          <p:cNvSpPr/>
          <p:nvPr/>
        </p:nvSpPr>
        <p:spPr>
          <a:xfrm>
            <a:off x="1463040" y="3017520"/>
            <a:ext cx="1463040" cy="1463040"/>
          </a:xfrm>
          <a:prstGeom prst="ellipse">
            <a:avLst/>
          </a:prstGeom>
          <a:solidFill>
            <a:schemeClr val="accent1"/>
          </a:solidFill>
          <a:ln/>
        </p:spPr>
      </p:sp>
      <p:sp>
        <p:nvSpPr>
          <p:cNvPr id="6" name="Text 4"/>
          <p:cNvSpPr txBox="1"/>
          <p:nvPr/>
        </p:nvSpPr>
        <p:spPr>
          <a:xfrm>
            <a:off x="594360" y="1508760"/>
            <a:ext cx="3200400" cy="320040"/>
          </a:xfrm>
          <a:prstGeom prst="rect">
            <a:avLst/>
          </a:prstGeom>
          <a:noFill/>
          <a:ln/>
        </p:spPr>
        <p:txBody>
          <a:bodyPr wrap="square" lIns="0" tIns="0" rIns="0" bIns="0" rtlCol="0" anchor="t"/>
          <a:lstStyle/>
          <a:p>
            <a:pPr algn="ctr" indent="0" marL="0">
              <a:buNone/>
            </a:pPr>
            <a:r>
              <a:rPr lang="en-US" sz="1400" b="1" dirty="0">
                <a:solidFill>
                  <a:schemeClr val="tx1"/>
                </a:solidFill>
              </a:rPr>
              <a:t>Artificial Intelligence</a:t>
            </a:r>
            <a:endParaRPr lang="en-US" sz="1400" dirty="0"/>
          </a:p>
        </p:txBody>
      </p:sp>
      <p:sp>
        <p:nvSpPr>
          <p:cNvPr id="7" name="Text 5"/>
          <p:cNvSpPr txBox="1"/>
          <p:nvPr/>
        </p:nvSpPr>
        <p:spPr>
          <a:xfrm>
            <a:off x="1051560" y="2423160"/>
            <a:ext cx="2286000" cy="320040"/>
          </a:xfrm>
          <a:prstGeom prst="rect">
            <a:avLst/>
          </a:prstGeom>
          <a:noFill/>
          <a:ln/>
        </p:spPr>
        <p:txBody>
          <a:bodyPr wrap="square" lIns="0" tIns="0" rIns="0" bIns="0" rtlCol="0" anchor="t"/>
          <a:lstStyle/>
          <a:p>
            <a:pPr algn="ctr" indent="0" marL="0">
              <a:buNone/>
            </a:pPr>
            <a:r>
              <a:rPr lang="en-US" sz="1400" b="1" dirty="0">
                <a:solidFill>
                  <a:schemeClr val="tx1"/>
                </a:solidFill>
              </a:rPr>
              <a:t>Machine Learning</a:t>
            </a:r>
            <a:endParaRPr lang="en-US" sz="1400" dirty="0"/>
          </a:p>
        </p:txBody>
      </p:sp>
      <p:sp>
        <p:nvSpPr>
          <p:cNvPr id="8" name="Text 6"/>
          <p:cNvSpPr txBox="1"/>
          <p:nvPr/>
        </p:nvSpPr>
        <p:spPr>
          <a:xfrm>
            <a:off x="1463040" y="3017520"/>
            <a:ext cx="1463040" cy="1463040"/>
          </a:xfrm>
          <a:prstGeom prst="rect">
            <a:avLst/>
          </a:prstGeom>
          <a:noFill/>
          <a:ln/>
        </p:spPr>
        <p:txBody>
          <a:bodyPr wrap="square" lIns="0" tIns="0" rIns="0" bIns="0" rtlCol="0" anchor="ctr"/>
          <a:lstStyle/>
          <a:p>
            <a:pPr algn="ctr" indent="0" marL="0">
              <a:buNone/>
            </a:pPr>
            <a:r>
              <a:rPr lang="en-US" sz="1400" b="1" dirty="0">
                <a:solidFill>
                  <a:schemeClr val="bg1"/>
                </a:solidFill>
              </a:rPr>
              <a:t>Deep</a:t>
            </a:r>
            <a:endParaRPr lang="en-US" sz="1400" dirty="0"/>
          </a:p>
          <a:p>
            <a:pPr algn="ctr" indent="0" marL="0">
              <a:buNone/>
            </a:pPr>
            <a:r>
              <a:rPr lang="en-US" sz="1400" b="1" dirty="0">
                <a:solidFill>
                  <a:schemeClr val="bg1"/>
                </a:solidFill>
              </a:rPr>
              <a:t>Learning</a:t>
            </a:r>
            <a:endParaRPr lang="en-US" sz="1400" dirty="0"/>
          </a:p>
        </p:txBody>
      </p:sp>
      <p:sp>
        <p:nvSpPr>
          <p:cNvPr id="9" name="Badge 1"/>
          <p:cNvSpPr/>
          <p:nvPr/>
        </p:nvSpPr>
        <p:spPr>
          <a:xfrm>
            <a:off x="4480560" y="1280160"/>
            <a:ext cx="384048" cy="384048"/>
          </a:xfrm>
          <a:prstGeom prst="ellipse">
            <a:avLst/>
          </a:prstGeom>
          <a:solidFill>
            <a:schemeClr val="accent1"/>
          </a:solidFill>
          <a:ln/>
        </p:spPr>
      </p:sp>
      <p:sp>
        <p:nvSpPr>
          <p:cNvPr id="10" name="Text 8"/>
          <p:cNvSpPr txBox="1"/>
          <p:nvPr/>
        </p:nvSpPr>
        <p:spPr>
          <a:xfrm>
            <a:off x="448056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9"/>
          <p:cNvSpPr txBox="1"/>
          <p:nvPr/>
        </p:nvSpPr>
        <p:spPr>
          <a:xfrm>
            <a:off x="5074920" y="1280160"/>
            <a:ext cx="3611880" cy="292608"/>
          </a:xfrm>
          <a:prstGeom prst="rect">
            <a:avLst/>
          </a:prstGeom>
          <a:noFill/>
          <a:ln/>
        </p:spPr>
        <p:txBody>
          <a:bodyPr wrap="square" lIns="0" tIns="0" rIns="0" bIns="0" rtlCol="0" anchor="t"/>
          <a:lstStyle/>
          <a:p>
            <a:pPr indent="0" marL="0">
              <a:buNone/>
            </a:pPr>
            <a:r>
              <a:rPr lang="en-US" sz="1800" b="1" dirty="0">
                <a:solidFill>
                  <a:schemeClr val="tx1"/>
                </a:solidFill>
              </a:rPr>
              <a:t>A learnable function</a:t>
            </a:r>
            <a:endParaRPr lang="en-US" sz="1800" dirty="0"/>
          </a:p>
        </p:txBody>
      </p:sp>
      <p:sp>
        <p:nvSpPr>
          <p:cNvPr id="12" name="Text 10"/>
          <p:cNvSpPr txBox="1"/>
          <p:nvPr/>
        </p:nvSpPr>
        <p:spPr>
          <a:xfrm>
            <a:off x="5074920" y="1609344"/>
            <a:ext cx="3611880" cy="685800"/>
          </a:xfrm>
          <a:prstGeom prst="rect">
            <a:avLst/>
          </a:prstGeom>
          <a:noFill/>
          <a:ln/>
        </p:spPr>
        <p:txBody>
          <a:bodyPr wrap="square" lIns="0" tIns="0" rIns="0" bIns="0" rtlCol="0" anchor="t"/>
          <a:lstStyle/>
          <a:p>
            <a:pPr indent="0" marL="0">
              <a:buNone/>
            </a:pPr>
            <a:r>
              <a:rPr lang="en-US" sz="1400" dirty="0">
                <a:solidFill>
                  <a:schemeClr val="tx2"/>
                </a:solidFill>
              </a:rPr>
              <a:t>It maps inputs (pixels, words, numbers) to outputs by tuning millions of numeric parameters.</a:t>
            </a:r>
            <a:endParaRPr lang="en-US" sz="1400" dirty="0"/>
          </a:p>
        </p:txBody>
      </p:sp>
      <p:sp>
        <p:nvSpPr>
          <p:cNvPr id="13" name="Badge 2"/>
          <p:cNvSpPr/>
          <p:nvPr/>
        </p:nvSpPr>
        <p:spPr>
          <a:xfrm>
            <a:off x="4480560" y="2423160"/>
            <a:ext cx="384048" cy="384048"/>
          </a:xfrm>
          <a:prstGeom prst="ellipse">
            <a:avLst/>
          </a:prstGeom>
          <a:solidFill>
            <a:schemeClr val="accent1"/>
          </a:solidFill>
          <a:ln/>
        </p:spPr>
      </p:sp>
      <p:sp>
        <p:nvSpPr>
          <p:cNvPr id="14" name="Text 12"/>
          <p:cNvSpPr txBox="1"/>
          <p:nvPr/>
        </p:nvSpPr>
        <p:spPr>
          <a:xfrm>
            <a:off x="4480560" y="2423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3"/>
          <p:cNvSpPr txBox="1"/>
          <p:nvPr/>
        </p:nvSpPr>
        <p:spPr>
          <a:xfrm>
            <a:off x="5074920" y="2423160"/>
            <a:ext cx="3611880" cy="292608"/>
          </a:xfrm>
          <a:prstGeom prst="rect">
            <a:avLst/>
          </a:prstGeom>
          <a:noFill/>
          <a:ln/>
        </p:spPr>
        <p:txBody>
          <a:bodyPr wrap="square" lIns="0" tIns="0" rIns="0" bIns="0" rtlCol="0" anchor="t"/>
          <a:lstStyle/>
          <a:p>
            <a:pPr indent="0" marL="0">
              <a:buNone/>
            </a:pPr>
            <a:r>
              <a:rPr lang="en-US" sz="1800" b="1" dirty="0">
                <a:solidFill>
                  <a:schemeClr val="tx1"/>
                </a:solidFill>
              </a:rPr>
              <a:t>Built from simple units</a:t>
            </a:r>
            <a:endParaRPr lang="en-US" sz="1800" dirty="0"/>
          </a:p>
        </p:txBody>
      </p:sp>
      <p:sp>
        <p:nvSpPr>
          <p:cNvPr id="16" name="Text 14"/>
          <p:cNvSpPr txBox="1"/>
          <p:nvPr/>
        </p:nvSpPr>
        <p:spPr>
          <a:xfrm>
            <a:off x="5074920" y="2752344"/>
            <a:ext cx="3611880" cy="685800"/>
          </a:xfrm>
          <a:prstGeom prst="rect">
            <a:avLst/>
          </a:prstGeom>
          <a:noFill/>
          <a:ln/>
        </p:spPr>
        <p:txBody>
          <a:bodyPr wrap="square" lIns="0" tIns="0" rIns="0" bIns="0" rtlCol="0" anchor="t"/>
          <a:lstStyle/>
          <a:p>
            <a:pPr indent="0" marL="0">
              <a:buNone/>
            </a:pPr>
            <a:r>
              <a:rPr lang="en-US" sz="1400" dirty="0">
                <a:solidFill>
                  <a:schemeClr val="tx2"/>
                </a:solidFill>
              </a:rPr>
              <a:t>Small neurons connected in layers. Each does a tiny calculation; together they model complex patterns.</a:t>
            </a:r>
            <a:endParaRPr lang="en-US" sz="1400" dirty="0"/>
          </a:p>
        </p:txBody>
      </p:sp>
      <p:sp>
        <p:nvSpPr>
          <p:cNvPr id="17" name="Badge 3"/>
          <p:cNvSpPr/>
          <p:nvPr/>
        </p:nvSpPr>
        <p:spPr>
          <a:xfrm>
            <a:off x="4480560" y="3566160"/>
            <a:ext cx="384048" cy="384048"/>
          </a:xfrm>
          <a:prstGeom prst="ellipse">
            <a:avLst/>
          </a:prstGeom>
          <a:solidFill>
            <a:schemeClr val="accent1"/>
          </a:solidFill>
          <a:ln/>
        </p:spPr>
      </p:sp>
      <p:sp>
        <p:nvSpPr>
          <p:cNvPr id="18" name="Text 16"/>
          <p:cNvSpPr txBox="1"/>
          <p:nvPr/>
        </p:nvSpPr>
        <p:spPr>
          <a:xfrm>
            <a:off x="4480560" y="3566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5074920" y="3566160"/>
            <a:ext cx="3611880" cy="292608"/>
          </a:xfrm>
          <a:prstGeom prst="rect">
            <a:avLst/>
          </a:prstGeom>
          <a:noFill/>
          <a:ln/>
        </p:spPr>
        <p:txBody>
          <a:bodyPr wrap="square" lIns="0" tIns="0" rIns="0" bIns="0" rtlCol="0" anchor="t"/>
          <a:lstStyle/>
          <a:p>
            <a:pPr indent="0" marL="0">
              <a:buNone/>
            </a:pPr>
            <a:r>
              <a:rPr lang="en-US" sz="1800" b="1" dirty="0">
                <a:solidFill>
                  <a:schemeClr val="tx1"/>
                </a:solidFill>
              </a:rPr>
              <a:t>Learns from examples</a:t>
            </a:r>
            <a:endParaRPr lang="en-US" sz="1800" dirty="0"/>
          </a:p>
        </p:txBody>
      </p:sp>
      <p:sp>
        <p:nvSpPr>
          <p:cNvPr id="20" name="Text 18"/>
          <p:cNvSpPr txBox="1"/>
          <p:nvPr/>
        </p:nvSpPr>
        <p:spPr>
          <a:xfrm>
            <a:off x="5074920" y="3895344"/>
            <a:ext cx="3611880" cy="685800"/>
          </a:xfrm>
          <a:prstGeom prst="rect">
            <a:avLst/>
          </a:prstGeom>
          <a:noFill/>
          <a:ln/>
        </p:spPr>
        <p:txBody>
          <a:bodyPr wrap="square" lIns="0" tIns="0" rIns="0" bIns="0" rtlCol="0" anchor="t"/>
          <a:lstStyle/>
          <a:p>
            <a:pPr indent="0" marL="0">
              <a:buNone/>
            </a:pPr>
            <a:r>
              <a:rPr lang="en-US" sz="1400" dirty="0">
                <a:solidFill>
                  <a:schemeClr val="tx2"/>
                </a:solidFill>
              </a:rPr>
              <a:t>Instead of hand-written rules, it sees data, measures its error, and gradually improves.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neuron: the basic unit</a:t>
            </a:r>
            <a:endParaRPr lang="en-US" sz="3400" dirty="0"/>
          </a:p>
        </p:txBody>
      </p:sp>
      <p:sp>
        <p:nvSpPr>
          <p:cNvPr id="3" name="Shape 1"/>
          <p:cNvSpPr/>
          <p:nvPr/>
        </p:nvSpPr>
        <p:spPr>
          <a:xfrm>
            <a:off x="1143000" y="1691640"/>
            <a:ext cx="2240280" cy="822960"/>
          </a:xfrm>
          <a:prstGeom prst="line">
            <a:avLst/>
          </a:prstGeom>
          <a:noFill/>
          <a:ln w="19050">
            <a:solidFill>
              <a:srgbClr val="B9AEEB"/>
            </a:solidFill>
            <a:prstDash val="solid"/>
          </a:ln>
        </p:spPr>
      </p:sp>
      <p:sp>
        <p:nvSpPr>
          <p:cNvPr id="4" name="Shape 2"/>
          <p:cNvSpPr/>
          <p:nvPr/>
        </p:nvSpPr>
        <p:spPr>
          <a:xfrm>
            <a:off x="1143000" y="2514600"/>
            <a:ext cx="2240280" cy="0"/>
          </a:xfrm>
          <a:prstGeom prst="line">
            <a:avLst/>
          </a:prstGeom>
          <a:noFill/>
          <a:ln w="19050">
            <a:solidFill>
              <a:srgbClr val="B9AEEB"/>
            </a:solidFill>
            <a:prstDash val="solid"/>
          </a:ln>
        </p:spPr>
      </p:sp>
      <p:sp>
        <p:nvSpPr>
          <p:cNvPr id="5" name="Shape 3"/>
          <p:cNvSpPr/>
          <p:nvPr/>
        </p:nvSpPr>
        <p:spPr>
          <a:xfrm flipV="1">
            <a:off x="1143000" y="2514600"/>
            <a:ext cx="2240280" cy="822960"/>
          </a:xfrm>
          <a:prstGeom prst="line">
            <a:avLst/>
          </a:prstGeom>
          <a:noFill/>
          <a:ln w="19050">
            <a:solidFill>
              <a:srgbClr val="B9AEEB"/>
            </a:solidFill>
            <a:prstDash val="solid"/>
          </a:ln>
        </p:spPr>
      </p:sp>
      <p:sp>
        <p:nvSpPr>
          <p:cNvPr id="6" name="Shape 4"/>
          <p:cNvSpPr/>
          <p:nvPr/>
        </p:nvSpPr>
        <p:spPr>
          <a:xfrm>
            <a:off x="4297680" y="2514600"/>
            <a:ext cx="777240" cy="0"/>
          </a:xfrm>
          <a:prstGeom prst="line">
            <a:avLst/>
          </a:prstGeom>
          <a:noFill/>
          <a:ln w="19050">
            <a:solidFill>
              <a:srgbClr val="B9AEEB"/>
            </a:solidFill>
            <a:prstDash val="solid"/>
          </a:ln>
        </p:spPr>
      </p:sp>
      <p:sp>
        <p:nvSpPr>
          <p:cNvPr id="7" name="Shape 5"/>
          <p:cNvSpPr/>
          <p:nvPr/>
        </p:nvSpPr>
        <p:spPr>
          <a:xfrm>
            <a:off x="5897880" y="2514600"/>
            <a:ext cx="822960" cy="0"/>
          </a:xfrm>
          <a:prstGeom prst="line">
            <a:avLst/>
          </a:prstGeom>
          <a:noFill/>
          <a:ln w="19050">
            <a:solidFill>
              <a:srgbClr val="B9AEEB"/>
            </a:solidFill>
            <a:prstDash val="solid"/>
          </a:ln>
        </p:spPr>
      </p:sp>
      <p:sp>
        <p:nvSpPr>
          <p:cNvPr id="8" name="Input 1"/>
          <p:cNvSpPr/>
          <p:nvPr/>
        </p:nvSpPr>
        <p:spPr>
          <a:xfrm>
            <a:off x="594360" y="1417320"/>
            <a:ext cx="548640" cy="548640"/>
          </a:xfrm>
          <a:prstGeom prst="ellipse">
            <a:avLst/>
          </a:prstGeom>
          <a:solidFill>
            <a:schemeClr val="accent2"/>
          </a:solidFill>
          <a:ln/>
        </p:spPr>
      </p:sp>
      <p:sp>
        <p:nvSpPr>
          <p:cNvPr id="9" name="Text 7"/>
          <p:cNvSpPr txBox="1"/>
          <p:nvPr/>
        </p:nvSpPr>
        <p:spPr>
          <a:xfrm>
            <a:off x="594360" y="141732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x1</a:t>
            </a:r>
            <a:endParaRPr lang="en-US" sz="1600" dirty="0"/>
          </a:p>
        </p:txBody>
      </p:sp>
      <p:sp>
        <p:nvSpPr>
          <p:cNvPr id="10" name="Input 2"/>
          <p:cNvSpPr/>
          <p:nvPr/>
        </p:nvSpPr>
        <p:spPr>
          <a:xfrm>
            <a:off x="594360" y="2240280"/>
            <a:ext cx="548640" cy="548640"/>
          </a:xfrm>
          <a:prstGeom prst="ellipse">
            <a:avLst/>
          </a:prstGeom>
          <a:solidFill>
            <a:schemeClr val="accent2"/>
          </a:solidFill>
          <a:ln/>
        </p:spPr>
      </p:sp>
      <p:sp>
        <p:nvSpPr>
          <p:cNvPr id="11" name="Text 9"/>
          <p:cNvSpPr txBox="1"/>
          <p:nvPr/>
        </p:nvSpPr>
        <p:spPr>
          <a:xfrm>
            <a:off x="594360" y="224028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x2</a:t>
            </a:r>
            <a:endParaRPr lang="en-US" sz="1600" dirty="0"/>
          </a:p>
        </p:txBody>
      </p:sp>
      <p:sp>
        <p:nvSpPr>
          <p:cNvPr id="12" name="Input 3"/>
          <p:cNvSpPr/>
          <p:nvPr/>
        </p:nvSpPr>
        <p:spPr>
          <a:xfrm>
            <a:off x="594360" y="3063240"/>
            <a:ext cx="548640" cy="548640"/>
          </a:xfrm>
          <a:prstGeom prst="ellipse">
            <a:avLst/>
          </a:prstGeom>
          <a:solidFill>
            <a:schemeClr val="accent2"/>
          </a:solidFill>
          <a:ln/>
        </p:spPr>
      </p:sp>
      <p:sp>
        <p:nvSpPr>
          <p:cNvPr id="13" name="Text 11"/>
          <p:cNvSpPr txBox="1"/>
          <p:nvPr/>
        </p:nvSpPr>
        <p:spPr>
          <a:xfrm>
            <a:off x="594360" y="306324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x3</a:t>
            </a:r>
            <a:endParaRPr lang="en-US" sz="1600" dirty="0"/>
          </a:p>
        </p:txBody>
      </p:sp>
      <p:sp>
        <p:nvSpPr>
          <p:cNvPr id="14" name="Text 12"/>
          <p:cNvSpPr txBox="1"/>
          <p:nvPr/>
        </p:nvSpPr>
        <p:spPr>
          <a:xfrm>
            <a:off x="1965960" y="1810512"/>
            <a:ext cx="457200" cy="274320"/>
          </a:xfrm>
          <a:prstGeom prst="rect">
            <a:avLst/>
          </a:prstGeom>
          <a:noFill/>
          <a:ln/>
        </p:spPr>
        <p:txBody>
          <a:bodyPr wrap="square" lIns="0" tIns="0" rIns="0" bIns="0" rtlCol="0" anchor="t"/>
          <a:lstStyle/>
          <a:p>
            <a:pPr indent="0" marL="0">
              <a:buNone/>
            </a:pPr>
            <a:r>
              <a:rPr lang="en-US" sz="1400" b="1" dirty="0">
                <a:solidFill>
                  <a:schemeClr val="accent1"/>
                </a:solidFill>
              </a:rPr>
              <a:t>w1</a:t>
            </a:r>
            <a:endParaRPr lang="en-US" sz="1400" dirty="0"/>
          </a:p>
        </p:txBody>
      </p:sp>
      <p:sp>
        <p:nvSpPr>
          <p:cNvPr id="15" name="Text 13"/>
          <p:cNvSpPr txBox="1"/>
          <p:nvPr/>
        </p:nvSpPr>
        <p:spPr>
          <a:xfrm>
            <a:off x="2148840" y="2304288"/>
            <a:ext cx="457200" cy="274320"/>
          </a:xfrm>
          <a:prstGeom prst="rect">
            <a:avLst/>
          </a:prstGeom>
          <a:noFill/>
          <a:ln/>
        </p:spPr>
        <p:txBody>
          <a:bodyPr wrap="square" lIns="0" tIns="0" rIns="0" bIns="0" rtlCol="0" anchor="t"/>
          <a:lstStyle/>
          <a:p>
            <a:pPr indent="0" marL="0">
              <a:buNone/>
            </a:pPr>
            <a:r>
              <a:rPr lang="en-US" sz="1400" b="1" dirty="0">
                <a:solidFill>
                  <a:schemeClr val="accent1"/>
                </a:solidFill>
              </a:rPr>
              <a:t>w2</a:t>
            </a:r>
            <a:endParaRPr lang="en-US" sz="1400" dirty="0"/>
          </a:p>
        </p:txBody>
      </p:sp>
      <p:sp>
        <p:nvSpPr>
          <p:cNvPr id="16" name="Text 14"/>
          <p:cNvSpPr txBox="1"/>
          <p:nvPr/>
        </p:nvSpPr>
        <p:spPr>
          <a:xfrm>
            <a:off x="1965960" y="3017520"/>
            <a:ext cx="457200" cy="274320"/>
          </a:xfrm>
          <a:prstGeom prst="rect">
            <a:avLst/>
          </a:prstGeom>
          <a:noFill/>
          <a:ln/>
        </p:spPr>
        <p:txBody>
          <a:bodyPr wrap="square" lIns="0" tIns="0" rIns="0" bIns="0" rtlCol="0" anchor="t"/>
          <a:lstStyle/>
          <a:p>
            <a:pPr indent="0" marL="0">
              <a:buNone/>
            </a:pPr>
            <a:r>
              <a:rPr lang="en-US" sz="1400" b="1" dirty="0">
                <a:solidFill>
                  <a:schemeClr val="accent1"/>
                </a:solidFill>
              </a:rPr>
              <a:t>w3</a:t>
            </a:r>
            <a:endParaRPr lang="en-US" sz="1400" dirty="0"/>
          </a:p>
        </p:txBody>
      </p:sp>
      <p:sp>
        <p:nvSpPr>
          <p:cNvPr id="17" name="Sum node"/>
          <p:cNvSpPr/>
          <p:nvPr/>
        </p:nvSpPr>
        <p:spPr>
          <a:xfrm>
            <a:off x="3383280" y="2057400"/>
            <a:ext cx="914400" cy="914400"/>
          </a:xfrm>
          <a:prstGeom prst="ellipse">
            <a:avLst/>
          </a:prstGeom>
          <a:solidFill>
            <a:schemeClr val="accent1"/>
          </a:solidFill>
          <a:ln/>
        </p:spPr>
      </p:sp>
      <p:sp>
        <p:nvSpPr>
          <p:cNvPr id="18" name="Text 16"/>
          <p:cNvSpPr txBox="1"/>
          <p:nvPr/>
        </p:nvSpPr>
        <p:spPr>
          <a:xfrm>
            <a:off x="3383280" y="2057400"/>
            <a:ext cx="914400" cy="914400"/>
          </a:xfrm>
          <a:prstGeom prst="rect">
            <a:avLst/>
          </a:prstGeom>
          <a:noFill/>
          <a:ln/>
        </p:spPr>
        <p:txBody>
          <a:bodyPr wrap="square" lIns="0" tIns="0" rIns="0" bIns="0" rtlCol="0" anchor="ctr"/>
          <a:lstStyle/>
          <a:p>
            <a:pPr algn="ctr" indent="0" marL="0">
              <a:buNone/>
            </a:pPr>
            <a:r>
              <a:rPr lang="en-US" sz="2000" b="1" dirty="0">
                <a:solidFill>
                  <a:schemeClr val="bg1"/>
                </a:solidFill>
              </a:rPr>
              <a:t>Σ + b</a:t>
            </a:r>
            <a:endParaRPr lang="en-US" sz="2000" dirty="0"/>
          </a:p>
        </p:txBody>
      </p:sp>
      <p:sp>
        <p:nvSpPr>
          <p:cNvPr id="19" name="Activation node"/>
          <p:cNvSpPr/>
          <p:nvPr/>
        </p:nvSpPr>
        <p:spPr>
          <a:xfrm>
            <a:off x="5074920" y="2103120"/>
            <a:ext cx="822960" cy="822960"/>
          </a:xfrm>
          <a:prstGeom prst="roundRect">
            <a:avLst>
              <a:gd name="adj" fmla="val 13333"/>
            </a:avLst>
          </a:prstGeom>
          <a:solidFill>
            <a:schemeClr val="accent3"/>
          </a:solidFill>
          <a:ln/>
        </p:spPr>
      </p:sp>
      <p:sp>
        <p:nvSpPr>
          <p:cNvPr id="20" name="Text 18"/>
          <p:cNvSpPr txBox="1"/>
          <p:nvPr/>
        </p:nvSpPr>
        <p:spPr>
          <a:xfrm>
            <a:off x="5074920" y="2103120"/>
            <a:ext cx="822960" cy="822960"/>
          </a:xfrm>
          <a:prstGeom prst="rect">
            <a:avLst/>
          </a:prstGeom>
          <a:noFill/>
          <a:ln/>
        </p:spPr>
        <p:txBody>
          <a:bodyPr wrap="square" lIns="0" tIns="0" rIns="0" bIns="0" rtlCol="0" anchor="ctr"/>
          <a:lstStyle/>
          <a:p>
            <a:pPr algn="ctr" indent="0" marL="0">
              <a:buNone/>
            </a:pPr>
            <a:r>
              <a:rPr lang="en-US" sz="2400" b="1" i="1" dirty="0">
                <a:solidFill>
                  <a:schemeClr val="tx1"/>
                </a:solidFill>
                <a:latin typeface="+mj-lt" pitchFamily="34" charset="0"/>
                <a:ea typeface="+mj-lt" pitchFamily="34" charset="-122"/>
                <a:cs typeface="+mj-lt" pitchFamily="34" charset="-120"/>
              </a:rPr>
              <a:t>f</a:t>
            </a:r>
            <a:endParaRPr lang="en-US" sz="2400" dirty="0"/>
          </a:p>
        </p:txBody>
      </p:sp>
      <p:sp>
        <p:nvSpPr>
          <p:cNvPr id="21" name="Output node"/>
          <p:cNvSpPr/>
          <p:nvPr/>
        </p:nvSpPr>
        <p:spPr>
          <a:xfrm>
            <a:off x="6720840" y="2194560"/>
            <a:ext cx="640080" cy="640080"/>
          </a:xfrm>
          <a:prstGeom prst="ellipse">
            <a:avLst/>
          </a:prstGeom>
          <a:solidFill>
            <a:schemeClr val="tx1"/>
          </a:solidFill>
          <a:ln/>
        </p:spPr>
      </p:sp>
      <p:sp>
        <p:nvSpPr>
          <p:cNvPr id="22" name="Text 20"/>
          <p:cNvSpPr txBox="1"/>
          <p:nvPr/>
        </p:nvSpPr>
        <p:spPr>
          <a:xfrm>
            <a:off x="6720840" y="2194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ŷ</a:t>
            </a:r>
            <a:endParaRPr lang="en-US" sz="2000" dirty="0"/>
          </a:p>
        </p:txBody>
      </p:sp>
      <p:sp>
        <p:nvSpPr>
          <p:cNvPr id="23" name="Text 21"/>
          <p:cNvSpPr txBox="1"/>
          <p:nvPr/>
        </p:nvSpPr>
        <p:spPr>
          <a:xfrm>
            <a:off x="3017520" y="3108960"/>
            <a:ext cx="1645920" cy="502920"/>
          </a:xfrm>
          <a:prstGeom prst="rect">
            <a:avLst/>
          </a:prstGeom>
          <a:noFill/>
          <a:ln/>
        </p:spPr>
        <p:txBody>
          <a:bodyPr wrap="square" lIns="0" tIns="0" rIns="0" bIns="0" rtlCol="0" anchor="t"/>
          <a:lstStyle/>
          <a:p>
            <a:pPr algn="ctr" indent="0" marL="0">
              <a:buNone/>
            </a:pPr>
            <a:r>
              <a:rPr lang="en-US" sz="1400" dirty="0">
                <a:solidFill>
                  <a:schemeClr val="tx2"/>
                </a:solidFill>
              </a:rPr>
              <a:t>Weighted sum</a:t>
            </a:r>
            <a:endParaRPr lang="en-US" sz="1400" dirty="0"/>
          </a:p>
          <a:p>
            <a:pPr algn="ctr" indent="0" marL="0">
              <a:buNone/>
            </a:pPr>
            <a:r>
              <a:rPr lang="en-US" sz="1400" dirty="0">
                <a:solidFill>
                  <a:schemeClr val="tx2"/>
                </a:solidFill>
              </a:rPr>
              <a:t>+ bias</a:t>
            </a:r>
            <a:endParaRPr lang="en-US" sz="1400" dirty="0"/>
          </a:p>
        </p:txBody>
      </p:sp>
      <p:sp>
        <p:nvSpPr>
          <p:cNvPr id="24" name="Text 22"/>
          <p:cNvSpPr txBox="1"/>
          <p:nvPr/>
        </p:nvSpPr>
        <p:spPr>
          <a:xfrm>
            <a:off x="4892040" y="3108960"/>
            <a:ext cx="1188720" cy="274320"/>
          </a:xfrm>
          <a:prstGeom prst="rect">
            <a:avLst/>
          </a:prstGeom>
          <a:noFill/>
          <a:ln/>
        </p:spPr>
        <p:txBody>
          <a:bodyPr wrap="square" lIns="0" tIns="0" rIns="0" bIns="0" rtlCol="0" anchor="t"/>
          <a:lstStyle/>
          <a:p>
            <a:pPr algn="ctr" indent="0" marL="0">
              <a:buNone/>
            </a:pPr>
            <a:r>
              <a:rPr lang="en-US" sz="1400" dirty="0">
                <a:solidFill>
                  <a:schemeClr val="tx2"/>
                </a:solidFill>
              </a:rPr>
              <a:t>Activation</a:t>
            </a:r>
            <a:endParaRPr lang="en-US" sz="1400" dirty="0"/>
          </a:p>
        </p:txBody>
      </p:sp>
      <p:sp>
        <p:nvSpPr>
          <p:cNvPr id="25" name="Text 23"/>
          <p:cNvSpPr txBox="1"/>
          <p:nvPr/>
        </p:nvSpPr>
        <p:spPr>
          <a:xfrm>
            <a:off x="6492240" y="3108960"/>
            <a:ext cx="1097280" cy="274320"/>
          </a:xfrm>
          <a:prstGeom prst="rect">
            <a:avLst/>
          </a:prstGeom>
          <a:noFill/>
          <a:ln/>
        </p:spPr>
        <p:txBody>
          <a:bodyPr wrap="square" lIns="0" tIns="0" rIns="0" bIns="0" rtlCol="0" anchor="t"/>
          <a:lstStyle/>
          <a:p>
            <a:pPr algn="ctr" indent="0" marL="0">
              <a:buNone/>
            </a:pPr>
            <a:r>
              <a:rPr lang="en-US" sz="1400" dirty="0">
                <a:solidFill>
                  <a:schemeClr val="tx2"/>
                </a:solidFill>
              </a:rPr>
              <a:t>Output</a:t>
            </a:r>
            <a:endParaRPr lang="en-US" sz="1400" dirty="0"/>
          </a:p>
        </p:txBody>
      </p:sp>
      <p:sp>
        <p:nvSpPr>
          <p:cNvPr id="26" name="Text 24"/>
          <p:cNvSpPr txBox="1"/>
          <p:nvPr/>
        </p:nvSpPr>
        <p:spPr>
          <a:xfrm>
            <a:off x="365760" y="3657600"/>
            <a:ext cx="1737360" cy="274320"/>
          </a:xfrm>
          <a:prstGeom prst="rect">
            <a:avLst/>
          </a:prstGeom>
          <a:noFill/>
          <a:ln/>
        </p:spPr>
        <p:txBody>
          <a:bodyPr wrap="square" lIns="0" tIns="0" rIns="0" bIns="0" rtlCol="0" anchor="t"/>
          <a:lstStyle/>
          <a:p>
            <a:pPr algn="l" indent="0" marL="0">
              <a:buNone/>
            </a:pPr>
            <a:r>
              <a:rPr lang="en-US" sz="1400" dirty="0">
                <a:solidFill>
                  <a:schemeClr val="tx2"/>
                </a:solidFill>
              </a:rPr>
              <a:t>Inputs and weights</a:t>
            </a:r>
            <a:endParaRPr lang="en-US" sz="1400" dirty="0"/>
          </a:p>
        </p:txBody>
      </p:sp>
      <p:sp>
        <p:nvSpPr>
          <p:cNvPr id="27" name="Formula card"/>
          <p:cNvSpPr/>
          <p:nvPr/>
        </p:nvSpPr>
        <p:spPr>
          <a:xfrm>
            <a:off x="457200" y="4023360"/>
            <a:ext cx="8229600" cy="640080"/>
          </a:xfrm>
          <a:prstGeom prst="roundRect">
            <a:avLst>
              <a:gd name="adj" fmla="val 17143"/>
            </a:avLst>
          </a:prstGeom>
          <a:solidFill>
            <a:schemeClr val="bg2"/>
          </a:solidFill>
          <a:ln/>
        </p:spPr>
      </p:sp>
      <p:sp>
        <p:nvSpPr>
          <p:cNvPr id="28" name="Text 26"/>
          <p:cNvSpPr txBox="1"/>
          <p:nvPr/>
        </p:nvSpPr>
        <p:spPr>
          <a:xfrm>
            <a:off x="457200" y="4023360"/>
            <a:ext cx="822960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ŷ = f( w1·x1 + w2·x2 + w3·x3 + b )</a:t>
            </a:r>
            <a:endParaRPr lang="en-US" sz="2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Activation functions</a:t>
            </a:r>
            <a:endParaRPr lang="en-US" sz="3400" dirty="0"/>
          </a:p>
        </p:txBody>
      </p:sp>
      <p:graphicFrame>
        <p:nvGraphicFramePr>
          <p:cNvPr id="3" name="Chart 0" descr=""/>
          <p:cNvGraphicFramePr/>
          <p:nvPr/>
        </p:nvGraphicFramePr>
        <p:xfrm>
          <a:off x="457200" y="1188720"/>
          <a:ext cx="5120640" cy="3017520"/>
        </p:xfrm>
        <a:graphic xmlns:a="http://schemas.openxmlformats.org/drawingml/2006/main">
          <a:graphicData uri="http://schemas.openxmlformats.org/drawingml/2006/chart">
            <c:chart xmlns:c="http://schemas.openxmlformats.org/drawingml/2006/chart" r:id="rId1"/>
          </a:graphicData>
        </a:graphic>
      </p:graphicFrame>
      <p:sp>
        <p:nvSpPr>
          <p:cNvPr id="4" name="Activation card 1"/>
          <p:cNvSpPr/>
          <p:nvPr/>
        </p:nvSpPr>
        <p:spPr>
          <a:xfrm>
            <a:off x="5852160" y="1234440"/>
            <a:ext cx="2834640" cy="914400"/>
          </a:xfrm>
          <a:prstGeom prst="roundRect">
            <a:avLst>
              <a:gd name="adj" fmla="val 12000"/>
            </a:avLst>
          </a:prstGeom>
          <a:solidFill>
            <a:schemeClr val="bg2"/>
          </a:solidFill>
          <a:ln/>
        </p:spPr>
      </p:sp>
      <p:sp>
        <p:nvSpPr>
          <p:cNvPr id="5" name="Shape 2"/>
          <p:cNvSpPr/>
          <p:nvPr/>
        </p:nvSpPr>
        <p:spPr>
          <a:xfrm>
            <a:off x="6035040" y="1380744"/>
            <a:ext cx="182880" cy="182880"/>
          </a:xfrm>
          <a:prstGeom prst="ellipse">
            <a:avLst/>
          </a:prstGeom>
          <a:solidFill>
            <a:srgbClr val="7C5CFF"/>
          </a:solidFill>
          <a:ln/>
        </p:spPr>
      </p:sp>
      <p:sp>
        <p:nvSpPr>
          <p:cNvPr id="6" name="Text 3"/>
          <p:cNvSpPr txBox="1"/>
          <p:nvPr/>
        </p:nvSpPr>
        <p:spPr>
          <a:xfrm>
            <a:off x="6355080" y="1325880"/>
            <a:ext cx="2194560" cy="274320"/>
          </a:xfrm>
          <a:prstGeom prst="rect">
            <a:avLst/>
          </a:prstGeom>
          <a:noFill/>
          <a:ln/>
        </p:spPr>
        <p:txBody>
          <a:bodyPr wrap="square" lIns="0" tIns="0" rIns="0" bIns="0" rtlCol="0" anchor="t"/>
          <a:lstStyle/>
          <a:p>
            <a:pPr indent="0" marL="0">
              <a:buNone/>
            </a:pPr>
            <a:r>
              <a:rPr lang="en-US" sz="1600" b="1" dirty="0">
                <a:solidFill>
                  <a:schemeClr val="tx1"/>
                </a:solidFill>
              </a:rPr>
              <a:t>Sigmoid</a:t>
            </a:r>
            <a:endParaRPr lang="en-US" sz="1600" dirty="0"/>
          </a:p>
        </p:txBody>
      </p:sp>
      <p:sp>
        <p:nvSpPr>
          <p:cNvPr id="7" name="Text 4"/>
          <p:cNvSpPr txBox="1"/>
          <p:nvPr/>
        </p:nvSpPr>
        <p:spPr>
          <a:xfrm>
            <a:off x="6035040" y="1618488"/>
            <a:ext cx="2560320" cy="457200"/>
          </a:xfrm>
          <a:prstGeom prst="rect">
            <a:avLst/>
          </a:prstGeom>
          <a:noFill/>
          <a:ln/>
        </p:spPr>
        <p:txBody>
          <a:bodyPr wrap="square" lIns="0" tIns="0" rIns="0" bIns="0" rtlCol="0" anchor="t"/>
          <a:lstStyle/>
          <a:p>
            <a:pPr indent="0" marL="0">
              <a:buNone/>
            </a:pPr>
            <a:r>
              <a:rPr lang="en-US" sz="1400" dirty="0">
                <a:solidFill>
                  <a:schemeClr val="tx2"/>
                </a:solidFill>
              </a:rPr>
              <a:t>Squashes to 0–1. Good for probabilities.</a:t>
            </a:r>
            <a:endParaRPr lang="en-US" sz="1400" dirty="0"/>
          </a:p>
        </p:txBody>
      </p:sp>
      <p:sp>
        <p:nvSpPr>
          <p:cNvPr id="8" name="Activation card 2"/>
          <p:cNvSpPr/>
          <p:nvPr/>
        </p:nvSpPr>
        <p:spPr>
          <a:xfrm>
            <a:off x="5852160" y="2240280"/>
            <a:ext cx="2834640" cy="914400"/>
          </a:xfrm>
          <a:prstGeom prst="roundRect">
            <a:avLst>
              <a:gd name="adj" fmla="val 12000"/>
            </a:avLst>
          </a:prstGeom>
          <a:solidFill>
            <a:schemeClr val="bg2"/>
          </a:solidFill>
          <a:ln/>
        </p:spPr>
      </p:sp>
      <p:sp>
        <p:nvSpPr>
          <p:cNvPr id="9" name="Shape 6"/>
          <p:cNvSpPr/>
          <p:nvPr/>
        </p:nvSpPr>
        <p:spPr>
          <a:xfrm>
            <a:off x="6035040" y="2386584"/>
            <a:ext cx="182880" cy="182880"/>
          </a:xfrm>
          <a:prstGeom prst="ellipse">
            <a:avLst/>
          </a:prstGeom>
          <a:solidFill>
            <a:srgbClr val="1FA99B"/>
          </a:solidFill>
          <a:ln/>
        </p:spPr>
      </p:sp>
      <p:sp>
        <p:nvSpPr>
          <p:cNvPr id="10" name="Text 7"/>
          <p:cNvSpPr txBox="1"/>
          <p:nvPr/>
        </p:nvSpPr>
        <p:spPr>
          <a:xfrm>
            <a:off x="6355080" y="2331720"/>
            <a:ext cx="2194560" cy="274320"/>
          </a:xfrm>
          <a:prstGeom prst="rect">
            <a:avLst/>
          </a:prstGeom>
          <a:noFill/>
          <a:ln/>
        </p:spPr>
        <p:txBody>
          <a:bodyPr wrap="square" lIns="0" tIns="0" rIns="0" bIns="0" rtlCol="0" anchor="t"/>
          <a:lstStyle/>
          <a:p>
            <a:pPr indent="0" marL="0">
              <a:buNone/>
            </a:pPr>
            <a:r>
              <a:rPr lang="en-US" sz="1600" b="1" dirty="0">
                <a:solidFill>
                  <a:schemeClr val="tx1"/>
                </a:solidFill>
              </a:rPr>
              <a:t>Tanh</a:t>
            </a:r>
            <a:endParaRPr lang="en-US" sz="1600" dirty="0"/>
          </a:p>
        </p:txBody>
      </p:sp>
      <p:sp>
        <p:nvSpPr>
          <p:cNvPr id="11" name="Text 8"/>
          <p:cNvSpPr txBox="1"/>
          <p:nvPr/>
        </p:nvSpPr>
        <p:spPr>
          <a:xfrm>
            <a:off x="6035040" y="2624328"/>
            <a:ext cx="2560320" cy="457200"/>
          </a:xfrm>
          <a:prstGeom prst="rect">
            <a:avLst/>
          </a:prstGeom>
          <a:noFill/>
          <a:ln/>
        </p:spPr>
        <p:txBody>
          <a:bodyPr wrap="square" lIns="0" tIns="0" rIns="0" bIns="0" rtlCol="0" anchor="t"/>
          <a:lstStyle/>
          <a:p>
            <a:pPr indent="0" marL="0">
              <a:buNone/>
            </a:pPr>
            <a:r>
              <a:rPr lang="en-US" sz="1400" dirty="0">
                <a:solidFill>
                  <a:schemeClr val="tx2"/>
                </a:solidFill>
              </a:rPr>
              <a:t>Squashes to −1 to 1. Zero-centered.</a:t>
            </a:r>
            <a:endParaRPr lang="en-US" sz="1400" dirty="0"/>
          </a:p>
        </p:txBody>
      </p:sp>
      <p:sp>
        <p:nvSpPr>
          <p:cNvPr id="12" name="Activation card 3"/>
          <p:cNvSpPr/>
          <p:nvPr/>
        </p:nvSpPr>
        <p:spPr>
          <a:xfrm>
            <a:off x="5852160" y="3246120"/>
            <a:ext cx="2834640" cy="914400"/>
          </a:xfrm>
          <a:prstGeom prst="roundRect">
            <a:avLst>
              <a:gd name="adj" fmla="val 12000"/>
            </a:avLst>
          </a:prstGeom>
          <a:solidFill>
            <a:schemeClr val="bg2"/>
          </a:solidFill>
          <a:ln/>
        </p:spPr>
      </p:sp>
      <p:sp>
        <p:nvSpPr>
          <p:cNvPr id="13" name="Shape 10"/>
          <p:cNvSpPr/>
          <p:nvPr/>
        </p:nvSpPr>
        <p:spPr>
          <a:xfrm>
            <a:off x="6035040" y="3392424"/>
            <a:ext cx="182880" cy="182880"/>
          </a:xfrm>
          <a:prstGeom prst="ellipse">
            <a:avLst/>
          </a:prstGeom>
          <a:solidFill>
            <a:srgbClr val="E8537A"/>
          </a:solidFill>
          <a:ln/>
        </p:spPr>
      </p:sp>
      <p:sp>
        <p:nvSpPr>
          <p:cNvPr id="14" name="Text 11"/>
          <p:cNvSpPr txBox="1"/>
          <p:nvPr/>
        </p:nvSpPr>
        <p:spPr>
          <a:xfrm>
            <a:off x="6355080" y="3337560"/>
            <a:ext cx="2194560" cy="274320"/>
          </a:xfrm>
          <a:prstGeom prst="rect">
            <a:avLst/>
          </a:prstGeom>
          <a:noFill/>
          <a:ln/>
        </p:spPr>
        <p:txBody>
          <a:bodyPr wrap="square" lIns="0" tIns="0" rIns="0" bIns="0" rtlCol="0" anchor="t"/>
          <a:lstStyle/>
          <a:p>
            <a:pPr indent="0" marL="0">
              <a:buNone/>
            </a:pPr>
            <a:r>
              <a:rPr lang="en-US" sz="1600" b="1" dirty="0">
                <a:solidFill>
                  <a:schemeClr val="tx1"/>
                </a:solidFill>
              </a:rPr>
              <a:t>ReLU</a:t>
            </a:r>
            <a:endParaRPr lang="en-US" sz="1600" dirty="0"/>
          </a:p>
        </p:txBody>
      </p:sp>
      <p:sp>
        <p:nvSpPr>
          <p:cNvPr id="15" name="Text 12"/>
          <p:cNvSpPr txBox="1"/>
          <p:nvPr/>
        </p:nvSpPr>
        <p:spPr>
          <a:xfrm>
            <a:off x="6035040" y="3630168"/>
            <a:ext cx="2560320" cy="457200"/>
          </a:xfrm>
          <a:prstGeom prst="rect">
            <a:avLst/>
          </a:prstGeom>
          <a:noFill/>
          <a:ln/>
        </p:spPr>
        <p:txBody>
          <a:bodyPr wrap="square" lIns="0" tIns="0" rIns="0" bIns="0" rtlCol="0" anchor="t"/>
          <a:lstStyle/>
          <a:p>
            <a:pPr indent="0" marL="0">
              <a:buNone/>
            </a:pPr>
            <a:r>
              <a:rPr lang="en-US" sz="1400" dirty="0">
                <a:solidFill>
                  <a:schemeClr val="tx2"/>
                </a:solidFill>
              </a:rPr>
              <a:t>max(0, x). Fast; the default for hidden layers.</a:t>
            </a:r>
            <a:endParaRPr lang="en-US" sz="1400" dirty="0"/>
          </a:p>
        </p:txBody>
      </p:sp>
      <p:sp>
        <p:nvSpPr>
          <p:cNvPr id="16" name="Text 13"/>
          <p:cNvSpPr txBox="1"/>
          <p:nvPr/>
        </p:nvSpPr>
        <p:spPr>
          <a:xfrm>
            <a:off x="457200" y="4315968"/>
            <a:ext cx="8229600" cy="320040"/>
          </a:xfrm>
          <a:prstGeom prst="rect">
            <a:avLst/>
          </a:prstGeom>
          <a:noFill/>
          <a:ln/>
        </p:spPr>
        <p:txBody>
          <a:bodyPr wrap="square" lIns="0" tIns="0" rIns="0" bIns="0" rtlCol="0" anchor="t"/>
          <a:lstStyle/>
          <a:p>
            <a:pPr indent="0" marL="0">
              <a:buNone/>
            </a:pPr>
            <a:r>
              <a:rPr lang="en-US" sz="1400" b="1" i="1" dirty="0">
                <a:solidFill>
                  <a:schemeClr val="accent1"/>
                </a:solidFill>
              </a:rPr>
              <a:t>Without activations, stacked layers collapse into one linear function.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Layers build a network</a:t>
            </a:r>
            <a:endParaRPr lang="en-US" sz="3400" dirty="0"/>
          </a:p>
        </p:txBody>
      </p:sp>
      <p:sp>
        <p:nvSpPr>
          <p:cNvPr id="3" name="Shape 1"/>
          <p:cNvSpPr/>
          <p:nvPr/>
        </p:nvSpPr>
        <p:spPr>
          <a:xfrm flipV="1">
            <a:off x="1005840" y="1668780"/>
            <a:ext cx="1600200" cy="342900"/>
          </a:xfrm>
          <a:prstGeom prst="line">
            <a:avLst/>
          </a:prstGeom>
          <a:noFill/>
          <a:ln w="9525">
            <a:solidFill>
              <a:srgbClr val="CFC6F5"/>
            </a:solidFill>
            <a:prstDash val="solid"/>
          </a:ln>
        </p:spPr>
      </p:sp>
      <p:sp>
        <p:nvSpPr>
          <p:cNvPr id="4" name="Shape 2"/>
          <p:cNvSpPr/>
          <p:nvPr/>
        </p:nvSpPr>
        <p:spPr>
          <a:xfrm>
            <a:off x="1005840" y="2011680"/>
            <a:ext cx="1600200" cy="342900"/>
          </a:xfrm>
          <a:prstGeom prst="line">
            <a:avLst/>
          </a:prstGeom>
          <a:noFill/>
          <a:ln w="9525">
            <a:solidFill>
              <a:srgbClr val="CFC6F5"/>
            </a:solidFill>
            <a:prstDash val="solid"/>
          </a:ln>
        </p:spPr>
      </p:sp>
      <p:sp>
        <p:nvSpPr>
          <p:cNvPr id="5" name="Shape 3"/>
          <p:cNvSpPr/>
          <p:nvPr/>
        </p:nvSpPr>
        <p:spPr>
          <a:xfrm>
            <a:off x="1005840" y="2011680"/>
            <a:ext cx="1600200" cy="1028700"/>
          </a:xfrm>
          <a:prstGeom prst="line">
            <a:avLst/>
          </a:prstGeom>
          <a:noFill/>
          <a:ln w="9525">
            <a:solidFill>
              <a:srgbClr val="CFC6F5"/>
            </a:solidFill>
            <a:prstDash val="solid"/>
          </a:ln>
        </p:spPr>
      </p:sp>
      <p:sp>
        <p:nvSpPr>
          <p:cNvPr id="6" name="Shape 4"/>
          <p:cNvSpPr/>
          <p:nvPr/>
        </p:nvSpPr>
        <p:spPr>
          <a:xfrm>
            <a:off x="1005840" y="2011680"/>
            <a:ext cx="1600200" cy="1714500"/>
          </a:xfrm>
          <a:prstGeom prst="line">
            <a:avLst/>
          </a:prstGeom>
          <a:noFill/>
          <a:ln w="9525">
            <a:solidFill>
              <a:srgbClr val="CFC6F5"/>
            </a:solidFill>
            <a:prstDash val="solid"/>
          </a:ln>
        </p:spPr>
      </p:sp>
      <p:sp>
        <p:nvSpPr>
          <p:cNvPr id="7" name="Shape 5"/>
          <p:cNvSpPr/>
          <p:nvPr/>
        </p:nvSpPr>
        <p:spPr>
          <a:xfrm flipV="1">
            <a:off x="1005840" y="1668780"/>
            <a:ext cx="1600200" cy="1028700"/>
          </a:xfrm>
          <a:prstGeom prst="line">
            <a:avLst/>
          </a:prstGeom>
          <a:noFill/>
          <a:ln w="9525">
            <a:solidFill>
              <a:srgbClr val="CFC6F5"/>
            </a:solidFill>
            <a:prstDash val="solid"/>
          </a:ln>
        </p:spPr>
      </p:sp>
      <p:sp>
        <p:nvSpPr>
          <p:cNvPr id="8" name="Shape 6"/>
          <p:cNvSpPr/>
          <p:nvPr/>
        </p:nvSpPr>
        <p:spPr>
          <a:xfrm flipV="1">
            <a:off x="1005840" y="2354580"/>
            <a:ext cx="1600200" cy="342900"/>
          </a:xfrm>
          <a:prstGeom prst="line">
            <a:avLst/>
          </a:prstGeom>
          <a:noFill/>
          <a:ln w="9525">
            <a:solidFill>
              <a:srgbClr val="CFC6F5"/>
            </a:solidFill>
            <a:prstDash val="solid"/>
          </a:ln>
        </p:spPr>
      </p:sp>
      <p:sp>
        <p:nvSpPr>
          <p:cNvPr id="9" name="Shape 7"/>
          <p:cNvSpPr/>
          <p:nvPr/>
        </p:nvSpPr>
        <p:spPr>
          <a:xfrm>
            <a:off x="1005840" y="2697480"/>
            <a:ext cx="1600200" cy="342900"/>
          </a:xfrm>
          <a:prstGeom prst="line">
            <a:avLst/>
          </a:prstGeom>
          <a:noFill/>
          <a:ln w="9525">
            <a:solidFill>
              <a:srgbClr val="CFC6F5"/>
            </a:solidFill>
            <a:prstDash val="solid"/>
          </a:ln>
        </p:spPr>
      </p:sp>
      <p:sp>
        <p:nvSpPr>
          <p:cNvPr id="10" name="Shape 8"/>
          <p:cNvSpPr/>
          <p:nvPr/>
        </p:nvSpPr>
        <p:spPr>
          <a:xfrm>
            <a:off x="1005840" y="2697480"/>
            <a:ext cx="1600200" cy="1028700"/>
          </a:xfrm>
          <a:prstGeom prst="line">
            <a:avLst/>
          </a:prstGeom>
          <a:noFill/>
          <a:ln w="9525">
            <a:solidFill>
              <a:srgbClr val="CFC6F5"/>
            </a:solidFill>
            <a:prstDash val="solid"/>
          </a:ln>
        </p:spPr>
      </p:sp>
      <p:sp>
        <p:nvSpPr>
          <p:cNvPr id="11" name="Shape 9"/>
          <p:cNvSpPr/>
          <p:nvPr/>
        </p:nvSpPr>
        <p:spPr>
          <a:xfrm flipV="1">
            <a:off x="1005840" y="1668780"/>
            <a:ext cx="1600200" cy="1714500"/>
          </a:xfrm>
          <a:prstGeom prst="line">
            <a:avLst/>
          </a:prstGeom>
          <a:noFill/>
          <a:ln w="9525">
            <a:solidFill>
              <a:srgbClr val="CFC6F5"/>
            </a:solidFill>
            <a:prstDash val="solid"/>
          </a:ln>
        </p:spPr>
      </p:sp>
      <p:sp>
        <p:nvSpPr>
          <p:cNvPr id="12" name="Shape 10"/>
          <p:cNvSpPr/>
          <p:nvPr/>
        </p:nvSpPr>
        <p:spPr>
          <a:xfrm flipV="1">
            <a:off x="1005840" y="2354580"/>
            <a:ext cx="1600200" cy="1028700"/>
          </a:xfrm>
          <a:prstGeom prst="line">
            <a:avLst/>
          </a:prstGeom>
          <a:noFill/>
          <a:ln w="9525">
            <a:solidFill>
              <a:srgbClr val="CFC6F5"/>
            </a:solidFill>
            <a:prstDash val="solid"/>
          </a:ln>
        </p:spPr>
      </p:sp>
      <p:sp>
        <p:nvSpPr>
          <p:cNvPr id="13" name="Shape 11"/>
          <p:cNvSpPr/>
          <p:nvPr/>
        </p:nvSpPr>
        <p:spPr>
          <a:xfrm flipV="1">
            <a:off x="1005840" y="3040380"/>
            <a:ext cx="1600200" cy="342900"/>
          </a:xfrm>
          <a:prstGeom prst="line">
            <a:avLst/>
          </a:prstGeom>
          <a:noFill/>
          <a:ln w="9525">
            <a:solidFill>
              <a:srgbClr val="CFC6F5"/>
            </a:solidFill>
            <a:prstDash val="solid"/>
          </a:ln>
        </p:spPr>
      </p:sp>
      <p:sp>
        <p:nvSpPr>
          <p:cNvPr id="14" name="Shape 12"/>
          <p:cNvSpPr/>
          <p:nvPr/>
        </p:nvSpPr>
        <p:spPr>
          <a:xfrm>
            <a:off x="1005840" y="3383280"/>
            <a:ext cx="1600200" cy="342900"/>
          </a:xfrm>
          <a:prstGeom prst="line">
            <a:avLst/>
          </a:prstGeom>
          <a:noFill/>
          <a:ln w="9525">
            <a:solidFill>
              <a:srgbClr val="CFC6F5"/>
            </a:solidFill>
            <a:prstDash val="solid"/>
          </a:ln>
        </p:spPr>
      </p:sp>
      <p:sp>
        <p:nvSpPr>
          <p:cNvPr id="15" name="Shape 13"/>
          <p:cNvSpPr/>
          <p:nvPr/>
        </p:nvSpPr>
        <p:spPr>
          <a:xfrm>
            <a:off x="2606040" y="1668780"/>
            <a:ext cx="1600200" cy="0"/>
          </a:xfrm>
          <a:prstGeom prst="line">
            <a:avLst/>
          </a:prstGeom>
          <a:noFill/>
          <a:ln w="9525">
            <a:solidFill>
              <a:srgbClr val="CFC6F5"/>
            </a:solidFill>
            <a:prstDash val="solid"/>
          </a:ln>
        </p:spPr>
      </p:sp>
      <p:sp>
        <p:nvSpPr>
          <p:cNvPr id="16" name="Shape 14"/>
          <p:cNvSpPr/>
          <p:nvPr/>
        </p:nvSpPr>
        <p:spPr>
          <a:xfrm>
            <a:off x="2606040" y="1668780"/>
            <a:ext cx="1600200" cy="685800"/>
          </a:xfrm>
          <a:prstGeom prst="line">
            <a:avLst/>
          </a:prstGeom>
          <a:noFill/>
          <a:ln w="9525">
            <a:solidFill>
              <a:srgbClr val="CFC6F5"/>
            </a:solidFill>
            <a:prstDash val="solid"/>
          </a:ln>
        </p:spPr>
      </p:sp>
      <p:sp>
        <p:nvSpPr>
          <p:cNvPr id="17" name="Shape 15"/>
          <p:cNvSpPr/>
          <p:nvPr/>
        </p:nvSpPr>
        <p:spPr>
          <a:xfrm>
            <a:off x="2606040" y="1668780"/>
            <a:ext cx="1600200" cy="1371600"/>
          </a:xfrm>
          <a:prstGeom prst="line">
            <a:avLst/>
          </a:prstGeom>
          <a:noFill/>
          <a:ln w="9525">
            <a:solidFill>
              <a:srgbClr val="CFC6F5"/>
            </a:solidFill>
            <a:prstDash val="solid"/>
          </a:ln>
        </p:spPr>
      </p:sp>
      <p:sp>
        <p:nvSpPr>
          <p:cNvPr id="18" name="Shape 16"/>
          <p:cNvSpPr/>
          <p:nvPr/>
        </p:nvSpPr>
        <p:spPr>
          <a:xfrm>
            <a:off x="2606040" y="1668780"/>
            <a:ext cx="1600200" cy="2057400"/>
          </a:xfrm>
          <a:prstGeom prst="line">
            <a:avLst/>
          </a:prstGeom>
          <a:noFill/>
          <a:ln w="9525">
            <a:solidFill>
              <a:srgbClr val="CFC6F5"/>
            </a:solidFill>
            <a:prstDash val="solid"/>
          </a:ln>
        </p:spPr>
      </p:sp>
      <p:sp>
        <p:nvSpPr>
          <p:cNvPr id="19" name="Shape 17"/>
          <p:cNvSpPr/>
          <p:nvPr/>
        </p:nvSpPr>
        <p:spPr>
          <a:xfrm flipV="1">
            <a:off x="2606040" y="1668780"/>
            <a:ext cx="1600200" cy="685800"/>
          </a:xfrm>
          <a:prstGeom prst="line">
            <a:avLst/>
          </a:prstGeom>
          <a:noFill/>
          <a:ln w="9525">
            <a:solidFill>
              <a:srgbClr val="CFC6F5"/>
            </a:solidFill>
            <a:prstDash val="solid"/>
          </a:ln>
        </p:spPr>
      </p:sp>
      <p:sp>
        <p:nvSpPr>
          <p:cNvPr id="20" name="Shape 18"/>
          <p:cNvSpPr/>
          <p:nvPr/>
        </p:nvSpPr>
        <p:spPr>
          <a:xfrm>
            <a:off x="2606040" y="2354580"/>
            <a:ext cx="1600200" cy="0"/>
          </a:xfrm>
          <a:prstGeom prst="line">
            <a:avLst/>
          </a:prstGeom>
          <a:noFill/>
          <a:ln w="9525">
            <a:solidFill>
              <a:srgbClr val="CFC6F5"/>
            </a:solidFill>
            <a:prstDash val="solid"/>
          </a:ln>
        </p:spPr>
      </p:sp>
      <p:sp>
        <p:nvSpPr>
          <p:cNvPr id="21" name="Shape 19"/>
          <p:cNvSpPr/>
          <p:nvPr/>
        </p:nvSpPr>
        <p:spPr>
          <a:xfrm>
            <a:off x="2606040" y="2354580"/>
            <a:ext cx="1600200" cy="685800"/>
          </a:xfrm>
          <a:prstGeom prst="line">
            <a:avLst/>
          </a:prstGeom>
          <a:noFill/>
          <a:ln w="9525">
            <a:solidFill>
              <a:srgbClr val="CFC6F5"/>
            </a:solidFill>
            <a:prstDash val="solid"/>
          </a:ln>
        </p:spPr>
      </p:sp>
      <p:sp>
        <p:nvSpPr>
          <p:cNvPr id="22" name="Shape 20"/>
          <p:cNvSpPr/>
          <p:nvPr/>
        </p:nvSpPr>
        <p:spPr>
          <a:xfrm>
            <a:off x="2606040" y="2354580"/>
            <a:ext cx="1600200" cy="1371600"/>
          </a:xfrm>
          <a:prstGeom prst="line">
            <a:avLst/>
          </a:prstGeom>
          <a:noFill/>
          <a:ln w="9525">
            <a:solidFill>
              <a:srgbClr val="CFC6F5"/>
            </a:solidFill>
            <a:prstDash val="solid"/>
          </a:ln>
        </p:spPr>
      </p:sp>
      <p:sp>
        <p:nvSpPr>
          <p:cNvPr id="23" name="Shape 21"/>
          <p:cNvSpPr/>
          <p:nvPr/>
        </p:nvSpPr>
        <p:spPr>
          <a:xfrm flipV="1">
            <a:off x="2606040" y="1668780"/>
            <a:ext cx="1600200" cy="1371600"/>
          </a:xfrm>
          <a:prstGeom prst="line">
            <a:avLst/>
          </a:prstGeom>
          <a:noFill/>
          <a:ln w="9525">
            <a:solidFill>
              <a:srgbClr val="CFC6F5"/>
            </a:solidFill>
            <a:prstDash val="solid"/>
          </a:ln>
        </p:spPr>
      </p:sp>
      <p:sp>
        <p:nvSpPr>
          <p:cNvPr id="24" name="Shape 22"/>
          <p:cNvSpPr/>
          <p:nvPr/>
        </p:nvSpPr>
        <p:spPr>
          <a:xfrm flipV="1">
            <a:off x="2606040" y="2354580"/>
            <a:ext cx="1600200" cy="685800"/>
          </a:xfrm>
          <a:prstGeom prst="line">
            <a:avLst/>
          </a:prstGeom>
          <a:noFill/>
          <a:ln w="9525">
            <a:solidFill>
              <a:srgbClr val="CFC6F5"/>
            </a:solidFill>
            <a:prstDash val="solid"/>
          </a:ln>
        </p:spPr>
      </p:sp>
      <p:sp>
        <p:nvSpPr>
          <p:cNvPr id="25" name="Shape 23"/>
          <p:cNvSpPr/>
          <p:nvPr/>
        </p:nvSpPr>
        <p:spPr>
          <a:xfrm>
            <a:off x="2606040" y="3040380"/>
            <a:ext cx="1600200" cy="0"/>
          </a:xfrm>
          <a:prstGeom prst="line">
            <a:avLst/>
          </a:prstGeom>
          <a:noFill/>
          <a:ln w="9525">
            <a:solidFill>
              <a:srgbClr val="CFC6F5"/>
            </a:solidFill>
            <a:prstDash val="solid"/>
          </a:ln>
        </p:spPr>
      </p:sp>
      <p:sp>
        <p:nvSpPr>
          <p:cNvPr id="26" name="Shape 24"/>
          <p:cNvSpPr/>
          <p:nvPr/>
        </p:nvSpPr>
        <p:spPr>
          <a:xfrm>
            <a:off x="2606040" y="3040380"/>
            <a:ext cx="1600200" cy="685800"/>
          </a:xfrm>
          <a:prstGeom prst="line">
            <a:avLst/>
          </a:prstGeom>
          <a:noFill/>
          <a:ln w="9525">
            <a:solidFill>
              <a:srgbClr val="CFC6F5"/>
            </a:solidFill>
            <a:prstDash val="solid"/>
          </a:ln>
        </p:spPr>
      </p:sp>
      <p:sp>
        <p:nvSpPr>
          <p:cNvPr id="27" name="Shape 25"/>
          <p:cNvSpPr/>
          <p:nvPr/>
        </p:nvSpPr>
        <p:spPr>
          <a:xfrm flipV="1">
            <a:off x="2606040" y="1668780"/>
            <a:ext cx="1600200" cy="2057400"/>
          </a:xfrm>
          <a:prstGeom prst="line">
            <a:avLst/>
          </a:prstGeom>
          <a:noFill/>
          <a:ln w="9525">
            <a:solidFill>
              <a:srgbClr val="CFC6F5"/>
            </a:solidFill>
            <a:prstDash val="solid"/>
          </a:ln>
        </p:spPr>
      </p:sp>
      <p:sp>
        <p:nvSpPr>
          <p:cNvPr id="28" name="Shape 26"/>
          <p:cNvSpPr/>
          <p:nvPr/>
        </p:nvSpPr>
        <p:spPr>
          <a:xfrm flipV="1">
            <a:off x="2606040" y="2354580"/>
            <a:ext cx="1600200" cy="1371600"/>
          </a:xfrm>
          <a:prstGeom prst="line">
            <a:avLst/>
          </a:prstGeom>
          <a:noFill/>
          <a:ln w="9525">
            <a:solidFill>
              <a:srgbClr val="CFC6F5"/>
            </a:solidFill>
            <a:prstDash val="solid"/>
          </a:ln>
        </p:spPr>
      </p:sp>
      <p:sp>
        <p:nvSpPr>
          <p:cNvPr id="29" name="Shape 27"/>
          <p:cNvSpPr/>
          <p:nvPr/>
        </p:nvSpPr>
        <p:spPr>
          <a:xfrm flipV="1">
            <a:off x="2606040" y="3040380"/>
            <a:ext cx="1600200" cy="685800"/>
          </a:xfrm>
          <a:prstGeom prst="line">
            <a:avLst/>
          </a:prstGeom>
          <a:noFill/>
          <a:ln w="9525">
            <a:solidFill>
              <a:srgbClr val="CFC6F5"/>
            </a:solidFill>
            <a:prstDash val="solid"/>
          </a:ln>
        </p:spPr>
      </p:sp>
      <p:sp>
        <p:nvSpPr>
          <p:cNvPr id="30" name="Shape 28"/>
          <p:cNvSpPr/>
          <p:nvPr/>
        </p:nvSpPr>
        <p:spPr>
          <a:xfrm>
            <a:off x="2606040" y="3726180"/>
            <a:ext cx="1600200" cy="0"/>
          </a:xfrm>
          <a:prstGeom prst="line">
            <a:avLst/>
          </a:prstGeom>
          <a:noFill/>
          <a:ln w="9525">
            <a:solidFill>
              <a:srgbClr val="CFC6F5"/>
            </a:solidFill>
            <a:prstDash val="solid"/>
          </a:ln>
        </p:spPr>
      </p:sp>
      <p:sp>
        <p:nvSpPr>
          <p:cNvPr id="31" name="Shape 29"/>
          <p:cNvSpPr/>
          <p:nvPr/>
        </p:nvSpPr>
        <p:spPr>
          <a:xfrm>
            <a:off x="4206240" y="1668780"/>
            <a:ext cx="1600200" cy="685800"/>
          </a:xfrm>
          <a:prstGeom prst="line">
            <a:avLst/>
          </a:prstGeom>
          <a:noFill/>
          <a:ln w="9525">
            <a:solidFill>
              <a:srgbClr val="CFC6F5"/>
            </a:solidFill>
            <a:prstDash val="solid"/>
          </a:ln>
        </p:spPr>
      </p:sp>
      <p:sp>
        <p:nvSpPr>
          <p:cNvPr id="32" name="Shape 30"/>
          <p:cNvSpPr/>
          <p:nvPr/>
        </p:nvSpPr>
        <p:spPr>
          <a:xfrm>
            <a:off x="4206240" y="1668780"/>
            <a:ext cx="1600200" cy="1371600"/>
          </a:xfrm>
          <a:prstGeom prst="line">
            <a:avLst/>
          </a:prstGeom>
          <a:noFill/>
          <a:ln w="9525">
            <a:solidFill>
              <a:srgbClr val="CFC6F5"/>
            </a:solidFill>
            <a:prstDash val="solid"/>
          </a:ln>
        </p:spPr>
      </p:sp>
      <p:sp>
        <p:nvSpPr>
          <p:cNvPr id="33" name="Shape 31"/>
          <p:cNvSpPr/>
          <p:nvPr/>
        </p:nvSpPr>
        <p:spPr>
          <a:xfrm>
            <a:off x="4206240" y="2354580"/>
            <a:ext cx="1600200" cy="0"/>
          </a:xfrm>
          <a:prstGeom prst="line">
            <a:avLst/>
          </a:prstGeom>
          <a:noFill/>
          <a:ln w="9525">
            <a:solidFill>
              <a:srgbClr val="CFC6F5"/>
            </a:solidFill>
            <a:prstDash val="solid"/>
          </a:ln>
        </p:spPr>
      </p:sp>
      <p:sp>
        <p:nvSpPr>
          <p:cNvPr id="34" name="Shape 32"/>
          <p:cNvSpPr/>
          <p:nvPr/>
        </p:nvSpPr>
        <p:spPr>
          <a:xfrm>
            <a:off x="4206240" y="2354580"/>
            <a:ext cx="1600200" cy="685800"/>
          </a:xfrm>
          <a:prstGeom prst="line">
            <a:avLst/>
          </a:prstGeom>
          <a:noFill/>
          <a:ln w="9525">
            <a:solidFill>
              <a:srgbClr val="CFC6F5"/>
            </a:solidFill>
            <a:prstDash val="solid"/>
          </a:ln>
        </p:spPr>
      </p:sp>
      <p:sp>
        <p:nvSpPr>
          <p:cNvPr id="35" name="Shape 33"/>
          <p:cNvSpPr/>
          <p:nvPr/>
        </p:nvSpPr>
        <p:spPr>
          <a:xfrm flipV="1">
            <a:off x="4206240" y="2354580"/>
            <a:ext cx="1600200" cy="685800"/>
          </a:xfrm>
          <a:prstGeom prst="line">
            <a:avLst/>
          </a:prstGeom>
          <a:noFill/>
          <a:ln w="9525">
            <a:solidFill>
              <a:srgbClr val="CFC6F5"/>
            </a:solidFill>
            <a:prstDash val="solid"/>
          </a:ln>
        </p:spPr>
      </p:sp>
      <p:sp>
        <p:nvSpPr>
          <p:cNvPr id="36" name="Shape 34"/>
          <p:cNvSpPr/>
          <p:nvPr/>
        </p:nvSpPr>
        <p:spPr>
          <a:xfrm>
            <a:off x="4206240" y="3040380"/>
            <a:ext cx="1600200" cy="0"/>
          </a:xfrm>
          <a:prstGeom prst="line">
            <a:avLst/>
          </a:prstGeom>
          <a:noFill/>
          <a:ln w="9525">
            <a:solidFill>
              <a:srgbClr val="CFC6F5"/>
            </a:solidFill>
            <a:prstDash val="solid"/>
          </a:ln>
        </p:spPr>
      </p:sp>
      <p:sp>
        <p:nvSpPr>
          <p:cNvPr id="37" name="Shape 35"/>
          <p:cNvSpPr/>
          <p:nvPr/>
        </p:nvSpPr>
        <p:spPr>
          <a:xfrm flipV="1">
            <a:off x="4206240" y="2354580"/>
            <a:ext cx="1600200" cy="1371600"/>
          </a:xfrm>
          <a:prstGeom prst="line">
            <a:avLst/>
          </a:prstGeom>
          <a:noFill/>
          <a:ln w="9525">
            <a:solidFill>
              <a:srgbClr val="CFC6F5"/>
            </a:solidFill>
            <a:prstDash val="solid"/>
          </a:ln>
        </p:spPr>
      </p:sp>
      <p:sp>
        <p:nvSpPr>
          <p:cNvPr id="38" name="Shape 36"/>
          <p:cNvSpPr/>
          <p:nvPr/>
        </p:nvSpPr>
        <p:spPr>
          <a:xfrm flipV="1">
            <a:off x="4206240" y="3040380"/>
            <a:ext cx="1600200" cy="685800"/>
          </a:xfrm>
          <a:prstGeom prst="line">
            <a:avLst/>
          </a:prstGeom>
          <a:noFill/>
          <a:ln w="9525">
            <a:solidFill>
              <a:srgbClr val="CFC6F5"/>
            </a:solidFill>
            <a:prstDash val="solid"/>
          </a:ln>
        </p:spPr>
      </p:sp>
      <p:sp>
        <p:nvSpPr>
          <p:cNvPr id="39" name="Shape 37"/>
          <p:cNvSpPr/>
          <p:nvPr/>
        </p:nvSpPr>
        <p:spPr>
          <a:xfrm>
            <a:off x="804672" y="1810512"/>
            <a:ext cx="402336" cy="402336"/>
          </a:xfrm>
          <a:prstGeom prst="ellipse">
            <a:avLst/>
          </a:prstGeom>
          <a:solidFill>
            <a:srgbClr val="FFB347"/>
          </a:solidFill>
          <a:ln w="19050">
            <a:solidFill>
              <a:srgbClr val="FFFFFF"/>
            </a:solidFill>
            <a:prstDash val="solid"/>
          </a:ln>
        </p:spPr>
      </p:sp>
      <p:sp>
        <p:nvSpPr>
          <p:cNvPr id="40" name="Shape 38"/>
          <p:cNvSpPr/>
          <p:nvPr/>
        </p:nvSpPr>
        <p:spPr>
          <a:xfrm>
            <a:off x="804672" y="2496312"/>
            <a:ext cx="402336" cy="402336"/>
          </a:xfrm>
          <a:prstGeom prst="ellipse">
            <a:avLst/>
          </a:prstGeom>
          <a:solidFill>
            <a:srgbClr val="FFB347"/>
          </a:solidFill>
          <a:ln w="19050">
            <a:solidFill>
              <a:srgbClr val="FFFFFF"/>
            </a:solidFill>
            <a:prstDash val="solid"/>
          </a:ln>
        </p:spPr>
      </p:sp>
      <p:sp>
        <p:nvSpPr>
          <p:cNvPr id="41" name="Shape 39"/>
          <p:cNvSpPr/>
          <p:nvPr/>
        </p:nvSpPr>
        <p:spPr>
          <a:xfrm>
            <a:off x="804672" y="3182112"/>
            <a:ext cx="402336" cy="402336"/>
          </a:xfrm>
          <a:prstGeom prst="ellipse">
            <a:avLst/>
          </a:prstGeom>
          <a:solidFill>
            <a:srgbClr val="FFB347"/>
          </a:solidFill>
          <a:ln w="19050">
            <a:solidFill>
              <a:srgbClr val="FFFFFF"/>
            </a:solidFill>
            <a:prstDash val="solid"/>
          </a:ln>
        </p:spPr>
      </p:sp>
      <p:sp>
        <p:nvSpPr>
          <p:cNvPr id="42" name="Shape 40"/>
          <p:cNvSpPr/>
          <p:nvPr/>
        </p:nvSpPr>
        <p:spPr>
          <a:xfrm>
            <a:off x="2404872" y="1467612"/>
            <a:ext cx="402336" cy="402336"/>
          </a:xfrm>
          <a:prstGeom prst="ellipse">
            <a:avLst/>
          </a:prstGeom>
          <a:solidFill>
            <a:srgbClr val="7C5CFF"/>
          </a:solidFill>
          <a:ln w="19050">
            <a:solidFill>
              <a:srgbClr val="FFFFFF"/>
            </a:solidFill>
            <a:prstDash val="solid"/>
          </a:ln>
        </p:spPr>
      </p:sp>
      <p:sp>
        <p:nvSpPr>
          <p:cNvPr id="43" name="Shape 41"/>
          <p:cNvSpPr/>
          <p:nvPr/>
        </p:nvSpPr>
        <p:spPr>
          <a:xfrm>
            <a:off x="2404872" y="2153412"/>
            <a:ext cx="402336" cy="402336"/>
          </a:xfrm>
          <a:prstGeom prst="ellipse">
            <a:avLst/>
          </a:prstGeom>
          <a:solidFill>
            <a:srgbClr val="7C5CFF"/>
          </a:solidFill>
          <a:ln w="19050">
            <a:solidFill>
              <a:srgbClr val="FFFFFF"/>
            </a:solidFill>
            <a:prstDash val="solid"/>
          </a:ln>
        </p:spPr>
      </p:sp>
      <p:sp>
        <p:nvSpPr>
          <p:cNvPr id="44" name="Shape 42"/>
          <p:cNvSpPr/>
          <p:nvPr/>
        </p:nvSpPr>
        <p:spPr>
          <a:xfrm>
            <a:off x="2404872" y="2839212"/>
            <a:ext cx="402336" cy="402336"/>
          </a:xfrm>
          <a:prstGeom prst="ellipse">
            <a:avLst/>
          </a:prstGeom>
          <a:solidFill>
            <a:srgbClr val="7C5CFF"/>
          </a:solidFill>
          <a:ln w="19050">
            <a:solidFill>
              <a:srgbClr val="FFFFFF"/>
            </a:solidFill>
            <a:prstDash val="solid"/>
          </a:ln>
        </p:spPr>
      </p:sp>
      <p:sp>
        <p:nvSpPr>
          <p:cNvPr id="45" name="Shape 43"/>
          <p:cNvSpPr/>
          <p:nvPr/>
        </p:nvSpPr>
        <p:spPr>
          <a:xfrm>
            <a:off x="2404872" y="3525012"/>
            <a:ext cx="402336" cy="402336"/>
          </a:xfrm>
          <a:prstGeom prst="ellipse">
            <a:avLst/>
          </a:prstGeom>
          <a:solidFill>
            <a:srgbClr val="7C5CFF"/>
          </a:solidFill>
          <a:ln w="19050">
            <a:solidFill>
              <a:srgbClr val="FFFFFF"/>
            </a:solidFill>
            <a:prstDash val="solid"/>
          </a:ln>
        </p:spPr>
      </p:sp>
      <p:sp>
        <p:nvSpPr>
          <p:cNvPr id="46" name="Shape 44"/>
          <p:cNvSpPr/>
          <p:nvPr/>
        </p:nvSpPr>
        <p:spPr>
          <a:xfrm>
            <a:off x="4005072" y="1467612"/>
            <a:ext cx="402336" cy="402336"/>
          </a:xfrm>
          <a:prstGeom prst="ellipse">
            <a:avLst/>
          </a:prstGeom>
          <a:solidFill>
            <a:srgbClr val="7C5CFF"/>
          </a:solidFill>
          <a:ln w="19050">
            <a:solidFill>
              <a:srgbClr val="FFFFFF"/>
            </a:solidFill>
            <a:prstDash val="solid"/>
          </a:ln>
        </p:spPr>
      </p:sp>
      <p:sp>
        <p:nvSpPr>
          <p:cNvPr id="47" name="Shape 45"/>
          <p:cNvSpPr/>
          <p:nvPr/>
        </p:nvSpPr>
        <p:spPr>
          <a:xfrm>
            <a:off x="4005072" y="2153412"/>
            <a:ext cx="402336" cy="402336"/>
          </a:xfrm>
          <a:prstGeom prst="ellipse">
            <a:avLst/>
          </a:prstGeom>
          <a:solidFill>
            <a:srgbClr val="7C5CFF"/>
          </a:solidFill>
          <a:ln w="19050">
            <a:solidFill>
              <a:srgbClr val="FFFFFF"/>
            </a:solidFill>
            <a:prstDash val="solid"/>
          </a:ln>
        </p:spPr>
      </p:sp>
      <p:sp>
        <p:nvSpPr>
          <p:cNvPr id="48" name="Shape 46"/>
          <p:cNvSpPr/>
          <p:nvPr/>
        </p:nvSpPr>
        <p:spPr>
          <a:xfrm>
            <a:off x="4005072" y="2839212"/>
            <a:ext cx="402336" cy="402336"/>
          </a:xfrm>
          <a:prstGeom prst="ellipse">
            <a:avLst/>
          </a:prstGeom>
          <a:solidFill>
            <a:srgbClr val="7C5CFF"/>
          </a:solidFill>
          <a:ln w="19050">
            <a:solidFill>
              <a:srgbClr val="FFFFFF"/>
            </a:solidFill>
            <a:prstDash val="solid"/>
          </a:ln>
        </p:spPr>
      </p:sp>
      <p:sp>
        <p:nvSpPr>
          <p:cNvPr id="49" name="Shape 47"/>
          <p:cNvSpPr/>
          <p:nvPr/>
        </p:nvSpPr>
        <p:spPr>
          <a:xfrm>
            <a:off x="4005072" y="3525012"/>
            <a:ext cx="402336" cy="402336"/>
          </a:xfrm>
          <a:prstGeom prst="ellipse">
            <a:avLst/>
          </a:prstGeom>
          <a:solidFill>
            <a:srgbClr val="7C5CFF"/>
          </a:solidFill>
          <a:ln w="19050">
            <a:solidFill>
              <a:srgbClr val="FFFFFF"/>
            </a:solidFill>
            <a:prstDash val="solid"/>
          </a:ln>
        </p:spPr>
      </p:sp>
      <p:sp>
        <p:nvSpPr>
          <p:cNvPr id="50" name="Shape 48"/>
          <p:cNvSpPr/>
          <p:nvPr/>
        </p:nvSpPr>
        <p:spPr>
          <a:xfrm>
            <a:off x="5605272" y="2153412"/>
            <a:ext cx="402336" cy="402336"/>
          </a:xfrm>
          <a:prstGeom prst="ellipse">
            <a:avLst/>
          </a:prstGeom>
          <a:solidFill>
            <a:srgbClr val="1FA99B"/>
          </a:solidFill>
          <a:ln w="19050">
            <a:solidFill>
              <a:srgbClr val="FFFFFF"/>
            </a:solidFill>
            <a:prstDash val="solid"/>
          </a:ln>
        </p:spPr>
      </p:sp>
      <p:sp>
        <p:nvSpPr>
          <p:cNvPr id="51" name="Shape 49"/>
          <p:cNvSpPr/>
          <p:nvPr/>
        </p:nvSpPr>
        <p:spPr>
          <a:xfrm>
            <a:off x="5605272" y="2839212"/>
            <a:ext cx="402336" cy="402336"/>
          </a:xfrm>
          <a:prstGeom prst="ellipse">
            <a:avLst/>
          </a:prstGeom>
          <a:solidFill>
            <a:srgbClr val="1FA99B"/>
          </a:solidFill>
          <a:ln w="19050">
            <a:solidFill>
              <a:srgbClr val="FFFFFF"/>
            </a:solidFill>
            <a:prstDash val="solid"/>
          </a:ln>
        </p:spPr>
      </p:sp>
      <p:sp>
        <p:nvSpPr>
          <p:cNvPr id="52" name="Text 50"/>
          <p:cNvSpPr txBox="1"/>
          <p:nvPr/>
        </p:nvSpPr>
        <p:spPr>
          <a:xfrm>
            <a:off x="365760" y="4160520"/>
            <a:ext cx="1280160" cy="274320"/>
          </a:xfrm>
          <a:prstGeom prst="rect">
            <a:avLst/>
          </a:prstGeom>
          <a:noFill/>
          <a:ln/>
        </p:spPr>
        <p:txBody>
          <a:bodyPr wrap="square" lIns="0" tIns="0" rIns="0" bIns="0" rtlCol="0" anchor="t"/>
          <a:lstStyle/>
          <a:p>
            <a:pPr algn="ctr" indent="0" marL="0">
              <a:buNone/>
            </a:pPr>
            <a:r>
              <a:rPr lang="en-US" sz="1400" dirty="0">
                <a:solidFill>
                  <a:schemeClr val="tx2"/>
                </a:solidFill>
              </a:rPr>
              <a:t>Input layer</a:t>
            </a:r>
            <a:endParaRPr lang="en-US" sz="1400" dirty="0"/>
          </a:p>
        </p:txBody>
      </p:sp>
      <p:sp>
        <p:nvSpPr>
          <p:cNvPr id="53" name="Text 51"/>
          <p:cNvSpPr txBox="1"/>
          <p:nvPr/>
        </p:nvSpPr>
        <p:spPr>
          <a:xfrm>
            <a:off x="1965960" y="4160520"/>
            <a:ext cx="1280160" cy="274320"/>
          </a:xfrm>
          <a:prstGeom prst="rect">
            <a:avLst/>
          </a:prstGeom>
          <a:noFill/>
          <a:ln/>
        </p:spPr>
        <p:txBody>
          <a:bodyPr wrap="square" lIns="0" tIns="0" rIns="0" bIns="0" rtlCol="0" anchor="t"/>
          <a:lstStyle/>
          <a:p>
            <a:pPr algn="ctr" indent="0" marL="0">
              <a:buNone/>
            </a:pPr>
            <a:r>
              <a:rPr lang="en-US" sz="1400" dirty="0">
                <a:solidFill>
                  <a:schemeClr val="tx2"/>
                </a:solidFill>
              </a:rPr>
              <a:t>Hidden layer 1</a:t>
            </a:r>
            <a:endParaRPr lang="en-US" sz="1400" dirty="0"/>
          </a:p>
        </p:txBody>
      </p:sp>
      <p:sp>
        <p:nvSpPr>
          <p:cNvPr id="54" name="Text 52"/>
          <p:cNvSpPr txBox="1"/>
          <p:nvPr/>
        </p:nvSpPr>
        <p:spPr>
          <a:xfrm>
            <a:off x="3566160" y="4160520"/>
            <a:ext cx="1280160" cy="274320"/>
          </a:xfrm>
          <a:prstGeom prst="rect">
            <a:avLst/>
          </a:prstGeom>
          <a:noFill/>
          <a:ln/>
        </p:spPr>
        <p:txBody>
          <a:bodyPr wrap="square" lIns="0" tIns="0" rIns="0" bIns="0" rtlCol="0" anchor="t"/>
          <a:lstStyle/>
          <a:p>
            <a:pPr algn="ctr" indent="0" marL="0">
              <a:buNone/>
            </a:pPr>
            <a:r>
              <a:rPr lang="en-US" sz="1400" dirty="0">
                <a:solidFill>
                  <a:schemeClr val="tx2"/>
                </a:solidFill>
              </a:rPr>
              <a:t>Hidden layer 2</a:t>
            </a:r>
            <a:endParaRPr lang="en-US" sz="1400" dirty="0"/>
          </a:p>
        </p:txBody>
      </p:sp>
      <p:sp>
        <p:nvSpPr>
          <p:cNvPr id="55" name="Text 53"/>
          <p:cNvSpPr txBox="1"/>
          <p:nvPr/>
        </p:nvSpPr>
        <p:spPr>
          <a:xfrm>
            <a:off x="5166360" y="4160520"/>
            <a:ext cx="1280160" cy="274320"/>
          </a:xfrm>
          <a:prstGeom prst="rect">
            <a:avLst/>
          </a:prstGeom>
          <a:noFill/>
          <a:ln/>
        </p:spPr>
        <p:txBody>
          <a:bodyPr wrap="square" lIns="0" tIns="0" rIns="0" bIns="0" rtlCol="0" anchor="t"/>
          <a:lstStyle/>
          <a:p>
            <a:pPr algn="ctr" indent="0" marL="0">
              <a:buNone/>
            </a:pPr>
            <a:r>
              <a:rPr lang="en-US" sz="1400" dirty="0">
                <a:solidFill>
                  <a:schemeClr val="tx2"/>
                </a:solidFill>
              </a:rPr>
              <a:t>Output layer</a:t>
            </a:r>
            <a:endParaRPr lang="en-US" sz="1400" dirty="0"/>
          </a:p>
        </p:txBody>
      </p:sp>
      <p:sp>
        <p:nvSpPr>
          <p:cNvPr id="56" name="Parameter panel"/>
          <p:cNvSpPr/>
          <p:nvPr/>
        </p:nvSpPr>
        <p:spPr>
          <a:xfrm>
            <a:off x="6675120" y="1371600"/>
            <a:ext cx="2011680" cy="3017520"/>
          </a:xfrm>
          <a:prstGeom prst="roundRect">
            <a:avLst>
              <a:gd name="adj" fmla="val 5455"/>
            </a:avLst>
          </a:prstGeom>
          <a:solidFill>
            <a:schemeClr val="bg2"/>
          </a:solidFill>
          <a:ln/>
        </p:spPr>
      </p:sp>
      <p:sp>
        <p:nvSpPr>
          <p:cNvPr id="57" name="Text 55"/>
          <p:cNvSpPr txBox="1"/>
          <p:nvPr/>
        </p:nvSpPr>
        <p:spPr>
          <a:xfrm>
            <a:off x="6858000" y="1508760"/>
            <a:ext cx="1645920" cy="822960"/>
          </a:xfrm>
          <a:prstGeom prst="rect">
            <a:avLst/>
          </a:prstGeom>
          <a:noFill/>
          <a:ln/>
        </p:spPr>
        <p:txBody>
          <a:bodyPr wrap="square" lIns="0" tIns="0" rIns="0" bIns="0" rtlCol="0" anchor="t"/>
          <a:lstStyle/>
          <a:p>
            <a:pPr indent="0" marL="0">
              <a:buNone/>
            </a:pPr>
            <a:r>
              <a:rPr lang="en-US" sz="5400" b="1" dirty="0">
                <a:solidFill>
                  <a:schemeClr val="accent1"/>
                </a:solidFill>
                <a:latin typeface="+mj-lt" pitchFamily="34" charset="0"/>
                <a:ea typeface="+mj-lt" pitchFamily="34" charset="-122"/>
                <a:cs typeface="+mj-lt" pitchFamily="34" charset="-120"/>
              </a:rPr>
              <a:t>46</a:t>
            </a:r>
            <a:endParaRPr lang="en-US" sz="5400" dirty="0"/>
          </a:p>
        </p:txBody>
      </p:sp>
      <p:sp>
        <p:nvSpPr>
          <p:cNvPr id="58" name="Text 56"/>
          <p:cNvSpPr txBox="1"/>
          <p:nvPr/>
        </p:nvSpPr>
        <p:spPr>
          <a:xfrm>
            <a:off x="6858000" y="2377440"/>
            <a:ext cx="1691640" cy="502920"/>
          </a:xfrm>
          <a:prstGeom prst="rect">
            <a:avLst/>
          </a:prstGeom>
          <a:noFill/>
          <a:ln/>
        </p:spPr>
        <p:txBody>
          <a:bodyPr wrap="square" lIns="0" tIns="0" rIns="0" bIns="0" rtlCol="0" anchor="t"/>
          <a:lstStyle/>
          <a:p>
            <a:pPr indent="0" marL="0">
              <a:buNone/>
            </a:pPr>
            <a:r>
              <a:rPr lang="en-US" sz="1400" b="1" dirty="0">
                <a:solidFill>
                  <a:schemeClr val="tx1"/>
                </a:solidFill>
              </a:rPr>
              <a:t>learnable parameters</a:t>
            </a:r>
            <a:endParaRPr lang="en-US" sz="1400" dirty="0"/>
          </a:p>
        </p:txBody>
      </p:sp>
      <p:sp>
        <p:nvSpPr>
          <p:cNvPr id="59" name="Text 57"/>
          <p:cNvSpPr txBox="1"/>
          <p:nvPr/>
        </p:nvSpPr>
        <p:spPr>
          <a:xfrm>
            <a:off x="6858000" y="2971800"/>
            <a:ext cx="1645920" cy="731520"/>
          </a:xfrm>
          <a:prstGeom prst="rect">
            <a:avLst/>
          </a:prstGeom>
          <a:noFill/>
          <a:ln/>
        </p:spPr>
        <p:txBody>
          <a:bodyPr wrap="square" lIns="0" tIns="0" rIns="0" bIns="0" rtlCol="0" anchor="t"/>
          <a:lstStyle/>
          <a:p>
            <a:pPr indent="0" marL="0">
              <a:buNone/>
            </a:pPr>
            <a:r>
              <a:rPr lang="en-US" sz="1400" dirty="0">
                <a:solidFill>
                  <a:schemeClr val="tx2"/>
                </a:solidFill>
              </a:rPr>
              <a:t>36 weights + 10 biases in this tiny 3-4-4-2 network.</a:t>
            </a:r>
            <a:endParaRPr lang="en-US" sz="1400" dirty="0"/>
          </a:p>
        </p:txBody>
      </p:sp>
      <p:sp>
        <p:nvSpPr>
          <p:cNvPr id="60" name="Text 58"/>
          <p:cNvSpPr txBox="1"/>
          <p:nvPr/>
        </p:nvSpPr>
        <p:spPr>
          <a:xfrm>
            <a:off x="6858000" y="3749040"/>
            <a:ext cx="1645920" cy="502920"/>
          </a:xfrm>
          <a:prstGeom prst="rect">
            <a:avLst/>
          </a:prstGeom>
          <a:noFill/>
          <a:ln/>
        </p:spPr>
        <p:txBody>
          <a:bodyPr wrap="square" lIns="0" tIns="0" rIns="0" bIns="0" rtlCol="0" anchor="t"/>
          <a:lstStyle/>
          <a:p>
            <a:pPr indent="0" marL="0">
              <a:buNone/>
            </a:pPr>
            <a:r>
              <a:rPr lang="en-US" sz="1400" i="1" dirty="0">
                <a:solidFill>
                  <a:schemeClr val="tx2"/>
                </a:solidFill>
              </a:rPr>
              <a:t>Modern models have billions.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A forward pass, by hand</a:t>
            </a:r>
            <a:endParaRPr lang="en-US" sz="3400" dirty="0"/>
          </a:p>
        </p:txBody>
      </p:sp>
      <p:sp>
        <p:nvSpPr>
          <p:cNvPr id="3" name="Step card 1"/>
          <p:cNvSpPr/>
          <p:nvPr/>
        </p:nvSpPr>
        <p:spPr>
          <a:xfrm>
            <a:off x="457200" y="1280160"/>
            <a:ext cx="1874520" cy="1737360"/>
          </a:xfrm>
          <a:prstGeom prst="roundRect">
            <a:avLst>
              <a:gd name="adj" fmla="val 6316"/>
            </a:avLst>
          </a:prstGeom>
          <a:solidFill>
            <a:schemeClr val="bg2"/>
          </a:solidFill>
          <a:ln/>
        </p:spPr>
      </p:sp>
      <p:sp>
        <p:nvSpPr>
          <p:cNvPr id="4" name="Text 2"/>
          <p:cNvSpPr txBox="1"/>
          <p:nvPr/>
        </p:nvSpPr>
        <p:spPr>
          <a:xfrm>
            <a:off x="640080" y="1417320"/>
            <a:ext cx="1554480" cy="274320"/>
          </a:xfrm>
          <a:prstGeom prst="rect">
            <a:avLst/>
          </a:prstGeom>
          <a:noFill/>
          <a:ln/>
        </p:spPr>
        <p:txBody>
          <a:bodyPr wrap="square" lIns="0" tIns="0" rIns="0" bIns="0" rtlCol="0" anchor="t"/>
          <a:lstStyle/>
          <a:p>
            <a:pPr indent="0" marL="0">
              <a:buNone/>
            </a:pPr>
            <a:r>
              <a:rPr lang="en-US" sz="1400" b="1" dirty="0">
                <a:solidFill>
                  <a:schemeClr val="accent1"/>
                </a:solidFill>
              </a:rPr>
              <a:t>1 · Inputs</a:t>
            </a:r>
            <a:endParaRPr lang="en-US" sz="1400" dirty="0"/>
          </a:p>
        </p:txBody>
      </p:sp>
      <p:sp>
        <p:nvSpPr>
          <p:cNvPr id="5" name="Text 3"/>
          <p:cNvSpPr txBox="1"/>
          <p:nvPr/>
        </p:nvSpPr>
        <p:spPr>
          <a:xfrm>
            <a:off x="640080" y="1783080"/>
            <a:ext cx="1554480" cy="594360"/>
          </a:xfrm>
          <a:prstGeom prst="rect">
            <a:avLst/>
          </a:prstGeom>
          <a:noFill/>
          <a:ln/>
        </p:spPr>
        <p:txBody>
          <a:bodyPr wrap="square" lIns="0" tIns="0" rIns="0" bIns="0" rtlCol="0" anchor="t"/>
          <a:lstStyle/>
          <a:p>
            <a:pPr indent="0" marL="0">
              <a:buNone/>
            </a:pPr>
            <a:r>
              <a:rPr lang="en-US" sz="3600" b="1" dirty="0">
                <a:solidFill>
                  <a:schemeClr val="tx1"/>
                </a:solidFill>
                <a:latin typeface="+mj-lt" pitchFamily="34" charset="0"/>
                <a:ea typeface="+mj-lt" pitchFamily="34" charset="-122"/>
                <a:cs typeface="+mj-lt" pitchFamily="34" charset="-120"/>
              </a:rPr>
              <a:t>2, 1</a:t>
            </a:r>
            <a:endParaRPr lang="en-US" sz="3600" dirty="0"/>
          </a:p>
        </p:txBody>
      </p:sp>
      <p:sp>
        <p:nvSpPr>
          <p:cNvPr id="6" name="Text 4"/>
          <p:cNvSpPr txBox="1"/>
          <p:nvPr/>
        </p:nvSpPr>
        <p:spPr>
          <a:xfrm>
            <a:off x="640080" y="2468880"/>
            <a:ext cx="1600200" cy="457200"/>
          </a:xfrm>
          <a:prstGeom prst="rect">
            <a:avLst/>
          </a:prstGeom>
          <a:noFill/>
          <a:ln/>
        </p:spPr>
        <p:txBody>
          <a:bodyPr wrap="square" lIns="0" tIns="0" rIns="0" bIns="0" rtlCol="0" anchor="t"/>
          <a:lstStyle/>
          <a:p>
            <a:pPr indent="0" marL="0">
              <a:buNone/>
            </a:pPr>
            <a:r>
              <a:rPr lang="en-US" sz="1400" dirty="0">
                <a:solidFill>
                  <a:schemeClr val="tx2"/>
                </a:solidFill>
              </a:rPr>
              <a:t>x1 = 2, x2 = 1</a:t>
            </a:r>
            <a:endParaRPr lang="en-US" sz="1400" dirty="0"/>
          </a:p>
        </p:txBody>
      </p:sp>
      <p:sp>
        <p:nvSpPr>
          <p:cNvPr id="7" name="Shape 5"/>
          <p:cNvSpPr/>
          <p:nvPr/>
        </p:nvSpPr>
        <p:spPr>
          <a:xfrm>
            <a:off x="2350008" y="2011680"/>
            <a:ext cx="182880" cy="228600"/>
          </a:xfrm>
          <a:prstGeom prst="rightArrow">
            <a:avLst/>
          </a:prstGeom>
          <a:solidFill>
            <a:schemeClr val="accent2"/>
          </a:solidFill>
          <a:ln/>
        </p:spPr>
      </p:sp>
      <p:sp>
        <p:nvSpPr>
          <p:cNvPr id="8" name="Step card 2"/>
          <p:cNvSpPr/>
          <p:nvPr/>
        </p:nvSpPr>
        <p:spPr>
          <a:xfrm>
            <a:off x="2575865" y="1280160"/>
            <a:ext cx="1874520" cy="1737360"/>
          </a:xfrm>
          <a:prstGeom prst="roundRect">
            <a:avLst>
              <a:gd name="adj" fmla="val 6316"/>
            </a:avLst>
          </a:prstGeom>
          <a:solidFill>
            <a:schemeClr val="bg2"/>
          </a:solidFill>
          <a:ln/>
        </p:spPr>
      </p:sp>
      <p:sp>
        <p:nvSpPr>
          <p:cNvPr id="9" name="Text 7"/>
          <p:cNvSpPr txBox="1"/>
          <p:nvPr/>
        </p:nvSpPr>
        <p:spPr>
          <a:xfrm>
            <a:off x="2758745" y="1417320"/>
            <a:ext cx="1554480" cy="274320"/>
          </a:xfrm>
          <a:prstGeom prst="rect">
            <a:avLst/>
          </a:prstGeom>
          <a:noFill/>
          <a:ln/>
        </p:spPr>
        <p:txBody>
          <a:bodyPr wrap="square" lIns="0" tIns="0" rIns="0" bIns="0" rtlCol="0" anchor="t"/>
          <a:lstStyle/>
          <a:p>
            <a:pPr indent="0" marL="0">
              <a:buNone/>
            </a:pPr>
            <a:r>
              <a:rPr lang="en-US" sz="1400" b="1" dirty="0">
                <a:solidFill>
                  <a:schemeClr val="accent1"/>
                </a:solidFill>
              </a:rPr>
              <a:t>2 · Weighted sum</a:t>
            </a:r>
            <a:endParaRPr lang="en-US" sz="1400" dirty="0"/>
          </a:p>
        </p:txBody>
      </p:sp>
      <p:sp>
        <p:nvSpPr>
          <p:cNvPr id="10" name="Text 8"/>
          <p:cNvSpPr txBox="1"/>
          <p:nvPr/>
        </p:nvSpPr>
        <p:spPr>
          <a:xfrm>
            <a:off x="2758745" y="1783080"/>
            <a:ext cx="1554480" cy="594360"/>
          </a:xfrm>
          <a:prstGeom prst="rect">
            <a:avLst/>
          </a:prstGeom>
          <a:noFill/>
          <a:ln/>
        </p:spPr>
        <p:txBody>
          <a:bodyPr wrap="square" lIns="0" tIns="0" rIns="0" bIns="0" rtlCol="0" anchor="t"/>
          <a:lstStyle/>
          <a:p>
            <a:pPr indent="0" marL="0">
              <a:buNone/>
            </a:pPr>
            <a:r>
              <a:rPr lang="en-US" sz="3600" b="1" dirty="0">
                <a:solidFill>
                  <a:schemeClr val="tx1"/>
                </a:solidFill>
                <a:latin typeface="+mj-lt" pitchFamily="34" charset="0"/>
                <a:ea typeface="+mj-lt" pitchFamily="34" charset="-122"/>
                <a:cs typeface="+mj-lt" pitchFamily="34" charset="-120"/>
              </a:rPr>
              <a:t>0.5</a:t>
            </a:r>
            <a:endParaRPr lang="en-US" sz="3600" dirty="0"/>
          </a:p>
        </p:txBody>
      </p:sp>
      <p:sp>
        <p:nvSpPr>
          <p:cNvPr id="11" name="Text 9"/>
          <p:cNvSpPr txBox="1"/>
          <p:nvPr/>
        </p:nvSpPr>
        <p:spPr>
          <a:xfrm>
            <a:off x="2758745" y="2468880"/>
            <a:ext cx="1600200" cy="457200"/>
          </a:xfrm>
          <a:prstGeom prst="rect">
            <a:avLst/>
          </a:prstGeom>
          <a:noFill/>
          <a:ln/>
        </p:spPr>
        <p:txBody>
          <a:bodyPr wrap="square" lIns="0" tIns="0" rIns="0" bIns="0" rtlCol="0" anchor="t"/>
          <a:lstStyle/>
          <a:p>
            <a:pPr indent="0" marL="0">
              <a:buNone/>
            </a:pPr>
            <a:r>
              <a:rPr lang="en-US" sz="1400" dirty="0">
                <a:solidFill>
                  <a:schemeClr val="tx2"/>
                </a:solidFill>
              </a:rPr>
              <a:t>z = Σ w·x + b</a:t>
            </a:r>
            <a:endParaRPr lang="en-US" sz="1400" dirty="0"/>
          </a:p>
        </p:txBody>
      </p:sp>
      <p:sp>
        <p:nvSpPr>
          <p:cNvPr id="12" name="Shape 10"/>
          <p:cNvSpPr/>
          <p:nvPr/>
        </p:nvSpPr>
        <p:spPr>
          <a:xfrm>
            <a:off x="4468673" y="2011680"/>
            <a:ext cx="182880" cy="228600"/>
          </a:xfrm>
          <a:prstGeom prst="rightArrow">
            <a:avLst/>
          </a:prstGeom>
          <a:solidFill>
            <a:schemeClr val="accent2"/>
          </a:solidFill>
          <a:ln/>
        </p:spPr>
      </p:sp>
      <p:sp>
        <p:nvSpPr>
          <p:cNvPr id="13" name="Step card 3"/>
          <p:cNvSpPr/>
          <p:nvPr/>
        </p:nvSpPr>
        <p:spPr>
          <a:xfrm>
            <a:off x="4694530" y="1280160"/>
            <a:ext cx="1874520" cy="1737360"/>
          </a:xfrm>
          <a:prstGeom prst="roundRect">
            <a:avLst>
              <a:gd name="adj" fmla="val 6316"/>
            </a:avLst>
          </a:prstGeom>
          <a:solidFill>
            <a:schemeClr val="bg2"/>
          </a:solidFill>
          <a:ln/>
        </p:spPr>
      </p:sp>
      <p:sp>
        <p:nvSpPr>
          <p:cNvPr id="14" name="Text 12"/>
          <p:cNvSpPr txBox="1"/>
          <p:nvPr/>
        </p:nvSpPr>
        <p:spPr>
          <a:xfrm>
            <a:off x="4877410" y="1417320"/>
            <a:ext cx="1554480" cy="274320"/>
          </a:xfrm>
          <a:prstGeom prst="rect">
            <a:avLst/>
          </a:prstGeom>
          <a:noFill/>
          <a:ln/>
        </p:spPr>
        <p:txBody>
          <a:bodyPr wrap="square" lIns="0" tIns="0" rIns="0" bIns="0" rtlCol="0" anchor="t"/>
          <a:lstStyle/>
          <a:p>
            <a:pPr indent="0" marL="0">
              <a:buNone/>
            </a:pPr>
            <a:r>
              <a:rPr lang="en-US" sz="1400" b="1" dirty="0">
                <a:solidFill>
                  <a:schemeClr val="accent1"/>
                </a:solidFill>
              </a:rPr>
              <a:t>3 · Activation</a:t>
            </a:r>
            <a:endParaRPr lang="en-US" sz="1400" dirty="0"/>
          </a:p>
        </p:txBody>
      </p:sp>
      <p:sp>
        <p:nvSpPr>
          <p:cNvPr id="15" name="Text 13"/>
          <p:cNvSpPr txBox="1"/>
          <p:nvPr/>
        </p:nvSpPr>
        <p:spPr>
          <a:xfrm>
            <a:off x="4877410" y="1783080"/>
            <a:ext cx="1554480" cy="594360"/>
          </a:xfrm>
          <a:prstGeom prst="rect">
            <a:avLst/>
          </a:prstGeom>
          <a:noFill/>
          <a:ln/>
        </p:spPr>
        <p:txBody>
          <a:bodyPr wrap="square" lIns="0" tIns="0" rIns="0" bIns="0" rtlCol="0" anchor="t"/>
          <a:lstStyle/>
          <a:p>
            <a:pPr indent="0" marL="0">
              <a:buNone/>
            </a:pPr>
            <a:r>
              <a:rPr lang="en-US" sz="3600" b="1" dirty="0">
                <a:solidFill>
                  <a:schemeClr val="tx1"/>
                </a:solidFill>
                <a:latin typeface="+mj-lt" pitchFamily="34" charset="0"/>
                <a:ea typeface="+mj-lt" pitchFamily="34" charset="-122"/>
                <a:cs typeface="+mj-lt" pitchFamily="34" charset="-120"/>
              </a:rPr>
              <a:t>0.62</a:t>
            </a:r>
            <a:endParaRPr lang="en-US" sz="3600" dirty="0"/>
          </a:p>
        </p:txBody>
      </p:sp>
      <p:sp>
        <p:nvSpPr>
          <p:cNvPr id="16" name="Text 14"/>
          <p:cNvSpPr txBox="1"/>
          <p:nvPr/>
        </p:nvSpPr>
        <p:spPr>
          <a:xfrm>
            <a:off x="4877410" y="2468880"/>
            <a:ext cx="1600200" cy="457200"/>
          </a:xfrm>
          <a:prstGeom prst="rect">
            <a:avLst/>
          </a:prstGeom>
          <a:noFill/>
          <a:ln/>
        </p:spPr>
        <p:txBody>
          <a:bodyPr wrap="square" lIns="0" tIns="0" rIns="0" bIns="0" rtlCol="0" anchor="t"/>
          <a:lstStyle/>
          <a:p>
            <a:pPr indent="0" marL="0">
              <a:buNone/>
            </a:pPr>
            <a:r>
              <a:rPr lang="en-US" sz="1400" dirty="0">
                <a:solidFill>
                  <a:schemeClr val="tx2"/>
                </a:solidFill>
              </a:rPr>
              <a:t>σ(z) = 1 / (1 + e^-z)</a:t>
            </a:r>
            <a:endParaRPr lang="en-US" sz="1400" dirty="0"/>
          </a:p>
        </p:txBody>
      </p:sp>
      <p:sp>
        <p:nvSpPr>
          <p:cNvPr id="17" name="Shape 15"/>
          <p:cNvSpPr/>
          <p:nvPr/>
        </p:nvSpPr>
        <p:spPr>
          <a:xfrm>
            <a:off x="6587338" y="2011680"/>
            <a:ext cx="182880" cy="228600"/>
          </a:xfrm>
          <a:prstGeom prst="rightArrow">
            <a:avLst/>
          </a:prstGeom>
          <a:solidFill>
            <a:schemeClr val="accent2"/>
          </a:solidFill>
          <a:ln/>
        </p:spPr>
      </p:sp>
      <p:sp>
        <p:nvSpPr>
          <p:cNvPr id="18" name="Step card 4"/>
          <p:cNvSpPr/>
          <p:nvPr/>
        </p:nvSpPr>
        <p:spPr>
          <a:xfrm>
            <a:off x="6813194" y="1280160"/>
            <a:ext cx="1874520" cy="1737360"/>
          </a:xfrm>
          <a:prstGeom prst="roundRect">
            <a:avLst>
              <a:gd name="adj" fmla="val 6316"/>
            </a:avLst>
          </a:prstGeom>
          <a:solidFill>
            <a:schemeClr val="bg2"/>
          </a:solidFill>
          <a:ln/>
        </p:spPr>
      </p:sp>
      <p:sp>
        <p:nvSpPr>
          <p:cNvPr id="19" name="Text 17"/>
          <p:cNvSpPr txBox="1"/>
          <p:nvPr/>
        </p:nvSpPr>
        <p:spPr>
          <a:xfrm>
            <a:off x="6996074" y="1417320"/>
            <a:ext cx="1554480" cy="274320"/>
          </a:xfrm>
          <a:prstGeom prst="rect">
            <a:avLst/>
          </a:prstGeom>
          <a:noFill/>
          <a:ln/>
        </p:spPr>
        <p:txBody>
          <a:bodyPr wrap="square" lIns="0" tIns="0" rIns="0" bIns="0" rtlCol="0" anchor="t"/>
          <a:lstStyle/>
          <a:p>
            <a:pPr indent="0" marL="0">
              <a:buNone/>
            </a:pPr>
            <a:r>
              <a:rPr lang="en-US" sz="1400" b="1" dirty="0">
                <a:solidFill>
                  <a:schemeClr val="accent1"/>
                </a:solidFill>
              </a:rPr>
              <a:t>4 · Prediction</a:t>
            </a:r>
            <a:endParaRPr lang="en-US" sz="1400" dirty="0"/>
          </a:p>
        </p:txBody>
      </p:sp>
      <p:sp>
        <p:nvSpPr>
          <p:cNvPr id="20" name="Text 18"/>
          <p:cNvSpPr txBox="1"/>
          <p:nvPr/>
        </p:nvSpPr>
        <p:spPr>
          <a:xfrm>
            <a:off x="6996074" y="1783080"/>
            <a:ext cx="1554480" cy="594360"/>
          </a:xfrm>
          <a:prstGeom prst="rect">
            <a:avLst/>
          </a:prstGeom>
          <a:noFill/>
          <a:ln/>
        </p:spPr>
        <p:txBody>
          <a:bodyPr wrap="square" lIns="0" tIns="0" rIns="0" bIns="0" rtlCol="0" anchor="t"/>
          <a:lstStyle/>
          <a:p>
            <a:pPr indent="0" marL="0">
              <a:buNone/>
            </a:pPr>
            <a:r>
              <a:rPr lang="en-US" sz="3600" b="1" dirty="0">
                <a:solidFill>
                  <a:schemeClr val="tx1"/>
                </a:solidFill>
                <a:latin typeface="+mj-lt" pitchFamily="34" charset="0"/>
                <a:ea typeface="+mj-lt" pitchFamily="34" charset="-122"/>
                <a:cs typeface="+mj-lt" pitchFamily="34" charset="-120"/>
              </a:rPr>
              <a:t>0.62</a:t>
            </a:r>
            <a:endParaRPr lang="en-US" sz="3600" dirty="0"/>
          </a:p>
        </p:txBody>
      </p:sp>
      <p:sp>
        <p:nvSpPr>
          <p:cNvPr id="21" name="Text 19"/>
          <p:cNvSpPr txBox="1"/>
          <p:nvPr/>
        </p:nvSpPr>
        <p:spPr>
          <a:xfrm>
            <a:off x="6996074" y="2468880"/>
            <a:ext cx="1600200" cy="457200"/>
          </a:xfrm>
          <a:prstGeom prst="rect">
            <a:avLst/>
          </a:prstGeom>
          <a:noFill/>
          <a:ln/>
        </p:spPr>
        <p:txBody>
          <a:bodyPr wrap="square" lIns="0" tIns="0" rIns="0" bIns="0" rtlCol="0" anchor="t"/>
          <a:lstStyle/>
          <a:p>
            <a:pPr indent="0" marL="0">
              <a:buNone/>
            </a:pPr>
            <a:r>
              <a:rPr lang="en-US" sz="1400" dirty="0">
                <a:solidFill>
                  <a:schemeClr val="tx2"/>
                </a:solidFill>
              </a:rPr>
              <a:t>target 1.0, error 0.38</a:t>
            </a:r>
            <a:endParaRPr lang="en-US" sz="1400" dirty="0"/>
          </a:p>
        </p:txBody>
      </p:sp>
      <p:sp>
        <p:nvSpPr>
          <p:cNvPr id="22" name="Calculation panel"/>
          <p:cNvSpPr/>
          <p:nvPr/>
        </p:nvSpPr>
        <p:spPr>
          <a:xfrm>
            <a:off x="457200" y="3246120"/>
            <a:ext cx="8229600" cy="1280160"/>
          </a:xfrm>
          <a:prstGeom prst="roundRect">
            <a:avLst>
              <a:gd name="adj" fmla="val 8571"/>
            </a:avLst>
          </a:prstGeom>
          <a:solidFill>
            <a:schemeClr val="tx1"/>
          </a:solidFill>
          <a:ln/>
        </p:spPr>
      </p:sp>
      <p:sp>
        <p:nvSpPr>
          <p:cNvPr id="23" name="Text 21"/>
          <p:cNvSpPr txBox="1"/>
          <p:nvPr/>
        </p:nvSpPr>
        <p:spPr>
          <a:xfrm>
            <a:off x="731520" y="3383280"/>
            <a:ext cx="7680960" cy="320040"/>
          </a:xfrm>
          <a:prstGeom prst="rect">
            <a:avLst/>
          </a:prstGeom>
          <a:noFill/>
          <a:ln/>
        </p:spPr>
        <p:txBody>
          <a:bodyPr wrap="square" lIns="0" tIns="0" rIns="0" bIns="0" rtlCol="0" anchor="t"/>
          <a:lstStyle/>
          <a:p>
            <a:pPr indent="0" marL="0">
              <a:buNone/>
            </a:pPr>
            <a:r>
              <a:rPr lang="en-US" sz="1800" b="1" dirty="0">
                <a:solidFill>
                  <a:schemeClr val="accent2"/>
                </a:solidFill>
              </a:rPr>
              <a:t>Weights w = [0.5, −1]    Bias b = 0.5</a:t>
            </a:r>
            <a:endParaRPr lang="en-US" sz="1800" dirty="0"/>
          </a:p>
        </p:txBody>
      </p:sp>
      <p:sp>
        <p:nvSpPr>
          <p:cNvPr id="24" name="Text 22"/>
          <p:cNvSpPr txBox="1"/>
          <p:nvPr/>
        </p:nvSpPr>
        <p:spPr>
          <a:xfrm>
            <a:off x="731520" y="3749040"/>
            <a:ext cx="7680960" cy="320040"/>
          </a:xfrm>
          <a:prstGeom prst="rect">
            <a:avLst/>
          </a:prstGeom>
          <a:noFill/>
          <a:ln/>
        </p:spPr>
        <p:txBody>
          <a:bodyPr wrap="square" lIns="0" tIns="0" rIns="0" bIns="0" rtlCol="0" anchor="t"/>
          <a:lstStyle/>
          <a:p>
            <a:pPr indent="0" marL="0">
              <a:buNone/>
            </a:pPr>
            <a:r>
              <a:rPr lang="en-US" sz="1800" dirty="0">
                <a:solidFill>
                  <a:schemeClr val="bg1"/>
                </a:solidFill>
              </a:rPr>
              <a:t>z = (2 × 0.5) + (1 × −1) + 0.5 = 0.5</a:t>
            </a:r>
            <a:endParaRPr lang="en-US" sz="1800" dirty="0"/>
          </a:p>
        </p:txBody>
      </p:sp>
      <p:sp>
        <p:nvSpPr>
          <p:cNvPr id="25" name="Text 23"/>
          <p:cNvSpPr txBox="1"/>
          <p:nvPr/>
        </p:nvSpPr>
        <p:spPr>
          <a:xfrm>
            <a:off x="731520" y="4114800"/>
            <a:ext cx="7680960" cy="274320"/>
          </a:xfrm>
          <a:prstGeom prst="rect">
            <a:avLst/>
          </a:prstGeom>
          <a:noFill/>
          <a:ln/>
        </p:spPr>
        <p:txBody>
          <a:bodyPr wrap="square" lIns="0" tIns="0" rIns="0" bIns="0" rtlCol="0" anchor="t"/>
          <a:lstStyle/>
          <a:p>
            <a:pPr indent="0" marL="0">
              <a:buNone/>
            </a:pPr>
            <a:r>
              <a:rPr lang="en-US" sz="1400" dirty="0">
                <a:solidFill>
                  <a:srgbClr val="CFC6F5"/>
                </a:solidFill>
              </a:rPr>
              <a:t>The prediction misses the target. Training adjusts w and b to close that gap.</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Measuring error with loss</a:t>
            </a:r>
            <a:endParaRPr lang="en-US" sz="3400" dirty="0"/>
          </a:p>
        </p:txBody>
      </p:sp>
      <p:sp>
        <p:nvSpPr>
          <p:cNvPr id="3" name="Loss definition panel"/>
          <p:cNvSpPr/>
          <p:nvPr/>
        </p:nvSpPr>
        <p:spPr>
          <a:xfrm>
            <a:off x="457200" y="1280160"/>
            <a:ext cx="2926080" cy="3108960"/>
          </a:xfrm>
          <a:prstGeom prst="roundRect">
            <a:avLst>
              <a:gd name="adj" fmla="val 3750"/>
            </a:avLst>
          </a:prstGeom>
          <a:solidFill>
            <a:schemeClr val="tx1"/>
          </a:solidFill>
          <a:ln/>
        </p:spPr>
      </p:sp>
      <p:sp>
        <p:nvSpPr>
          <p:cNvPr id="4" name="Text 2"/>
          <p:cNvSpPr txBox="1"/>
          <p:nvPr/>
        </p:nvSpPr>
        <p:spPr>
          <a:xfrm>
            <a:off x="685800" y="1554480"/>
            <a:ext cx="2468880" cy="1463040"/>
          </a:xfrm>
          <a:prstGeom prst="rect">
            <a:avLst/>
          </a:prstGeom>
          <a:noFill/>
          <a:ln/>
        </p:spPr>
        <p:txBody>
          <a:bodyPr wrap="square" lIns="0" tIns="0" rIns="0" bIns="0" rtlCol="0" anchor="t"/>
          <a:lstStyle/>
          <a:p>
            <a:pPr indent="0" marL="0">
              <a:buNone/>
            </a:pPr>
            <a:r>
              <a:rPr lang="en-US" sz="2000" b="1" dirty="0">
                <a:solidFill>
                  <a:schemeClr val="bg1"/>
                </a:solidFill>
                <a:latin typeface="+mj-lt" pitchFamily="34" charset="0"/>
                <a:ea typeface="+mj-lt" pitchFamily="34" charset="-122"/>
                <a:cs typeface="+mj-lt" pitchFamily="34" charset="-120"/>
              </a:rPr>
              <a:t>Loss is a single number that scores the model's mistakes.</a:t>
            </a:r>
            <a:endParaRPr lang="en-US" sz="2000" dirty="0"/>
          </a:p>
        </p:txBody>
      </p:sp>
      <p:sp>
        <p:nvSpPr>
          <p:cNvPr id="5" name="Text 3"/>
          <p:cNvSpPr txBox="1"/>
          <p:nvPr/>
        </p:nvSpPr>
        <p:spPr>
          <a:xfrm>
            <a:off x="685800" y="3200400"/>
            <a:ext cx="2468880" cy="914400"/>
          </a:xfrm>
          <a:prstGeom prst="rect">
            <a:avLst/>
          </a:prstGeom>
          <a:noFill/>
          <a:ln/>
        </p:spPr>
        <p:txBody>
          <a:bodyPr wrap="square" lIns="0" tIns="0" rIns="0" bIns="0" rtlCol="0" anchor="t"/>
          <a:lstStyle/>
          <a:p>
            <a:pPr indent="0" marL="0">
              <a:buNone/>
            </a:pPr>
            <a:r>
              <a:rPr lang="en-US" sz="1400" dirty="0">
                <a:solidFill>
                  <a:schemeClr val="accent2"/>
                </a:solidFill>
              </a:rPr>
              <a:t>Lower is better. Training means pushing it down.</a:t>
            </a:r>
            <a:endParaRPr lang="en-US" sz="1400" dirty="0"/>
          </a:p>
        </p:txBody>
      </p:sp>
      <p:sp>
        <p:nvSpPr>
          <p:cNvPr id="6" name="Loss card 1"/>
          <p:cNvSpPr/>
          <p:nvPr/>
        </p:nvSpPr>
        <p:spPr>
          <a:xfrm>
            <a:off x="3657600" y="1280160"/>
            <a:ext cx="5029200" cy="1463040"/>
          </a:xfrm>
          <a:prstGeom prst="roundRect">
            <a:avLst>
              <a:gd name="adj" fmla="val 7500"/>
            </a:avLst>
          </a:prstGeom>
          <a:solidFill>
            <a:schemeClr val="bg2"/>
          </a:solidFill>
          <a:ln/>
        </p:spPr>
      </p:sp>
      <p:sp>
        <p:nvSpPr>
          <p:cNvPr id="7" name="Text 5"/>
          <p:cNvSpPr txBox="1"/>
          <p:nvPr/>
        </p:nvSpPr>
        <p:spPr>
          <a:xfrm>
            <a:off x="3886200" y="1444752"/>
            <a:ext cx="3108960" cy="320040"/>
          </a:xfrm>
          <a:prstGeom prst="rect">
            <a:avLst/>
          </a:prstGeom>
          <a:noFill/>
          <a:ln/>
        </p:spPr>
        <p:txBody>
          <a:bodyPr wrap="square" lIns="0" tIns="0" rIns="0" bIns="0" rtlCol="0" anchor="t"/>
          <a:lstStyle/>
          <a:p>
            <a:pPr indent="0" marL="0">
              <a:buNone/>
            </a:pPr>
            <a:r>
              <a:rPr lang="en-US" sz="1800" b="1" dirty="0">
                <a:solidFill>
                  <a:schemeClr val="tx1"/>
                </a:solidFill>
              </a:rPr>
              <a:t>Mean squared error</a:t>
            </a:r>
            <a:endParaRPr lang="en-US" sz="1800" dirty="0"/>
          </a:p>
        </p:txBody>
      </p:sp>
      <p:sp>
        <p:nvSpPr>
          <p:cNvPr id="8" name="Shape 6"/>
          <p:cNvSpPr/>
          <p:nvPr/>
        </p:nvSpPr>
        <p:spPr>
          <a:xfrm>
            <a:off x="7315200" y="1444752"/>
            <a:ext cx="1188720" cy="292608"/>
          </a:xfrm>
          <a:prstGeom prst="roundRect">
            <a:avLst>
              <a:gd name="adj" fmla="val 50000"/>
            </a:avLst>
          </a:prstGeom>
          <a:solidFill>
            <a:schemeClr val="accent1"/>
          </a:solidFill>
          <a:ln/>
        </p:spPr>
      </p:sp>
      <p:sp>
        <p:nvSpPr>
          <p:cNvPr id="9" name="Text 7"/>
          <p:cNvSpPr txBox="1"/>
          <p:nvPr/>
        </p:nvSpPr>
        <p:spPr>
          <a:xfrm>
            <a:off x="7315200" y="1444752"/>
            <a:ext cx="1188720" cy="292608"/>
          </a:xfrm>
          <a:prstGeom prst="rect">
            <a:avLst/>
          </a:prstGeom>
          <a:noFill/>
          <a:ln/>
        </p:spPr>
        <p:txBody>
          <a:bodyPr wrap="square" lIns="0" tIns="0" rIns="0" bIns="0" rtlCol="0" anchor="ctr"/>
          <a:lstStyle/>
          <a:p>
            <a:pPr algn="ctr" indent="0" marL="0">
              <a:buNone/>
            </a:pPr>
            <a:r>
              <a:rPr lang="en-US" sz="1200" b="1" dirty="0">
                <a:solidFill>
                  <a:schemeClr val="bg1"/>
                </a:solidFill>
              </a:rPr>
              <a:t>Regression</a:t>
            </a:r>
            <a:endParaRPr lang="en-US" sz="1200" dirty="0"/>
          </a:p>
        </p:txBody>
      </p:sp>
      <p:sp>
        <p:nvSpPr>
          <p:cNvPr id="10" name="Text 8"/>
          <p:cNvSpPr txBox="1"/>
          <p:nvPr/>
        </p:nvSpPr>
        <p:spPr>
          <a:xfrm>
            <a:off x="3886200" y="1874520"/>
            <a:ext cx="4572000" cy="365760"/>
          </a:xfrm>
          <a:prstGeom prst="rect">
            <a:avLst/>
          </a:prstGeom>
          <a:noFill/>
          <a:ln/>
        </p:spPr>
        <p:txBody>
          <a:bodyPr wrap="square" lIns="0" tIns="0" rIns="0" bIns="0" rtlCol="0" anchor="t"/>
          <a:lstStyle/>
          <a:p>
            <a:pPr indent="0" marL="0">
              <a:buNone/>
            </a:pPr>
            <a:r>
              <a:rPr lang="en-US" sz="2000" i="1" dirty="0">
                <a:solidFill>
                  <a:schemeClr val="tx1"/>
                </a:solidFill>
                <a:latin typeface="+mj-lt" pitchFamily="34" charset="0"/>
                <a:ea typeface="+mj-lt" pitchFamily="34" charset="-122"/>
                <a:cs typeface="+mj-lt" pitchFamily="34" charset="-120"/>
              </a:rPr>
              <a:t>MSE = (1/n) · Σ (y − ŷ)²</a:t>
            </a:r>
            <a:endParaRPr lang="en-US" sz="2000" dirty="0"/>
          </a:p>
        </p:txBody>
      </p:sp>
      <p:sp>
        <p:nvSpPr>
          <p:cNvPr id="11" name="Text 9"/>
          <p:cNvSpPr txBox="1"/>
          <p:nvPr/>
        </p:nvSpPr>
        <p:spPr>
          <a:xfrm>
            <a:off x="3886200" y="2304288"/>
            <a:ext cx="4572000" cy="274320"/>
          </a:xfrm>
          <a:prstGeom prst="rect">
            <a:avLst/>
          </a:prstGeom>
          <a:noFill/>
          <a:ln/>
        </p:spPr>
        <p:txBody>
          <a:bodyPr wrap="square" lIns="0" tIns="0" rIns="0" bIns="0" rtlCol="0" anchor="t"/>
          <a:lstStyle/>
          <a:p>
            <a:pPr indent="0" marL="0">
              <a:buNone/>
            </a:pPr>
            <a:r>
              <a:rPr lang="en-US" sz="1400" dirty="0">
                <a:solidFill>
                  <a:schemeClr val="tx2"/>
                </a:solidFill>
              </a:rPr>
              <a:t>Big misses are punished heavily.</a:t>
            </a:r>
            <a:endParaRPr lang="en-US" sz="1400" dirty="0"/>
          </a:p>
        </p:txBody>
      </p:sp>
      <p:sp>
        <p:nvSpPr>
          <p:cNvPr id="12" name="Loss card 2"/>
          <p:cNvSpPr/>
          <p:nvPr/>
        </p:nvSpPr>
        <p:spPr>
          <a:xfrm>
            <a:off x="3657600" y="2926080"/>
            <a:ext cx="5029200" cy="1463040"/>
          </a:xfrm>
          <a:prstGeom prst="roundRect">
            <a:avLst>
              <a:gd name="adj" fmla="val 7500"/>
            </a:avLst>
          </a:prstGeom>
          <a:solidFill>
            <a:schemeClr val="bg2"/>
          </a:solidFill>
          <a:ln/>
        </p:spPr>
      </p:sp>
      <p:sp>
        <p:nvSpPr>
          <p:cNvPr id="13" name="Text 11"/>
          <p:cNvSpPr txBox="1"/>
          <p:nvPr/>
        </p:nvSpPr>
        <p:spPr>
          <a:xfrm>
            <a:off x="3886200" y="3090672"/>
            <a:ext cx="3108960" cy="320040"/>
          </a:xfrm>
          <a:prstGeom prst="rect">
            <a:avLst/>
          </a:prstGeom>
          <a:noFill/>
          <a:ln/>
        </p:spPr>
        <p:txBody>
          <a:bodyPr wrap="square" lIns="0" tIns="0" rIns="0" bIns="0" rtlCol="0" anchor="t"/>
          <a:lstStyle/>
          <a:p>
            <a:pPr indent="0" marL="0">
              <a:buNone/>
            </a:pPr>
            <a:r>
              <a:rPr lang="en-US" sz="1800" b="1" dirty="0">
                <a:solidFill>
                  <a:schemeClr val="tx1"/>
                </a:solidFill>
              </a:rPr>
              <a:t>Cross-entropy</a:t>
            </a:r>
            <a:endParaRPr lang="en-US" sz="1800" dirty="0"/>
          </a:p>
        </p:txBody>
      </p:sp>
      <p:sp>
        <p:nvSpPr>
          <p:cNvPr id="14" name="Shape 12"/>
          <p:cNvSpPr/>
          <p:nvPr/>
        </p:nvSpPr>
        <p:spPr>
          <a:xfrm>
            <a:off x="7315200" y="3090672"/>
            <a:ext cx="1188720" cy="292608"/>
          </a:xfrm>
          <a:prstGeom prst="roundRect">
            <a:avLst>
              <a:gd name="adj" fmla="val 50000"/>
            </a:avLst>
          </a:prstGeom>
          <a:solidFill>
            <a:schemeClr val="accent1"/>
          </a:solidFill>
          <a:ln/>
        </p:spPr>
      </p:sp>
      <p:sp>
        <p:nvSpPr>
          <p:cNvPr id="15" name="Text 13"/>
          <p:cNvSpPr txBox="1"/>
          <p:nvPr/>
        </p:nvSpPr>
        <p:spPr>
          <a:xfrm>
            <a:off x="7315200" y="3090672"/>
            <a:ext cx="1188720" cy="292608"/>
          </a:xfrm>
          <a:prstGeom prst="rect">
            <a:avLst/>
          </a:prstGeom>
          <a:noFill/>
          <a:ln/>
        </p:spPr>
        <p:txBody>
          <a:bodyPr wrap="square" lIns="0" tIns="0" rIns="0" bIns="0" rtlCol="0" anchor="ctr"/>
          <a:lstStyle/>
          <a:p>
            <a:pPr algn="ctr" indent="0" marL="0">
              <a:buNone/>
            </a:pPr>
            <a:r>
              <a:rPr lang="en-US" sz="1200" b="1" dirty="0">
                <a:solidFill>
                  <a:schemeClr val="bg1"/>
                </a:solidFill>
              </a:rPr>
              <a:t>Classification</a:t>
            </a:r>
            <a:endParaRPr lang="en-US" sz="1200" dirty="0"/>
          </a:p>
        </p:txBody>
      </p:sp>
      <p:sp>
        <p:nvSpPr>
          <p:cNvPr id="16" name="Text 14"/>
          <p:cNvSpPr txBox="1"/>
          <p:nvPr/>
        </p:nvSpPr>
        <p:spPr>
          <a:xfrm>
            <a:off x="3886200" y="3520440"/>
            <a:ext cx="4572000" cy="365760"/>
          </a:xfrm>
          <a:prstGeom prst="rect">
            <a:avLst/>
          </a:prstGeom>
          <a:noFill/>
          <a:ln/>
        </p:spPr>
        <p:txBody>
          <a:bodyPr wrap="square" lIns="0" tIns="0" rIns="0" bIns="0" rtlCol="0" anchor="t"/>
          <a:lstStyle/>
          <a:p>
            <a:pPr indent="0" marL="0">
              <a:buNone/>
            </a:pPr>
            <a:r>
              <a:rPr lang="en-US" sz="2000" i="1" dirty="0">
                <a:solidFill>
                  <a:schemeClr val="tx1"/>
                </a:solidFill>
                <a:latin typeface="+mj-lt" pitchFamily="34" charset="0"/>
                <a:ea typeface="+mj-lt" pitchFamily="34" charset="-122"/>
                <a:cs typeface="+mj-lt" pitchFamily="34" charset="-120"/>
              </a:rPr>
              <a:t>L = −Σ y · log(ŷ)</a:t>
            </a:r>
            <a:endParaRPr lang="en-US" sz="2000" dirty="0"/>
          </a:p>
        </p:txBody>
      </p:sp>
      <p:sp>
        <p:nvSpPr>
          <p:cNvPr id="17" name="Text 15"/>
          <p:cNvSpPr txBox="1"/>
          <p:nvPr/>
        </p:nvSpPr>
        <p:spPr>
          <a:xfrm>
            <a:off x="3886200" y="3950208"/>
            <a:ext cx="4572000" cy="274320"/>
          </a:xfrm>
          <a:prstGeom prst="rect">
            <a:avLst/>
          </a:prstGeom>
          <a:noFill/>
          <a:ln/>
        </p:spPr>
        <p:txBody>
          <a:bodyPr wrap="square" lIns="0" tIns="0" rIns="0" bIns="0" rtlCol="0" anchor="t"/>
          <a:lstStyle/>
          <a:p>
            <a:pPr indent="0" marL="0">
              <a:buNone/>
            </a:pPr>
            <a:r>
              <a:rPr lang="en-US" sz="1400" dirty="0">
                <a:solidFill>
                  <a:schemeClr val="tx2"/>
                </a:solidFill>
              </a:rPr>
              <a:t>Punishes confident wrong answers.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How networks learn</a:t>
            </a:r>
            <a:endParaRPr lang="en-US" sz="3400" dirty="0"/>
          </a:p>
        </p:txBody>
      </p:sp>
      <p:sp>
        <p:nvSpPr>
          <p:cNvPr id="3" name="Learning step 1"/>
          <p:cNvSpPr/>
          <p:nvPr/>
        </p:nvSpPr>
        <p:spPr>
          <a:xfrm>
            <a:off x="457200" y="1234440"/>
            <a:ext cx="1874520" cy="2011680"/>
          </a:xfrm>
          <a:prstGeom prst="roundRect">
            <a:avLst>
              <a:gd name="adj" fmla="val 5854"/>
            </a:avLst>
          </a:prstGeom>
          <a:solidFill>
            <a:schemeClr val="bg2"/>
          </a:solidFill>
          <a:ln/>
        </p:spPr>
      </p:sp>
      <p:sp>
        <p:nvSpPr>
          <p:cNvPr id="4" name="Shape 2"/>
          <p:cNvSpPr/>
          <p:nvPr/>
        </p:nvSpPr>
        <p:spPr>
          <a:xfrm>
            <a:off x="640080" y="1417320"/>
            <a:ext cx="457200" cy="457200"/>
          </a:xfrm>
          <a:prstGeom prst="ellipse">
            <a:avLst/>
          </a:prstGeom>
          <a:solidFill>
            <a:schemeClr val="accent1"/>
          </a:solidFill>
          <a:ln/>
        </p:spPr>
      </p:sp>
      <p:sp>
        <p:nvSpPr>
          <p:cNvPr id="5" name="Text 3"/>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640080"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Forward pass</a:t>
            </a:r>
            <a:endParaRPr lang="en-US" sz="1600" dirty="0"/>
          </a:p>
        </p:txBody>
      </p:sp>
      <p:sp>
        <p:nvSpPr>
          <p:cNvPr id="7" name="Text 5"/>
          <p:cNvSpPr txBox="1"/>
          <p:nvPr/>
        </p:nvSpPr>
        <p:spPr>
          <a:xfrm>
            <a:off x="640080"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Feed data through the layers to get a prediction.</a:t>
            </a:r>
            <a:endParaRPr lang="en-US" sz="1400" dirty="0"/>
          </a:p>
        </p:txBody>
      </p:sp>
      <p:sp>
        <p:nvSpPr>
          <p:cNvPr id="8" name="Learning step 2"/>
          <p:cNvSpPr/>
          <p:nvPr/>
        </p:nvSpPr>
        <p:spPr>
          <a:xfrm>
            <a:off x="2575865" y="1234440"/>
            <a:ext cx="1874520" cy="2011680"/>
          </a:xfrm>
          <a:prstGeom prst="roundRect">
            <a:avLst>
              <a:gd name="adj" fmla="val 5854"/>
            </a:avLst>
          </a:prstGeom>
          <a:solidFill>
            <a:schemeClr val="bg2"/>
          </a:solidFill>
          <a:ln/>
        </p:spPr>
      </p:sp>
      <p:sp>
        <p:nvSpPr>
          <p:cNvPr id="9" name="Shape 7"/>
          <p:cNvSpPr/>
          <p:nvPr/>
        </p:nvSpPr>
        <p:spPr>
          <a:xfrm>
            <a:off x="2758745" y="1417320"/>
            <a:ext cx="457200" cy="457200"/>
          </a:xfrm>
          <a:prstGeom prst="ellipse">
            <a:avLst/>
          </a:prstGeom>
          <a:solidFill>
            <a:schemeClr val="accent1"/>
          </a:solidFill>
          <a:ln/>
        </p:spPr>
      </p:sp>
      <p:sp>
        <p:nvSpPr>
          <p:cNvPr id="10" name="Text 8"/>
          <p:cNvSpPr txBox="1"/>
          <p:nvPr/>
        </p:nvSpPr>
        <p:spPr>
          <a:xfrm>
            <a:off x="2758745"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2758745"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Compute loss</a:t>
            </a:r>
            <a:endParaRPr lang="en-US" sz="1600" dirty="0"/>
          </a:p>
        </p:txBody>
      </p:sp>
      <p:sp>
        <p:nvSpPr>
          <p:cNvPr id="12" name="Text 10"/>
          <p:cNvSpPr txBox="1"/>
          <p:nvPr/>
        </p:nvSpPr>
        <p:spPr>
          <a:xfrm>
            <a:off x="2758745"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Compare the prediction with the true answer.</a:t>
            </a:r>
            <a:endParaRPr lang="en-US" sz="1400" dirty="0"/>
          </a:p>
        </p:txBody>
      </p:sp>
      <p:sp>
        <p:nvSpPr>
          <p:cNvPr id="13" name="Learning step 3"/>
          <p:cNvSpPr/>
          <p:nvPr/>
        </p:nvSpPr>
        <p:spPr>
          <a:xfrm>
            <a:off x="4694530" y="1234440"/>
            <a:ext cx="1874520" cy="2011680"/>
          </a:xfrm>
          <a:prstGeom prst="roundRect">
            <a:avLst>
              <a:gd name="adj" fmla="val 5854"/>
            </a:avLst>
          </a:prstGeom>
          <a:solidFill>
            <a:schemeClr val="bg2"/>
          </a:solidFill>
          <a:ln/>
        </p:spPr>
      </p:sp>
      <p:sp>
        <p:nvSpPr>
          <p:cNvPr id="14" name="Shape 12"/>
          <p:cNvSpPr/>
          <p:nvPr/>
        </p:nvSpPr>
        <p:spPr>
          <a:xfrm>
            <a:off x="4877410" y="1417320"/>
            <a:ext cx="457200" cy="457200"/>
          </a:xfrm>
          <a:prstGeom prst="ellipse">
            <a:avLst/>
          </a:prstGeom>
          <a:solidFill>
            <a:schemeClr val="accent1"/>
          </a:solidFill>
          <a:ln/>
        </p:spPr>
      </p:sp>
      <p:sp>
        <p:nvSpPr>
          <p:cNvPr id="15" name="Text 13"/>
          <p:cNvSpPr txBox="1"/>
          <p:nvPr/>
        </p:nvSpPr>
        <p:spPr>
          <a:xfrm>
            <a:off x="487741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4877410"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Backpropagate</a:t>
            </a:r>
            <a:endParaRPr lang="en-US" sz="1600" dirty="0"/>
          </a:p>
        </p:txBody>
      </p:sp>
      <p:sp>
        <p:nvSpPr>
          <p:cNvPr id="17" name="Text 15"/>
          <p:cNvSpPr txBox="1"/>
          <p:nvPr/>
        </p:nvSpPr>
        <p:spPr>
          <a:xfrm>
            <a:off x="4877410"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Use the chain rule to find each weight's share of the blame.</a:t>
            </a:r>
            <a:endParaRPr lang="en-US" sz="1400" dirty="0"/>
          </a:p>
        </p:txBody>
      </p:sp>
      <p:sp>
        <p:nvSpPr>
          <p:cNvPr id="18" name="Learning step 4"/>
          <p:cNvSpPr/>
          <p:nvPr/>
        </p:nvSpPr>
        <p:spPr>
          <a:xfrm>
            <a:off x="6813194" y="1234440"/>
            <a:ext cx="1874520" cy="2011680"/>
          </a:xfrm>
          <a:prstGeom prst="roundRect">
            <a:avLst>
              <a:gd name="adj" fmla="val 5854"/>
            </a:avLst>
          </a:prstGeom>
          <a:solidFill>
            <a:schemeClr val="bg2"/>
          </a:solidFill>
          <a:ln/>
        </p:spPr>
      </p:sp>
      <p:sp>
        <p:nvSpPr>
          <p:cNvPr id="19" name="Shape 17"/>
          <p:cNvSpPr/>
          <p:nvPr/>
        </p:nvSpPr>
        <p:spPr>
          <a:xfrm>
            <a:off x="6996074" y="1417320"/>
            <a:ext cx="457200" cy="457200"/>
          </a:xfrm>
          <a:prstGeom prst="ellipse">
            <a:avLst/>
          </a:prstGeom>
          <a:solidFill>
            <a:schemeClr val="accent1"/>
          </a:solidFill>
          <a:ln/>
        </p:spPr>
      </p:sp>
      <p:sp>
        <p:nvSpPr>
          <p:cNvPr id="20" name="Text 18"/>
          <p:cNvSpPr txBox="1"/>
          <p:nvPr/>
        </p:nvSpPr>
        <p:spPr>
          <a:xfrm>
            <a:off x="6996074"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6996074"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Update weights</a:t>
            </a:r>
            <a:endParaRPr lang="en-US" sz="1600" dirty="0"/>
          </a:p>
        </p:txBody>
      </p:sp>
      <p:sp>
        <p:nvSpPr>
          <p:cNvPr id="22" name="Text 20"/>
          <p:cNvSpPr txBox="1"/>
          <p:nvPr/>
        </p:nvSpPr>
        <p:spPr>
          <a:xfrm>
            <a:off x="6996074"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Nudge each weight a small step against its gradient.</a:t>
            </a:r>
            <a:endParaRPr lang="en-US" sz="1400" dirty="0"/>
          </a:p>
        </p:txBody>
      </p:sp>
      <p:sp>
        <p:nvSpPr>
          <p:cNvPr id="23" name="Repeat bar"/>
          <p:cNvSpPr/>
          <p:nvPr/>
        </p:nvSpPr>
        <p:spPr>
          <a:xfrm>
            <a:off x="457200" y="3383280"/>
            <a:ext cx="8229600" cy="457200"/>
          </a:xfrm>
          <a:prstGeom prst="roundRect">
            <a:avLst>
              <a:gd name="adj" fmla="val 20000"/>
            </a:avLst>
          </a:prstGeom>
          <a:solidFill>
            <a:schemeClr val="accent2"/>
          </a:solidFill>
          <a:ln/>
        </p:spPr>
      </p:sp>
      <p:sp>
        <p:nvSpPr>
          <p:cNvPr id="24" name="Text 22"/>
          <p:cNvSpPr txBox="1"/>
          <p:nvPr/>
        </p:nvSpPr>
        <p:spPr>
          <a:xfrm>
            <a:off x="457200" y="3383280"/>
            <a:ext cx="8229600" cy="457200"/>
          </a:xfrm>
          <a:prstGeom prst="rect">
            <a:avLst/>
          </a:prstGeom>
          <a:noFill/>
          <a:ln/>
        </p:spPr>
        <p:txBody>
          <a:bodyPr wrap="square" lIns="0" tIns="0" rIns="0" bIns="0" rtlCol="0" anchor="ctr"/>
          <a:lstStyle/>
          <a:p>
            <a:pPr algn="ctr" indent="0" marL="0">
              <a:buNone/>
            </a:pPr>
            <a:r>
              <a:rPr lang="en-US" sz="1400" b="1" dirty="0">
                <a:solidFill>
                  <a:schemeClr val="tx1"/>
                </a:solidFill>
              </a:rPr>
              <a:t>Repeat over many batches of data. One full pass over the dataset is an epoch.</a:t>
            </a:r>
            <a:endParaRPr lang="en-US" sz="1400" dirty="0"/>
          </a:p>
        </p:txBody>
      </p:sp>
      <p:sp>
        <p:nvSpPr>
          <p:cNvPr id="25" name="Text 23"/>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400" i="1" dirty="0">
                <a:solidFill>
                  <a:schemeClr val="tx2"/>
                </a:solidFill>
              </a:rPr>
              <a:t>Think of hiking downhill in fog: feel the slope underfoot (the gradient), then take a step (the learning rate η).</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Optimizers: why Adam</a:t>
            </a:r>
            <a:endParaRPr lang="en-US" sz="3400" dirty="0"/>
          </a:p>
        </p:txBody>
      </p:sp>
      <p:sp>
        <p:nvSpPr>
          <p:cNvPr id="3" name="Adam idea 1"/>
          <p:cNvSpPr/>
          <p:nvPr/>
        </p:nvSpPr>
        <p:spPr>
          <a:xfrm>
            <a:off x="457200" y="1234440"/>
            <a:ext cx="2624328" cy="1554480"/>
          </a:xfrm>
          <a:prstGeom prst="roundRect">
            <a:avLst>
              <a:gd name="adj" fmla="val 7059"/>
            </a:avLst>
          </a:prstGeom>
          <a:solidFill>
            <a:schemeClr val="bg2"/>
          </a:solidFill>
          <a:ln/>
        </p:spPr>
      </p:sp>
      <p:sp>
        <p:nvSpPr>
          <p:cNvPr id="4" name="Text 2"/>
          <p:cNvSpPr txBox="1"/>
          <p:nvPr/>
        </p:nvSpPr>
        <p:spPr>
          <a:xfrm>
            <a:off x="640080" y="1417320"/>
            <a:ext cx="2286000" cy="274320"/>
          </a:xfrm>
          <a:prstGeom prst="rect">
            <a:avLst/>
          </a:prstGeom>
          <a:noFill/>
          <a:ln/>
        </p:spPr>
        <p:txBody>
          <a:bodyPr wrap="square" lIns="0" tIns="0" rIns="0" bIns="0" rtlCol="0" anchor="t"/>
          <a:lstStyle/>
          <a:p>
            <a:pPr indent="0" marL="0">
              <a:buNone/>
            </a:pPr>
            <a:r>
              <a:rPr lang="en-US" sz="1600" b="1" dirty="0">
                <a:solidFill>
                  <a:schemeClr val="accent1"/>
                </a:solidFill>
              </a:rPr>
              <a:t>Momentum</a:t>
            </a:r>
            <a:endParaRPr lang="en-US" sz="1600" dirty="0"/>
          </a:p>
        </p:txBody>
      </p:sp>
      <p:sp>
        <p:nvSpPr>
          <p:cNvPr id="5" name="Text 3"/>
          <p:cNvSpPr txBox="1"/>
          <p:nvPr/>
        </p:nvSpPr>
        <p:spPr>
          <a:xfrm>
            <a:off x="640080" y="1783080"/>
            <a:ext cx="2286000" cy="914400"/>
          </a:xfrm>
          <a:prstGeom prst="rect">
            <a:avLst/>
          </a:prstGeom>
          <a:noFill/>
          <a:ln/>
        </p:spPr>
        <p:txBody>
          <a:bodyPr wrap="square" lIns="0" tIns="0" rIns="0" bIns="0" rtlCol="0" anchor="t"/>
          <a:lstStyle/>
          <a:p>
            <a:pPr indent="0" marL="0">
              <a:buNone/>
            </a:pPr>
            <a:r>
              <a:rPr lang="en-US" sz="1400" dirty="0">
                <a:solidFill>
                  <a:schemeClr val="tx2"/>
                </a:solidFill>
              </a:rPr>
              <a:t>Averages recent gradients (m) so steps keep a steady direction.</a:t>
            </a:r>
            <a:endParaRPr lang="en-US" sz="1400" dirty="0"/>
          </a:p>
        </p:txBody>
      </p:sp>
      <p:sp>
        <p:nvSpPr>
          <p:cNvPr id="6" name="Adam idea 2"/>
          <p:cNvSpPr/>
          <p:nvPr/>
        </p:nvSpPr>
        <p:spPr>
          <a:xfrm>
            <a:off x="3259836" y="1234440"/>
            <a:ext cx="2624328" cy="1554480"/>
          </a:xfrm>
          <a:prstGeom prst="roundRect">
            <a:avLst>
              <a:gd name="adj" fmla="val 7059"/>
            </a:avLst>
          </a:prstGeom>
          <a:solidFill>
            <a:schemeClr val="bg2"/>
          </a:solidFill>
          <a:ln/>
        </p:spPr>
      </p:sp>
      <p:sp>
        <p:nvSpPr>
          <p:cNvPr id="7" name="Text 5"/>
          <p:cNvSpPr txBox="1"/>
          <p:nvPr/>
        </p:nvSpPr>
        <p:spPr>
          <a:xfrm>
            <a:off x="3442716" y="1417320"/>
            <a:ext cx="2286000" cy="274320"/>
          </a:xfrm>
          <a:prstGeom prst="rect">
            <a:avLst/>
          </a:prstGeom>
          <a:noFill/>
          <a:ln/>
        </p:spPr>
        <p:txBody>
          <a:bodyPr wrap="square" lIns="0" tIns="0" rIns="0" bIns="0" rtlCol="0" anchor="t"/>
          <a:lstStyle/>
          <a:p>
            <a:pPr indent="0" marL="0">
              <a:buNone/>
            </a:pPr>
            <a:r>
              <a:rPr lang="en-US" sz="1600" b="1" dirty="0">
                <a:solidFill>
                  <a:schemeClr val="accent1"/>
                </a:solidFill>
              </a:rPr>
              <a:t>Adaptive step size</a:t>
            </a:r>
            <a:endParaRPr lang="en-US" sz="1600" dirty="0"/>
          </a:p>
        </p:txBody>
      </p:sp>
      <p:sp>
        <p:nvSpPr>
          <p:cNvPr id="8" name="Text 6"/>
          <p:cNvSpPr txBox="1"/>
          <p:nvPr/>
        </p:nvSpPr>
        <p:spPr>
          <a:xfrm>
            <a:off x="3442716" y="1783080"/>
            <a:ext cx="2286000" cy="914400"/>
          </a:xfrm>
          <a:prstGeom prst="rect">
            <a:avLst/>
          </a:prstGeom>
          <a:noFill/>
          <a:ln/>
        </p:spPr>
        <p:txBody>
          <a:bodyPr wrap="square" lIns="0" tIns="0" rIns="0" bIns="0" rtlCol="0" anchor="t"/>
          <a:lstStyle/>
          <a:p>
            <a:pPr indent="0" marL="0">
              <a:buNone/>
            </a:pPr>
            <a:r>
              <a:rPr lang="en-US" sz="1400" dirty="0">
                <a:solidFill>
                  <a:schemeClr val="tx2"/>
                </a:solidFill>
              </a:rPr>
              <a:t>Averages squared gradients (v) so each weight gets its own learning rate.</a:t>
            </a:r>
            <a:endParaRPr lang="en-US" sz="1400" dirty="0"/>
          </a:p>
        </p:txBody>
      </p:sp>
      <p:sp>
        <p:nvSpPr>
          <p:cNvPr id="9" name="Adam idea 3"/>
          <p:cNvSpPr/>
          <p:nvPr/>
        </p:nvSpPr>
        <p:spPr>
          <a:xfrm>
            <a:off x="6062472" y="1234440"/>
            <a:ext cx="2624328" cy="1554480"/>
          </a:xfrm>
          <a:prstGeom prst="roundRect">
            <a:avLst>
              <a:gd name="adj" fmla="val 7059"/>
            </a:avLst>
          </a:prstGeom>
          <a:solidFill>
            <a:schemeClr val="bg2"/>
          </a:solidFill>
          <a:ln/>
        </p:spPr>
      </p:sp>
      <p:sp>
        <p:nvSpPr>
          <p:cNvPr id="10" name="Text 8"/>
          <p:cNvSpPr txBox="1"/>
          <p:nvPr/>
        </p:nvSpPr>
        <p:spPr>
          <a:xfrm>
            <a:off x="6245352" y="1417320"/>
            <a:ext cx="2286000" cy="274320"/>
          </a:xfrm>
          <a:prstGeom prst="rect">
            <a:avLst/>
          </a:prstGeom>
          <a:noFill/>
          <a:ln/>
        </p:spPr>
        <p:txBody>
          <a:bodyPr wrap="square" lIns="0" tIns="0" rIns="0" bIns="0" rtlCol="0" anchor="t"/>
          <a:lstStyle/>
          <a:p>
            <a:pPr indent="0" marL="0">
              <a:buNone/>
            </a:pPr>
            <a:r>
              <a:rPr lang="en-US" sz="1600" b="1" dirty="0">
                <a:solidFill>
                  <a:schemeClr val="accent1"/>
                </a:solidFill>
              </a:rPr>
              <a:t>Bias correction</a:t>
            </a:r>
            <a:endParaRPr lang="en-US" sz="1600" dirty="0"/>
          </a:p>
        </p:txBody>
      </p:sp>
      <p:sp>
        <p:nvSpPr>
          <p:cNvPr id="11" name="Text 9"/>
          <p:cNvSpPr txBox="1"/>
          <p:nvPr/>
        </p:nvSpPr>
        <p:spPr>
          <a:xfrm>
            <a:off x="6245352" y="1783080"/>
            <a:ext cx="2286000" cy="914400"/>
          </a:xfrm>
          <a:prstGeom prst="rect">
            <a:avLst/>
          </a:prstGeom>
          <a:noFill/>
          <a:ln/>
        </p:spPr>
        <p:txBody>
          <a:bodyPr wrap="square" lIns="0" tIns="0" rIns="0" bIns="0" rtlCol="0" anchor="t"/>
          <a:lstStyle/>
          <a:p>
            <a:pPr indent="0" marL="0">
              <a:buNone/>
            </a:pPr>
            <a:r>
              <a:rPr lang="en-US" sz="1400" dirty="0">
                <a:solidFill>
                  <a:schemeClr val="tx2"/>
                </a:solidFill>
              </a:rPr>
              <a:t>Fixes the early averages, which start at zero (m-hat, v-hat).</a:t>
            </a:r>
            <a:endParaRPr lang="en-US" sz="1400" dirty="0"/>
          </a:p>
        </p:txBody>
      </p:sp>
      <p:sp>
        <p:nvSpPr>
          <p:cNvPr id="12" name="Adam update panel"/>
          <p:cNvSpPr/>
          <p:nvPr/>
        </p:nvSpPr>
        <p:spPr>
          <a:xfrm>
            <a:off x="457200" y="2971800"/>
            <a:ext cx="8229600" cy="960120"/>
          </a:xfrm>
          <a:prstGeom prst="roundRect">
            <a:avLst>
              <a:gd name="adj" fmla="val 11429"/>
            </a:avLst>
          </a:prstGeom>
          <a:solidFill>
            <a:schemeClr val="tx1"/>
          </a:solidFill>
          <a:ln/>
        </p:spPr>
      </p:sp>
      <p:sp>
        <p:nvSpPr>
          <p:cNvPr id="13" name="Text 11"/>
          <p:cNvSpPr txBox="1"/>
          <p:nvPr/>
        </p:nvSpPr>
        <p:spPr>
          <a:xfrm>
            <a:off x="731520" y="3090672"/>
            <a:ext cx="7680960" cy="365760"/>
          </a:xfrm>
          <a:prstGeom prst="rect">
            <a:avLst/>
          </a:prstGeom>
          <a:noFill/>
          <a:ln/>
        </p:spPr>
        <p:txBody>
          <a:bodyPr wrap="square" lIns="0" tIns="0" rIns="0" bIns="0" rtlCol="0" anchor="t"/>
          <a:lstStyle/>
          <a:p>
            <a:pPr indent="0" marL="0">
              <a:buNone/>
            </a:pPr>
            <a:r>
              <a:rPr lang="en-US" sz="2200" b="1" dirty="0">
                <a:solidFill>
                  <a:schemeClr val="accent2"/>
                </a:solidFill>
                <a:latin typeface="+mj-lt" pitchFamily="34" charset="0"/>
                <a:ea typeface="+mj-lt" pitchFamily="34" charset="-122"/>
                <a:cs typeface="+mj-lt" pitchFamily="34" charset="-120"/>
              </a:rPr>
              <a:t>w = w − η · m-hat / ( √v-hat + ε )</a:t>
            </a:r>
            <a:endParaRPr lang="en-US" sz="2200" dirty="0"/>
          </a:p>
        </p:txBody>
      </p:sp>
      <p:sp>
        <p:nvSpPr>
          <p:cNvPr id="14" name="Text 12"/>
          <p:cNvSpPr txBox="1"/>
          <p:nvPr/>
        </p:nvSpPr>
        <p:spPr>
          <a:xfrm>
            <a:off x="731520" y="3547872"/>
            <a:ext cx="7680960" cy="274320"/>
          </a:xfrm>
          <a:prstGeom prst="rect">
            <a:avLst/>
          </a:prstGeom>
          <a:noFill/>
          <a:ln/>
        </p:spPr>
        <p:txBody>
          <a:bodyPr wrap="square" lIns="0" tIns="0" rIns="0" bIns="0" rtlCol="0" anchor="t"/>
          <a:lstStyle/>
          <a:p>
            <a:pPr indent="0" marL="0">
              <a:buNone/>
            </a:pPr>
            <a:r>
              <a:rPr lang="en-US" sz="1400" dirty="0">
                <a:solidFill>
                  <a:schemeClr val="bg1"/>
                </a:solidFill>
              </a:rPr>
              <a:t>Common defaults: η = 0.001, β1 = 0.9, β2 = 0.999, ε = 1e-8</a:t>
            </a:r>
            <a:endParaRPr lang="en-US" sz="1400" dirty="0"/>
          </a:p>
        </p:txBody>
      </p:sp>
      <p:sp>
        <p:nvSpPr>
          <p:cNvPr id="15" name="Text 13"/>
          <p:cNvSpPr txBox="1"/>
          <p:nvPr/>
        </p:nvSpPr>
        <p:spPr>
          <a:xfrm>
            <a:off x="457200" y="4069080"/>
            <a:ext cx="8229600" cy="548640"/>
          </a:xfrm>
          <a:prstGeom prst="rect">
            <a:avLst/>
          </a:prstGeom>
          <a:noFill/>
          <a:ln/>
        </p:spPr>
        <p:txBody>
          <a:bodyPr wrap="square" lIns="0" tIns="0" rIns="0" bIns="0" rtlCol="0" anchor="t"/>
          <a:lstStyle/>
          <a:p>
            <a:pPr indent="0" marL="0">
              <a:buNone/>
            </a:pPr>
            <a:r>
              <a:rPr lang="en-US" sz="1400" i="1" dirty="0">
                <a:solidFill>
                  <a:schemeClr val="tx2"/>
                </a:solidFill>
              </a:rPr>
              <a:t>Adam is a strong first choice. Use AdamW when you want weight decay; SGD with momentum can still win on some vision tasks.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Training: watch the curves</a:t>
            </a:r>
            <a:endParaRPr lang="en-US" sz="3400" dirty="0"/>
          </a:p>
        </p:txBody>
      </p:sp>
      <p:graphicFrame>
        <p:nvGraphicFramePr>
          <p:cNvPr id="3" name="Chart 0" descr=""/>
          <p:cNvGraphicFramePr/>
          <p:nvPr/>
        </p:nvGraphicFramePr>
        <p:xfrm>
          <a:off x="457200" y="1188720"/>
          <a:ext cx="4937760" cy="3383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669280" y="1280160"/>
            <a:ext cx="3017520" cy="320040"/>
          </a:xfrm>
          <a:prstGeom prst="rect">
            <a:avLst/>
          </a:prstGeom>
          <a:noFill/>
          <a:ln/>
        </p:spPr>
        <p:txBody>
          <a:bodyPr wrap="square" lIns="0" tIns="0" rIns="0" bIns="0" rtlCol="0" anchor="t"/>
          <a:lstStyle/>
          <a:p>
            <a:pPr indent="0" marL="0">
              <a:buNone/>
            </a:pPr>
            <a:r>
              <a:rPr lang="en-US" sz="1800" b="1" dirty="0">
                <a:solidFill>
                  <a:schemeClr val="tx1"/>
                </a:solidFill>
              </a:rPr>
              <a:t>Reading the curves</a:t>
            </a:r>
            <a:endParaRPr lang="en-US" sz="1800" dirty="0"/>
          </a:p>
        </p:txBody>
      </p:sp>
      <p:sp>
        <p:nvSpPr>
          <p:cNvPr id="5" name="Text 2"/>
          <p:cNvSpPr txBox="1"/>
          <p:nvPr/>
        </p:nvSpPr>
        <p:spPr>
          <a:xfrm>
            <a:off x="5669280" y="1691640"/>
            <a:ext cx="3017520" cy="1691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Training loss keeps falling.</a:t>
            </a:r>
            <a:endParaRPr lang="en-US" sz="1400" dirty="0"/>
          </a:p>
          <a:p>
            <a:pPr marL="342900" indent="-342900">
              <a:spcAft>
                <a:spcPts val="600"/>
              </a:spcAft>
              <a:buSzPct val="100000"/>
              <a:buChar char="•"/>
            </a:pPr>
            <a:r>
              <a:rPr lang="en-US" sz="1400" dirty="0">
                <a:solidFill>
                  <a:schemeClr val="tx2"/>
                </a:solidFill>
              </a:rPr>
              <a:t>Validation loss rises after epoch 6: that is overfitting.</a:t>
            </a:r>
            <a:endParaRPr lang="en-US" sz="1400" dirty="0"/>
          </a:p>
          <a:p>
            <a:pPr marL="342900" indent="-342900">
              <a:spcAft>
                <a:spcPts val="600"/>
              </a:spcAft>
              <a:buSzPct val="100000"/>
              <a:buChar char="•"/>
            </a:pPr>
            <a:r>
              <a:rPr lang="en-US" sz="1400" dirty="0">
                <a:solidFill>
                  <a:schemeClr val="tx2"/>
                </a:solidFill>
              </a:rPr>
              <a:t>Fixes: more data, dropout, weight decay, early stopping.</a:t>
            </a:r>
            <a:endParaRPr lang="en-US" sz="1400" dirty="0"/>
          </a:p>
        </p:txBody>
      </p:sp>
      <p:sp>
        <p:nvSpPr>
          <p:cNvPr id="6" name="Text 3"/>
          <p:cNvSpPr txBox="1"/>
          <p:nvPr/>
        </p:nvSpPr>
        <p:spPr>
          <a:xfrm>
            <a:off x="5669280" y="3520440"/>
            <a:ext cx="3017520" cy="320040"/>
          </a:xfrm>
          <a:prstGeom prst="rect">
            <a:avLst/>
          </a:prstGeom>
          <a:noFill/>
          <a:ln/>
        </p:spPr>
        <p:txBody>
          <a:bodyPr wrap="square" lIns="0" tIns="0" rIns="0" bIns="0" rtlCol="0" anchor="t"/>
          <a:lstStyle/>
          <a:p>
            <a:pPr indent="0" marL="0">
              <a:buNone/>
            </a:pPr>
            <a:r>
              <a:rPr lang="en-US" sz="1800" b="1" dirty="0">
                <a:solidFill>
                  <a:schemeClr val="tx1"/>
                </a:solidFill>
              </a:rPr>
              <a:t>Knobs you tune</a:t>
            </a:r>
            <a:endParaRPr lang="en-US" sz="1800" dirty="0"/>
          </a:p>
        </p:txBody>
      </p:sp>
      <p:sp>
        <p:nvSpPr>
          <p:cNvPr id="7" name="Text 4"/>
          <p:cNvSpPr txBox="1"/>
          <p:nvPr/>
        </p:nvSpPr>
        <p:spPr>
          <a:xfrm>
            <a:off x="5669280" y="3886200"/>
            <a:ext cx="3017520" cy="640080"/>
          </a:xfrm>
          <a:prstGeom prst="rect">
            <a:avLst/>
          </a:prstGeom>
          <a:noFill/>
          <a:ln/>
        </p:spPr>
        <p:txBody>
          <a:bodyPr wrap="square" lIns="0" tIns="0" rIns="0" bIns="0" rtlCol="0" anchor="t"/>
          <a:lstStyle/>
          <a:p>
            <a:pPr indent="0" marL="0">
              <a:buNone/>
            </a:pPr>
            <a:r>
              <a:rPr lang="en-US" sz="1400" dirty="0">
                <a:solidFill>
                  <a:schemeClr val="tx2"/>
                </a:solidFill>
              </a:rPr>
              <a:t>Learning rate, batch size, epochs, number and width of layers.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Early stopping in code</a:t>
            </a:r>
            <a:endParaRPr lang="en-US" sz="3400" dirty="0"/>
          </a:p>
        </p:txBody>
      </p:sp>
      <p:sp>
        <p:nvSpPr>
          <p:cNvPr id="3" name="Code panel"/>
          <p:cNvSpPr/>
          <p:nvPr/>
        </p:nvSpPr>
        <p:spPr>
          <a:xfrm>
            <a:off x="457200" y="1234440"/>
            <a:ext cx="5120640" cy="3291840"/>
          </a:xfrm>
          <a:prstGeom prst="roundRect">
            <a:avLst>
              <a:gd name="adj" fmla="val 3333"/>
            </a:avLst>
          </a:prstGeom>
          <a:solidFill>
            <a:schemeClr val="tx1"/>
          </a:solidFill>
          <a:ln/>
        </p:spPr>
      </p:sp>
      <p:sp>
        <p:nvSpPr>
          <p:cNvPr id="4" name="Text 2"/>
          <p:cNvSpPr txBox="1"/>
          <p:nvPr/>
        </p:nvSpPr>
        <p:spPr>
          <a:xfrm>
            <a:off x="731520" y="1463040"/>
            <a:ext cx="4663440" cy="2834640"/>
          </a:xfrm>
          <a:prstGeom prst="rect">
            <a:avLst/>
          </a:prstGeom>
          <a:noFill/>
          <a:ln/>
        </p:spPr>
        <p:txBody>
          <a:bodyPr wrap="square" lIns="0" tIns="0" rIns="0" bIns="0" rtlCol="0" anchor="t"/>
          <a:lstStyle/>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best, wait = float("inf"), 0</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for epoch in range(100):</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train_one_epoch(model)</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val = evaluate(model)</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if val &lt; best:</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best, wait = val, 0</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save_best(model)</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else:</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wait += 1</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if wait &gt;= patience:</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            break</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restore_best(model)</a:t>
            </a:r>
            <a:endParaRPr lang="en-US" sz="1300" dirty="0"/>
          </a:p>
        </p:txBody>
      </p:sp>
      <p:sp>
        <p:nvSpPr>
          <p:cNvPr id="5" name="Early stopping tip 1"/>
          <p:cNvSpPr/>
          <p:nvPr/>
        </p:nvSpPr>
        <p:spPr>
          <a:xfrm>
            <a:off x="5852160" y="1234440"/>
            <a:ext cx="2834640" cy="1005840"/>
          </a:xfrm>
          <a:prstGeom prst="roundRect">
            <a:avLst>
              <a:gd name="adj" fmla="val 10909"/>
            </a:avLst>
          </a:prstGeom>
          <a:solidFill>
            <a:schemeClr val="bg2"/>
          </a:solidFill>
          <a:ln/>
        </p:spPr>
      </p:sp>
      <p:sp>
        <p:nvSpPr>
          <p:cNvPr id="6" name="Text 4"/>
          <p:cNvSpPr txBox="1"/>
          <p:nvPr/>
        </p:nvSpPr>
        <p:spPr>
          <a:xfrm>
            <a:off x="6035040" y="1344168"/>
            <a:ext cx="2560320" cy="274320"/>
          </a:xfrm>
          <a:prstGeom prst="rect">
            <a:avLst/>
          </a:prstGeom>
          <a:noFill/>
          <a:ln/>
        </p:spPr>
        <p:txBody>
          <a:bodyPr wrap="square" lIns="0" tIns="0" rIns="0" bIns="0" rtlCol="0" anchor="t"/>
          <a:lstStyle/>
          <a:p>
            <a:pPr indent="0" marL="0">
              <a:buNone/>
            </a:pPr>
            <a:r>
              <a:rPr lang="en-US" sz="1600" b="1" dirty="0">
                <a:solidFill>
                  <a:schemeClr val="accent1"/>
                </a:solidFill>
              </a:rPr>
              <a:t>patience</a:t>
            </a:r>
            <a:endParaRPr lang="en-US" sz="1600" dirty="0"/>
          </a:p>
        </p:txBody>
      </p:sp>
      <p:sp>
        <p:nvSpPr>
          <p:cNvPr id="7" name="Text 5"/>
          <p:cNvSpPr txBox="1"/>
          <p:nvPr/>
        </p:nvSpPr>
        <p:spPr>
          <a:xfrm>
            <a:off x="6035040" y="1673352"/>
            <a:ext cx="2560320" cy="502920"/>
          </a:xfrm>
          <a:prstGeom prst="rect">
            <a:avLst/>
          </a:prstGeom>
          <a:noFill/>
          <a:ln/>
        </p:spPr>
        <p:txBody>
          <a:bodyPr wrap="square" lIns="0" tIns="0" rIns="0" bIns="0" rtlCol="0" anchor="t"/>
          <a:lstStyle/>
          <a:p>
            <a:pPr indent="0" marL="0">
              <a:buNone/>
            </a:pPr>
            <a:r>
              <a:rPr lang="en-US" sz="1400" dirty="0">
                <a:solidFill>
                  <a:schemeClr val="tx2"/>
                </a:solidFill>
              </a:rPr>
              <a:t>Epochs to wait with no improvement. Try 5 to 10.</a:t>
            </a:r>
            <a:endParaRPr lang="en-US" sz="1400" dirty="0"/>
          </a:p>
        </p:txBody>
      </p:sp>
      <p:sp>
        <p:nvSpPr>
          <p:cNvPr id="8" name="Early stopping tip 2"/>
          <p:cNvSpPr/>
          <p:nvPr/>
        </p:nvSpPr>
        <p:spPr>
          <a:xfrm>
            <a:off x="5852160" y="2331720"/>
            <a:ext cx="2834640" cy="1005840"/>
          </a:xfrm>
          <a:prstGeom prst="roundRect">
            <a:avLst>
              <a:gd name="adj" fmla="val 10909"/>
            </a:avLst>
          </a:prstGeom>
          <a:solidFill>
            <a:schemeClr val="bg2"/>
          </a:solidFill>
          <a:ln/>
        </p:spPr>
      </p:sp>
      <p:sp>
        <p:nvSpPr>
          <p:cNvPr id="9" name="Text 7"/>
          <p:cNvSpPr txBox="1"/>
          <p:nvPr/>
        </p:nvSpPr>
        <p:spPr>
          <a:xfrm>
            <a:off x="6035040" y="2441448"/>
            <a:ext cx="2560320" cy="274320"/>
          </a:xfrm>
          <a:prstGeom prst="rect">
            <a:avLst/>
          </a:prstGeom>
          <a:noFill/>
          <a:ln/>
        </p:spPr>
        <p:txBody>
          <a:bodyPr wrap="square" lIns="0" tIns="0" rIns="0" bIns="0" rtlCol="0" anchor="t"/>
          <a:lstStyle/>
          <a:p>
            <a:pPr indent="0" marL="0">
              <a:buNone/>
            </a:pPr>
            <a:r>
              <a:rPr lang="en-US" sz="1600" b="1" dirty="0">
                <a:solidFill>
                  <a:schemeClr val="accent1"/>
                </a:solidFill>
              </a:rPr>
              <a:t>Monitor validation loss</a:t>
            </a:r>
            <a:endParaRPr lang="en-US" sz="1600" dirty="0"/>
          </a:p>
        </p:txBody>
      </p:sp>
      <p:sp>
        <p:nvSpPr>
          <p:cNvPr id="10" name="Text 8"/>
          <p:cNvSpPr txBox="1"/>
          <p:nvPr/>
        </p:nvSpPr>
        <p:spPr>
          <a:xfrm>
            <a:off x="6035040" y="2770632"/>
            <a:ext cx="2560320" cy="502920"/>
          </a:xfrm>
          <a:prstGeom prst="rect">
            <a:avLst/>
          </a:prstGeom>
          <a:noFill/>
          <a:ln/>
        </p:spPr>
        <p:txBody>
          <a:bodyPr wrap="square" lIns="0" tIns="0" rIns="0" bIns="0" rtlCol="0" anchor="t"/>
          <a:lstStyle/>
          <a:p>
            <a:pPr indent="0" marL="0">
              <a:buNone/>
            </a:pPr>
            <a:r>
              <a:rPr lang="en-US" sz="1400" dirty="0">
                <a:solidFill>
                  <a:schemeClr val="tx2"/>
                </a:solidFill>
              </a:rPr>
              <a:t>Never the training loss.</a:t>
            </a:r>
            <a:endParaRPr lang="en-US" sz="1400" dirty="0"/>
          </a:p>
        </p:txBody>
      </p:sp>
      <p:sp>
        <p:nvSpPr>
          <p:cNvPr id="11" name="Early stopping tip 3"/>
          <p:cNvSpPr/>
          <p:nvPr/>
        </p:nvSpPr>
        <p:spPr>
          <a:xfrm>
            <a:off x="5852160" y="3429000"/>
            <a:ext cx="2834640" cy="1005840"/>
          </a:xfrm>
          <a:prstGeom prst="roundRect">
            <a:avLst>
              <a:gd name="adj" fmla="val 10909"/>
            </a:avLst>
          </a:prstGeom>
          <a:solidFill>
            <a:schemeClr val="bg2"/>
          </a:solidFill>
          <a:ln/>
        </p:spPr>
      </p:sp>
      <p:sp>
        <p:nvSpPr>
          <p:cNvPr id="12" name="Text 10"/>
          <p:cNvSpPr txBox="1"/>
          <p:nvPr/>
        </p:nvSpPr>
        <p:spPr>
          <a:xfrm>
            <a:off x="6035040" y="3538728"/>
            <a:ext cx="2560320" cy="274320"/>
          </a:xfrm>
          <a:prstGeom prst="rect">
            <a:avLst/>
          </a:prstGeom>
          <a:noFill/>
          <a:ln/>
        </p:spPr>
        <p:txBody>
          <a:bodyPr wrap="square" lIns="0" tIns="0" rIns="0" bIns="0" rtlCol="0" anchor="t"/>
          <a:lstStyle/>
          <a:p>
            <a:pPr indent="0" marL="0">
              <a:buNone/>
            </a:pPr>
            <a:r>
              <a:rPr lang="en-US" sz="1600" b="1" dirty="0">
                <a:solidFill>
                  <a:schemeClr val="accent1"/>
                </a:solidFill>
              </a:rPr>
              <a:t>Restore best weights</a:t>
            </a:r>
            <a:endParaRPr lang="en-US" sz="1600" dirty="0"/>
          </a:p>
        </p:txBody>
      </p:sp>
      <p:sp>
        <p:nvSpPr>
          <p:cNvPr id="13" name="Text 11"/>
          <p:cNvSpPr txBox="1"/>
          <p:nvPr/>
        </p:nvSpPr>
        <p:spPr>
          <a:xfrm>
            <a:off x="6035040" y="3867912"/>
            <a:ext cx="2560320" cy="502920"/>
          </a:xfrm>
          <a:prstGeom prst="rect">
            <a:avLst/>
          </a:prstGeom>
          <a:noFill/>
          <a:ln/>
        </p:spPr>
        <p:txBody>
          <a:bodyPr wrap="square" lIns="0" tIns="0" rIns="0" bIns="0" rtlCol="0" anchor="t"/>
          <a:lstStyle/>
          <a:p>
            <a:pPr indent="0" marL="0">
              <a:buNone/>
            </a:pPr>
            <a:r>
              <a:rPr lang="en-US" sz="1400" dirty="0">
                <a:solidFill>
                  <a:schemeClr val="tx2"/>
                </a:solidFill>
              </a:rPr>
              <a:t>The last epoch is usually slightly overfit.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Common architectures</a:t>
            </a:r>
            <a:endParaRPr lang="en-US" sz="3400" dirty="0"/>
          </a:p>
        </p:txBody>
      </p:sp>
      <p:sp>
        <p:nvSpPr>
          <p:cNvPr id="3" name="Architecture card 1"/>
          <p:cNvSpPr/>
          <p:nvPr/>
        </p:nvSpPr>
        <p:spPr>
          <a:xfrm>
            <a:off x="457200" y="1280160"/>
            <a:ext cx="4023360" cy="1554480"/>
          </a:xfrm>
          <a:prstGeom prst="roundRect">
            <a:avLst>
              <a:gd name="adj" fmla="val 7059"/>
            </a:avLst>
          </a:prstGeom>
          <a:solidFill>
            <a:schemeClr val="bg2"/>
          </a:solidFill>
          <a:ln/>
        </p:spPr>
      </p:sp>
      <p:sp>
        <p:nvSpPr>
          <p:cNvPr id="4" name="Shape 2"/>
          <p:cNvSpPr/>
          <p:nvPr/>
        </p:nvSpPr>
        <p:spPr>
          <a:xfrm>
            <a:off x="685800" y="1508760"/>
            <a:ext cx="685800" cy="685800"/>
          </a:xfrm>
          <a:prstGeom prst="ellipse">
            <a:avLst/>
          </a:prstGeom>
          <a:solidFill>
            <a:schemeClr val="accent1"/>
          </a:solidFill>
          <a:ln/>
        </p:spPr>
      </p:sp>
      <p:sp>
        <p:nvSpPr>
          <p:cNvPr id="5" name="Text 3"/>
          <p:cNvSpPr txBox="1"/>
          <p:nvPr/>
        </p:nvSpPr>
        <p:spPr>
          <a:xfrm>
            <a:off x="685800" y="150876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MLP</a:t>
            </a:r>
            <a:endParaRPr lang="en-US" sz="1400" dirty="0"/>
          </a:p>
        </p:txBody>
      </p:sp>
      <p:sp>
        <p:nvSpPr>
          <p:cNvPr id="6" name="Text 4"/>
          <p:cNvSpPr txBox="1"/>
          <p:nvPr/>
        </p:nvSpPr>
        <p:spPr>
          <a:xfrm>
            <a:off x="1554480" y="1554480"/>
            <a:ext cx="2743200" cy="320040"/>
          </a:xfrm>
          <a:prstGeom prst="rect">
            <a:avLst/>
          </a:prstGeom>
          <a:noFill/>
          <a:ln/>
        </p:spPr>
        <p:txBody>
          <a:bodyPr wrap="square" lIns="0" tIns="0" rIns="0" bIns="0" rtlCol="0" anchor="t"/>
          <a:lstStyle/>
          <a:p>
            <a:pPr indent="0" marL="0">
              <a:buNone/>
            </a:pPr>
            <a:r>
              <a:rPr lang="en-US" sz="1800" b="1" dirty="0">
                <a:solidFill>
                  <a:schemeClr val="tx1"/>
                </a:solidFill>
              </a:rPr>
              <a:t>Feedforward (MLP)</a:t>
            </a:r>
            <a:endParaRPr lang="en-US" sz="1800" dirty="0"/>
          </a:p>
        </p:txBody>
      </p:sp>
      <p:sp>
        <p:nvSpPr>
          <p:cNvPr id="7" name="Text 5"/>
          <p:cNvSpPr txBox="1"/>
          <p:nvPr/>
        </p:nvSpPr>
        <p:spPr>
          <a:xfrm>
            <a:off x="1554480" y="1965960"/>
            <a:ext cx="2743200" cy="777240"/>
          </a:xfrm>
          <a:prstGeom prst="rect">
            <a:avLst/>
          </a:prstGeom>
          <a:noFill/>
          <a:ln/>
        </p:spPr>
        <p:txBody>
          <a:bodyPr wrap="square" lIns="0" tIns="0" rIns="0" bIns="0" rtlCol="0" anchor="t"/>
          <a:lstStyle/>
          <a:p>
            <a:pPr indent="0" marL="0">
              <a:buNone/>
            </a:pPr>
            <a:r>
              <a:rPr lang="en-US" sz="1400" dirty="0">
                <a:solidFill>
                  <a:schemeClr val="tx2"/>
                </a:solidFill>
              </a:rPr>
              <a:t>Fully connected layers. Great for tabular data and as a building block.</a:t>
            </a:r>
            <a:endParaRPr lang="en-US" sz="1400" dirty="0"/>
          </a:p>
        </p:txBody>
      </p:sp>
      <p:sp>
        <p:nvSpPr>
          <p:cNvPr id="8" name="Architecture card 2"/>
          <p:cNvSpPr/>
          <p:nvPr/>
        </p:nvSpPr>
        <p:spPr>
          <a:xfrm>
            <a:off x="4663440" y="1280160"/>
            <a:ext cx="4023360" cy="1554480"/>
          </a:xfrm>
          <a:prstGeom prst="roundRect">
            <a:avLst>
              <a:gd name="adj" fmla="val 7059"/>
            </a:avLst>
          </a:prstGeom>
          <a:solidFill>
            <a:schemeClr val="bg2"/>
          </a:solidFill>
          <a:ln/>
        </p:spPr>
      </p:sp>
      <p:sp>
        <p:nvSpPr>
          <p:cNvPr id="9" name="Shape 7"/>
          <p:cNvSpPr/>
          <p:nvPr/>
        </p:nvSpPr>
        <p:spPr>
          <a:xfrm>
            <a:off x="4892040" y="1508760"/>
            <a:ext cx="685800" cy="685800"/>
          </a:xfrm>
          <a:prstGeom prst="ellipse">
            <a:avLst/>
          </a:prstGeom>
          <a:solidFill>
            <a:schemeClr val="accent1"/>
          </a:solidFill>
          <a:ln/>
        </p:spPr>
      </p:sp>
      <p:sp>
        <p:nvSpPr>
          <p:cNvPr id="10" name="Text 8"/>
          <p:cNvSpPr txBox="1"/>
          <p:nvPr/>
        </p:nvSpPr>
        <p:spPr>
          <a:xfrm>
            <a:off x="4892040" y="150876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CNN</a:t>
            </a:r>
            <a:endParaRPr lang="en-US" sz="1400" dirty="0"/>
          </a:p>
        </p:txBody>
      </p:sp>
      <p:sp>
        <p:nvSpPr>
          <p:cNvPr id="11" name="Text 9"/>
          <p:cNvSpPr txBox="1"/>
          <p:nvPr/>
        </p:nvSpPr>
        <p:spPr>
          <a:xfrm>
            <a:off x="5760720" y="1554480"/>
            <a:ext cx="2743200" cy="320040"/>
          </a:xfrm>
          <a:prstGeom prst="rect">
            <a:avLst/>
          </a:prstGeom>
          <a:noFill/>
          <a:ln/>
        </p:spPr>
        <p:txBody>
          <a:bodyPr wrap="square" lIns="0" tIns="0" rIns="0" bIns="0" rtlCol="0" anchor="t"/>
          <a:lstStyle/>
          <a:p>
            <a:pPr indent="0" marL="0">
              <a:buNone/>
            </a:pPr>
            <a:r>
              <a:rPr lang="en-US" sz="1800" b="1" dirty="0">
                <a:solidFill>
                  <a:schemeClr val="tx1"/>
                </a:solidFill>
              </a:rPr>
              <a:t>Convolutional (CNN)</a:t>
            </a:r>
            <a:endParaRPr lang="en-US" sz="1800" dirty="0"/>
          </a:p>
        </p:txBody>
      </p:sp>
      <p:sp>
        <p:nvSpPr>
          <p:cNvPr id="12" name="Text 10"/>
          <p:cNvSpPr txBox="1"/>
          <p:nvPr/>
        </p:nvSpPr>
        <p:spPr>
          <a:xfrm>
            <a:off x="5760720" y="1965960"/>
            <a:ext cx="2743200" cy="777240"/>
          </a:xfrm>
          <a:prstGeom prst="rect">
            <a:avLst/>
          </a:prstGeom>
          <a:noFill/>
          <a:ln/>
        </p:spPr>
        <p:txBody>
          <a:bodyPr wrap="square" lIns="0" tIns="0" rIns="0" bIns="0" rtlCol="0" anchor="t"/>
          <a:lstStyle/>
          <a:p>
            <a:pPr indent="0" marL="0">
              <a:buNone/>
            </a:pPr>
            <a:r>
              <a:rPr lang="en-US" sz="1400" dirty="0">
                <a:solidFill>
                  <a:schemeClr val="tx2"/>
                </a:solidFill>
              </a:rPr>
              <a:t>Slides small filters over images to detect edges, shapes and objects.</a:t>
            </a:r>
            <a:endParaRPr lang="en-US" sz="1400" dirty="0"/>
          </a:p>
        </p:txBody>
      </p:sp>
      <p:sp>
        <p:nvSpPr>
          <p:cNvPr id="13" name="Architecture card 3"/>
          <p:cNvSpPr/>
          <p:nvPr/>
        </p:nvSpPr>
        <p:spPr>
          <a:xfrm>
            <a:off x="457200" y="2971800"/>
            <a:ext cx="4023360" cy="1554480"/>
          </a:xfrm>
          <a:prstGeom prst="roundRect">
            <a:avLst>
              <a:gd name="adj" fmla="val 7059"/>
            </a:avLst>
          </a:prstGeom>
          <a:solidFill>
            <a:schemeClr val="bg2"/>
          </a:solidFill>
          <a:ln/>
        </p:spPr>
      </p:sp>
      <p:sp>
        <p:nvSpPr>
          <p:cNvPr id="14" name="Shape 12"/>
          <p:cNvSpPr/>
          <p:nvPr/>
        </p:nvSpPr>
        <p:spPr>
          <a:xfrm>
            <a:off x="685800" y="3200400"/>
            <a:ext cx="685800" cy="685800"/>
          </a:xfrm>
          <a:prstGeom prst="ellipse">
            <a:avLst/>
          </a:prstGeom>
          <a:solidFill>
            <a:schemeClr val="accent1"/>
          </a:solidFill>
          <a:ln/>
        </p:spPr>
      </p:sp>
      <p:sp>
        <p:nvSpPr>
          <p:cNvPr id="15" name="Text 13"/>
          <p:cNvSpPr txBox="1"/>
          <p:nvPr/>
        </p:nvSpPr>
        <p:spPr>
          <a:xfrm>
            <a:off x="685800" y="320040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RNN</a:t>
            </a:r>
            <a:endParaRPr lang="en-US" sz="1400" dirty="0"/>
          </a:p>
        </p:txBody>
      </p:sp>
      <p:sp>
        <p:nvSpPr>
          <p:cNvPr id="16" name="Text 14"/>
          <p:cNvSpPr txBox="1"/>
          <p:nvPr/>
        </p:nvSpPr>
        <p:spPr>
          <a:xfrm>
            <a:off x="1554480" y="3246120"/>
            <a:ext cx="2743200" cy="320040"/>
          </a:xfrm>
          <a:prstGeom prst="rect">
            <a:avLst/>
          </a:prstGeom>
          <a:noFill/>
          <a:ln/>
        </p:spPr>
        <p:txBody>
          <a:bodyPr wrap="square" lIns="0" tIns="0" rIns="0" bIns="0" rtlCol="0" anchor="t"/>
          <a:lstStyle/>
          <a:p>
            <a:pPr indent="0" marL="0">
              <a:buNone/>
            </a:pPr>
            <a:r>
              <a:rPr lang="en-US" sz="1800" b="1" dirty="0">
                <a:solidFill>
                  <a:schemeClr val="tx1"/>
                </a:solidFill>
              </a:rPr>
              <a:t>Recurrent (RNN, LSTM)</a:t>
            </a:r>
            <a:endParaRPr lang="en-US" sz="1800" dirty="0"/>
          </a:p>
        </p:txBody>
      </p:sp>
      <p:sp>
        <p:nvSpPr>
          <p:cNvPr id="17" name="Text 15"/>
          <p:cNvSpPr txBox="1"/>
          <p:nvPr/>
        </p:nvSpPr>
        <p:spPr>
          <a:xfrm>
            <a:off x="1554480" y="3657600"/>
            <a:ext cx="2743200" cy="777240"/>
          </a:xfrm>
          <a:prstGeom prst="rect">
            <a:avLst/>
          </a:prstGeom>
          <a:noFill/>
          <a:ln/>
        </p:spPr>
        <p:txBody>
          <a:bodyPr wrap="square" lIns="0" tIns="0" rIns="0" bIns="0" rtlCol="0" anchor="t"/>
          <a:lstStyle/>
          <a:p>
            <a:pPr indent="0" marL="0">
              <a:buNone/>
            </a:pPr>
            <a:r>
              <a:rPr lang="en-US" sz="1400" dirty="0">
                <a:solidFill>
                  <a:schemeClr val="tx2"/>
                </a:solidFill>
              </a:rPr>
              <a:t>Processes sequences step by step, carrying a memory of what came before.</a:t>
            </a:r>
            <a:endParaRPr lang="en-US" sz="1400" dirty="0"/>
          </a:p>
        </p:txBody>
      </p:sp>
      <p:sp>
        <p:nvSpPr>
          <p:cNvPr id="18" name="Architecture card 4"/>
          <p:cNvSpPr/>
          <p:nvPr/>
        </p:nvSpPr>
        <p:spPr>
          <a:xfrm>
            <a:off x="4663440" y="2971800"/>
            <a:ext cx="4023360" cy="1554480"/>
          </a:xfrm>
          <a:prstGeom prst="roundRect">
            <a:avLst>
              <a:gd name="adj" fmla="val 7059"/>
            </a:avLst>
          </a:prstGeom>
          <a:solidFill>
            <a:schemeClr val="bg2"/>
          </a:solidFill>
          <a:ln/>
        </p:spPr>
      </p:sp>
      <p:sp>
        <p:nvSpPr>
          <p:cNvPr id="19" name="Shape 17"/>
          <p:cNvSpPr/>
          <p:nvPr/>
        </p:nvSpPr>
        <p:spPr>
          <a:xfrm>
            <a:off x="4892040" y="3200400"/>
            <a:ext cx="685800" cy="685800"/>
          </a:xfrm>
          <a:prstGeom prst="ellipse">
            <a:avLst/>
          </a:prstGeom>
          <a:solidFill>
            <a:schemeClr val="accent1"/>
          </a:solidFill>
          <a:ln/>
        </p:spPr>
      </p:sp>
      <p:sp>
        <p:nvSpPr>
          <p:cNvPr id="20" name="Text 18"/>
          <p:cNvSpPr txBox="1"/>
          <p:nvPr/>
        </p:nvSpPr>
        <p:spPr>
          <a:xfrm>
            <a:off x="4892040" y="320040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TF</a:t>
            </a:r>
            <a:endParaRPr lang="en-US" sz="1400" dirty="0"/>
          </a:p>
        </p:txBody>
      </p:sp>
      <p:sp>
        <p:nvSpPr>
          <p:cNvPr id="21" name="Text 19"/>
          <p:cNvSpPr txBox="1"/>
          <p:nvPr/>
        </p:nvSpPr>
        <p:spPr>
          <a:xfrm>
            <a:off x="5760720" y="3246120"/>
            <a:ext cx="2743200" cy="320040"/>
          </a:xfrm>
          <a:prstGeom prst="rect">
            <a:avLst/>
          </a:prstGeom>
          <a:noFill/>
          <a:ln/>
        </p:spPr>
        <p:txBody>
          <a:bodyPr wrap="square" lIns="0" tIns="0" rIns="0" bIns="0" rtlCol="0" anchor="t"/>
          <a:lstStyle/>
          <a:p>
            <a:pPr indent="0" marL="0">
              <a:buNone/>
            </a:pPr>
            <a:r>
              <a:rPr lang="en-US" sz="1800" b="1" dirty="0">
                <a:solidFill>
                  <a:schemeClr val="tx1"/>
                </a:solidFill>
              </a:rPr>
              <a:t>Transformer</a:t>
            </a:r>
            <a:endParaRPr lang="en-US" sz="1800" dirty="0"/>
          </a:p>
        </p:txBody>
      </p:sp>
      <p:sp>
        <p:nvSpPr>
          <p:cNvPr id="22" name="Text 20"/>
          <p:cNvSpPr txBox="1"/>
          <p:nvPr/>
        </p:nvSpPr>
        <p:spPr>
          <a:xfrm>
            <a:off x="5760720" y="3657600"/>
            <a:ext cx="2743200" cy="777240"/>
          </a:xfrm>
          <a:prstGeom prst="rect">
            <a:avLst/>
          </a:prstGeom>
          <a:noFill/>
          <a:ln/>
        </p:spPr>
        <p:txBody>
          <a:bodyPr wrap="square" lIns="0" tIns="0" rIns="0" bIns="0" rtlCol="0" anchor="t"/>
          <a:lstStyle/>
          <a:p>
            <a:pPr indent="0" marL="0">
              <a:buNone/>
            </a:pPr>
            <a:r>
              <a:rPr lang="en-US" sz="1400" dirty="0">
                <a:solidFill>
                  <a:schemeClr val="tx2"/>
                </a:solidFill>
              </a:rPr>
              <a:t>Uses attention to relate every token to every other. Powers modern LLMs.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3F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Key takeaways</a:t>
            </a:r>
            <a:endParaRPr lang="en-US" sz="3400" dirty="0"/>
          </a:p>
        </p:txBody>
      </p:sp>
      <p:sp>
        <p:nvSpPr>
          <p:cNvPr id="3" name="Shape 1"/>
          <p:cNvSpPr/>
          <p:nvPr/>
        </p:nvSpPr>
        <p:spPr>
          <a:xfrm>
            <a:off x="457200" y="1325880"/>
            <a:ext cx="384048" cy="384048"/>
          </a:xfrm>
          <a:prstGeom prst="ellipse">
            <a:avLst/>
          </a:prstGeom>
          <a:solidFill>
            <a:schemeClr val="accent2"/>
          </a:solidFill>
          <a:ln/>
        </p:spPr>
      </p:sp>
      <p:sp>
        <p:nvSpPr>
          <p:cNvPr id="4" name="Text 2"/>
          <p:cNvSpPr txBox="1"/>
          <p:nvPr/>
        </p:nvSpPr>
        <p:spPr>
          <a:xfrm>
            <a:off x="457200" y="132588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Text 3"/>
          <p:cNvSpPr txBox="1"/>
          <p:nvPr/>
        </p:nvSpPr>
        <p:spPr>
          <a:xfrm>
            <a:off x="1051560" y="1280160"/>
            <a:ext cx="4480560" cy="502920"/>
          </a:xfrm>
          <a:prstGeom prst="rect">
            <a:avLst/>
          </a:prstGeom>
          <a:noFill/>
          <a:ln/>
        </p:spPr>
        <p:txBody>
          <a:bodyPr wrap="square" lIns="0" tIns="0" rIns="0" bIns="0" rtlCol="0" anchor="ctr"/>
          <a:lstStyle/>
          <a:p>
            <a:pPr indent="0" marL="0">
              <a:buNone/>
            </a:pPr>
            <a:r>
              <a:rPr lang="en-US" sz="1600" dirty="0">
                <a:solidFill>
                  <a:schemeClr val="bg1"/>
                </a:solidFill>
              </a:rPr>
              <a:t>A neuron is a weighted sum plus bias, passed through an activation.</a:t>
            </a:r>
            <a:endParaRPr lang="en-US" sz="1600" dirty="0"/>
          </a:p>
        </p:txBody>
      </p:sp>
      <p:sp>
        <p:nvSpPr>
          <p:cNvPr id="6" name="Shape 4"/>
          <p:cNvSpPr/>
          <p:nvPr/>
        </p:nvSpPr>
        <p:spPr>
          <a:xfrm>
            <a:off x="457200" y="1984248"/>
            <a:ext cx="384048" cy="384048"/>
          </a:xfrm>
          <a:prstGeom prst="ellipse">
            <a:avLst/>
          </a:prstGeom>
          <a:solidFill>
            <a:schemeClr val="accent2"/>
          </a:solidFill>
          <a:ln/>
        </p:spPr>
      </p:sp>
      <p:sp>
        <p:nvSpPr>
          <p:cNvPr id="7" name="Text 5"/>
          <p:cNvSpPr txBox="1"/>
          <p:nvPr/>
        </p:nvSpPr>
        <p:spPr>
          <a:xfrm>
            <a:off x="457200" y="198424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8" name="Text 6"/>
          <p:cNvSpPr txBox="1"/>
          <p:nvPr/>
        </p:nvSpPr>
        <p:spPr>
          <a:xfrm>
            <a:off x="1051560" y="1938528"/>
            <a:ext cx="4480560" cy="502920"/>
          </a:xfrm>
          <a:prstGeom prst="rect">
            <a:avLst/>
          </a:prstGeom>
          <a:noFill/>
          <a:ln/>
        </p:spPr>
        <p:txBody>
          <a:bodyPr wrap="square" lIns="0" tIns="0" rIns="0" bIns="0" rtlCol="0" anchor="ctr"/>
          <a:lstStyle/>
          <a:p>
            <a:pPr indent="0" marL="0">
              <a:buNone/>
            </a:pPr>
            <a:r>
              <a:rPr lang="en-US" sz="1600" dirty="0">
                <a:solidFill>
                  <a:schemeClr val="bg1"/>
                </a:solidFill>
              </a:rPr>
              <a:t>Layers of neurons learn increasingly abstract features.</a:t>
            </a:r>
            <a:endParaRPr lang="en-US" sz="1600" dirty="0"/>
          </a:p>
        </p:txBody>
      </p:sp>
      <p:sp>
        <p:nvSpPr>
          <p:cNvPr id="9" name="Shape 7"/>
          <p:cNvSpPr/>
          <p:nvPr/>
        </p:nvSpPr>
        <p:spPr>
          <a:xfrm>
            <a:off x="457200" y="2642616"/>
            <a:ext cx="384048" cy="384048"/>
          </a:xfrm>
          <a:prstGeom prst="ellipse">
            <a:avLst/>
          </a:prstGeom>
          <a:solidFill>
            <a:schemeClr val="accent2"/>
          </a:solidFill>
          <a:ln/>
        </p:spPr>
      </p:sp>
      <p:sp>
        <p:nvSpPr>
          <p:cNvPr id="10" name="Text 8"/>
          <p:cNvSpPr txBox="1"/>
          <p:nvPr/>
        </p:nvSpPr>
        <p:spPr>
          <a:xfrm>
            <a:off x="457200" y="264261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1" name="Text 9"/>
          <p:cNvSpPr txBox="1"/>
          <p:nvPr/>
        </p:nvSpPr>
        <p:spPr>
          <a:xfrm>
            <a:off x="1051560" y="2596896"/>
            <a:ext cx="4480560" cy="502920"/>
          </a:xfrm>
          <a:prstGeom prst="rect">
            <a:avLst/>
          </a:prstGeom>
          <a:noFill/>
          <a:ln/>
        </p:spPr>
        <p:txBody>
          <a:bodyPr wrap="square" lIns="0" tIns="0" rIns="0" bIns="0" rtlCol="0" anchor="ctr"/>
          <a:lstStyle/>
          <a:p>
            <a:pPr indent="0" marL="0">
              <a:buNone/>
            </a:pPr>
            <a:r>
              <a:rPr lang="en-US" sz="1600" dirty="0">
                <a:solidFill>
                  <a:schemeClr val="bg1"/>
                </a:solidFill>
              </a:rPr>
              <a:t>Loss measures error; gradient descent reduces it.</a:t>
            </a:r>
            <a:endParaRPr lang="en-US" sz="1600" dirty="0"/>
          </a:p>
        </p:txBody>
      </p:sp>
      <p:sp>
        <p:nvSpPr>
          <p:cNvPr id="12" name="Shape 10"/>
          <p:cNvSpPr/>
          <p:nvPr/>
        </p:nvSpPr>
        <p:spPr>
          <a:xfrm>
            <a:off x="457200" y="3300984"/>
            <a:ext cx="384048" cy="384048"/>
          </a:xfrm>
          <a:prstGeom prst="ellipse">
            <a:avLst/>
          </a:prstGeom>
          <a:solidFill>
            <a:schemeClr val="accent2"/>
          </a:solidFill>
          <a:ln/>
        </p:spPr>
      </p:sp>
      <p:sp>
        <p:nvSpPr>
          <p:cNvPr id="13" name="Text 11"/>
          <p:cNvSpPr txBox="1"/>
          <p:nvPr/>
        </p:nvSpPr>
        <p:spPr>
          <a:xfrm>
            <a:off x="457200" y="3300984"/>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4" name="Text 12"/>
          <p:cNvSpPr txBox="1"/>
          <p:nvPr/>
        </p:nvSpPr>
        <p:spPr>
          <a:xfrm>
            <a:off x="1051560" y="3255264"/>
            <a:ext cx="4480560" cy="502920"/>
          </a:xfrm>
          <a:prstGeom prst="rect">
            <a:avLst/>
          </a:prstGeom>
          <a:noFill/>
          <a:ln/>
        </p:spPr>
        <p:txBody>
          <a:bodyPr wrap="square" lIns="0" tIns="0" rIns="0" bIns="0" rtlCol="0" anchor="ctr"/>
          <a:lstStyle/>
          <a:p>
            <a:pPr indent="0" marL="0">
              <a:buNone/>
            </a:pPr>
            <a:r>
              <a:rPr lang="en-US" sz="1600" dirty="0">
                <a:solidFill>
                  <a:schemeClr val="bg1"/>
                </a:solidFill>
              </a:rPr>
              <a:t>Backpropagation computes the gradients efficiently.</a:t>
            </a:r>
            <a:endParaRPr lang="en-US" sz="1600" dirty="0"/>
          </a:p>
        </p:txBody>
      </p:sp>
      <p:sp>
        <p:nvSpPr>
          <p:cNvPr id="15" name="Shape 13"/>
          <p:cNvSpPr/>
          <p:nvPr/>
        </p:nvSpPr>
        <p:spPr>
          <a:xfrm>
            <a:off x="457200" y="3959352"/>
            <a:ext cx="384048" cy="384048"/>
          </a:xfrm>
          <a:prstGeom prst="ellipse">
            <a:avLst/>
          </a:prstGeom>
          <a:solidFill>
            <a:schemeClr val="accent2"/>
          </a:solidFill>
          <a:ln/>
        </p:spPr>
      </p:sp>
      <p:sp>
        <p:nvSpPr>
          <p:cNvPr id="16" name="Text 14"/>
          <p:cNvSpPr txBox="1"/>
          <p:nvPr/>
        </p:nvSpPr>
        <p:spPr>
          <a:xfrm>
            <a:off x="457200" y="3959352"/>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7" name="Text 15"/>
          <p:cNvSpPr txBox="1"/>
          <p:nvPr/>
        </p:nvSpPr>
        <p:spPr>
          <a:xfrm>
            <a:off x="1051560" y="3913632"/>
            <a:ext cx="4480560" cy="502920"/>
          </a:xfrm>
          <a:prstGeom prst="rect">
            <a:avLst/>
          </a:prstGeom>
          <a:noFill/>
          <a:ln/>
        </p:spPr>
        <p:txBody>
          <a:bodyPr wrap="square" lIns="0" tIns="0" rIns="0" bIns="0" rtlCol="0" anchor="ctr"/>
          <a:lstStyle/>
          <a:p>
            <a:pPr indent="0" marL="0">
              <a:buNone/>
            </a:pPr>
            <a:r>
              <a:rPr lang="en-US" sz="1600" dirty="0">
                <a:solidFill>
                  <a:schemeClr val="bg1"/>
                </a:solidFill>
              </a:rPr>
              <a:t>Watch validation loss to catch overfitting.</a:t>
            </a:r>
            <a:endParaRPr lang="en-US" sz="1600" dirty="0"/>
          </a:p>
        </p:txBody>
      </p:sp>
      <p:sp>
        <p:nvSpPr>
          <p:cNvPr id="18" name="Resources panel"/>
          <p:cNvSpPr/>
          <p:nvPr/>
        </p:nvSpPr>
        <p:spPr>
          <a:xfrm>
            <a:off x="5760720" y="1280160"/>
            <a:ext cx="2926080" cy="3200400"/>
          </a:xfrm>
          <a:prstGeom prst="roundRect">
            <a:avLst>
              <a:gd name="adj" fmla="val 3750"/>
            </a:avLst>
          </a:prstGeom>
          <a:solidFill>
            <a:schemeClr val="tx2"/>
          </a:solidFill>
          <a:ln/>
        </p:spPr>
      </p:sp>
      <p:sp>
        <p:nvSpPr>
          <p:cNvPr id="19" name="Text 17"/>
          <p:cNvSpPr txBox="1"/>
          <p:nvPr/>
        </p:nvSpPr>
        <p:spPr>
          <a:xfrm>
            <a:off x="5989320" y="1463040"/>
            <a:ext cx="2468880" cy="320040"/>
          </a:xfrm>
          <a:prstGeom prst="rect">
            <a:avLst/>
          </a:prstGeom>
          <a:noFill/>
          <a:ln/>
        </p:spPr>
        <p:txBody>
          <a:bodyPr wrap="square" lIns="0" tIns="0" rIns="0" bIns="0" rtlCol="0" anchor="t"/>
          <a:lstStyle/>
          <a:p>
            <a:pPr indent="0" marL="0">
              <a:buNone/>
            </a:pPr>
            <a:r>
              <a:rPr lang="en-US" sz="1800" b="1" dirty="0">
                <a:solidFill>
                  <a:schemeClr val="accent2"/>
                </a:solidFill>
              </a:rPr>
              <a:t>Try it yourself</a:t>
            </a:r>
            <a:endParaRPr lang="en-US" sz="1800" dirty="0"/>
          </a:p>
        </p:txBody>
      </p:sp>
      <p:sp>
        <p:nvSpPr>
          <p:cNvPr id="20" name="Text 18"/>
          <p:cNvSpPr txBox="1"/>
          <p:nvPr/>
        </p:nvSpPr>
        <p:spPr>
          <a:xfrm>
            <a:off x="5989320" y="1920240"/>
            <a:ext cx="25146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TensorFlow Playground: tweak a tiny network in your browser.</a:t>
            </a:r>
            <a:endParaRPr lang="en-US" sz="1400" dirty="0"/>
          </a:p>
          <a:p>
            <a:pPr marL="342900" indent="-342900">
              <a:spcAft>
                <a:spcPts val="800"/>
              </a:spcAft>
              <a:buSzPct val="100000"/>
              <a:buChar char="•"/>
            </a:pPr>
            <a:r>
              <a:rPr lang="en-US" sz="1400" dirty="0">
                <a:solidFill>
                  <a:schemeClr val="bg1"/>
                </a:solidFill>
              </a:rPr>
              <a:t>3Blue1Brown's neural network video series.</a:t>
            </a:r>
            <a:endParaRPr lang="en-US" sz="1400" dirty="0"/>
          </a:p>
          <a:p>
            <a:pPr marL="342900" indent="-342900">
              <a:spcAft>
                <a:spcPts val="800"/>
              </a:spcAft>
              <a:buSzPct val="100000"/>
              <a:buChar char="•"/>
            </a:pPr>
            <a:r>
              <a:rPr lang="en-US" sz="1400" dirty="0">
                <a:solidFill>
                  <a:schemeClr val="bg1"/>
                </a:solidFill>
              </a:rPr>
              <a:t>Build a small network from scratch in NumPy.</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FC6F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Neural Violet">
  <a:themeElements>
    <a:clrScheme name="Neural Violet">
      <a:dk1>
        <a:srgbClr val="1B1033"/>
      </a:dk1>
      <a:lt1>
        <a:srgbClr val="FFFFFF"/>
      </a:lt1>
      <a:dk2>
        <a:srgbClr val="4A3F73"/>
      </a:dk2>
      <a:lt2>
        <a:srgbClr val="F1EEFF"/>
      </a:lt2>
      <a:accent1>
        <a:srgbClr val="7C5CFF"/>
      </a:accent1>
      <a:accent2>
        <a:srgbClr val="FFB347"/>
      </a:accent2>
      <a:accent3>
        <a:srgbClr val="1FA99B"/>
      </a:accent3>
      <a:accent4>
        <a:srgbClr val="E8537A"/>
      </a:accent4>
      <a:accent5>
        <a:srgbClr val="4F8EF7"/>
      </a:accent5>
      <a:accent6>
        <a:srgbClr val="9A94B8"/>
      </a:accent6>
      <a:hlink>
        <a:srgbClr val="7C5CFF"/>
      </a:hlink>
      <a:folHlink>
        <a:srgbClr val="4A3F73"/>
      </a:folHlink>
    </a:clrScheme>
    <a:fontScheme name="Neural Viol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 Fundamentals</dc:title>
  <dc:subject>PptxGenJS Presentation</dc:subject>
  <dc:creator>PptxGenJS</dc:creator>
  <cp:lastModifiedBy>PptxGenJS</cp:lastModifiedBy>
  <cp:revision>1</cp:revision>
  <dcterms:created xsi:type="dcterms:W3CDTF">2026-10-12T11:17:01Z</dcterms:created>
  <dcterms:modified xsi:type="dcterms:W3CDTF">2026-10-12T11:17:01Z</dcterms:modified>
</cp:coreProperties>
</file>