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tive AI" id="{58336ffe-b741-721d-4a5f-3f41145adf1b}">
          <p14:sldIdLst>
            <p14:sldId id="256"/>
            <p14:sldId id="257"/>
            <p14:sldId id="258"/>
            <p14:sldId id="259"/>
          </p14:sldIdLst>
        </p14:section>
        <p14:section name="GAN building blocks" id="{691497cf-115a-e8ae-6496-7045bb94a2ba}">
          <p14:sldIdLst>
            <p14:sldId id="260"/>
            <p14:sldId id="261"/>
            <p14:sldId id="262"/>
            <p14:sldId id="263"/>
            <p14:sldId id="264"/>
            <p14:sldId id="265"/>
            <p14:sldId id="266"/>
          </p14:sldIdLst>
        </p14:section>
        <p14:section name="Training and practice" id="{04224a62-3d3f-8068-687b-96146426cc1a}">
          <p14:sldIdLst>
            <p14:sldId id="267"/>
            <p14:sldId id="268"/>
            <p14:sldId id="269"/>
            <p14:sldId id="270"/>
          </p14:sldIdLst>
        </p14:section>
        <p14:section name="Examples and wrap-up" id="{a1cb3d56-ae59-683d-621c-49e07a0f5b40}">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B4670"/>
                </a:solidFill>
                <a:latin typeface="+mn-lt"/>
              </a:defRPr>
            </a:pPr>
            <a:r>
              <a:rPr sz="1300" b="0" i="0" u="none" strike="noStrike">
                <a:solidFill>
                  <a:srgbClr val="4B4670"/>
                </a:solidFill>
                <a:latin typeface="+mn-lt"/>
              </a:rPr>
              <a:t>Typical losses (illustrative)</a:t>
            </a:r>
          </a:p>
        </c:rich>
      </c:tx>
      <c:layout/>
      <c:overlay val="0"/>
    </c:title>
    <c:autoTitleDeleted val="0"/>
    <c:plotArea>
      <c:layout/>
      <c:lineChart>
        <c:varyColors val="0"/>
        <c:ser>
          <c:idx val="0"/>
          <c:order val="0"/>
          <c:tx>
            <c:strRef>
              <c:f>Sheet1!$B$1</c:f>
              <c:strCache>
                <c:ptCount val="1"/>
                <c:pt idx="0">
                  <c:v>D loss</c:v>
                </c:pt>
              </c:strCache>
            </c:strRef>
          </c:tx>
          <c:spPr>
            <a:solidFill>
              <a:srgbClr val="1FA99B"/>
            </a:solidFill>
            <a:ln w="38100" cap="flat">
              <a:solidFill>
                <a:srgbClr val="1FA99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A99B"/>
              </a:solidFill>
              <a:ln w="9525" cap="flat">
                <a:solidFill>
                  <a:srgbClr val="1FA99B"/>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1.2</c:v>
                </c:pt>
                <c:pt idx="1">
                  <c:v>0.9</c:v>
                </c:pt>
                <c:pt idx="2">
                  <c:v>0.75</c:v>
                </c:pt>
                <c:pt idx="3">
                  <c:v>0.7</c:v>
                </c:pt>
                <c:pt idx="4">
                  <c:v>0.68</c:v>
                </c:pt>
                <c:pt idx="5">
                  <c:v>0.67</c:v>
                </c:pt>
                <c:pt idx="6">
                  <c:v>0.69</c:v>
                </c:pt>
                <c:pt idx="7">
                  <c:v>0.68</c:v>
                </c:pt>
                <c:pt idx="8">
                  <c:v>0.69</c:v>
                </c:pt>
                <c:pt idx="9">
                  <c:v>0.69</c:v>
                </c:pt>
              </c:numCache>
            </c:numRef>
          </c:val>
          <c:smooth val="0"/>
        </c:ser>
        <c:ser>
          <c:idx val="1"/>
          <c:order val="1"/>
          <c:tx>
            <c:strRef>
              <c:f>Sheet1!$C$1</c:f>
              <c:strCache>
                <c:ptCount val="1"/>
                <c:pt idx="0">
                  <c:v>G loss</c:v>
                </c:pt>
              </c:strCache>
            </c:strRef>
          </c:tx>
          <c:spPr>
            <a:solidFill>
              <a:srgbClr val="FF6B4A"/>
            </a:solidFill>
            <a:ln w="38100" cap="flat">
              <a:solidFill>
                <a:srgbClr val="FF6B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6B4A"/>
              </a:solidFill>
              <a:ln w="9525" cap="flat">
                <a:solidFill>
                  <a:srgbClr val="FF6B4A"/>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0.9</c:v>
                </c:pt>
                <c:pt idx="1">
                  <c:v>1.1</c:v>
                </c:pt>
                <c:pt idx="2">
                  <c:v>1.3</c:v>
                </c:pt>
                <c:pt idx="3">
                  <c:v>1.4</c:v>
                </c:pt>
                <c:pt idx="4">
                  <c:v>1.45</c:v>
                </c:pt>
                <c:pt idx="5">
                  <c:v>1.4</c:v>
                </c:pt>
                <c:pt idx="6">
                  <c:v>1.35</c:v>
                </c:pt>
                <c:pt idx="7">
                  <c:v>1.3</c:v>
                </c:pt>
                <c:pt idx="8">
                  <c:v>1.35</c:v>
                </c:pt>
                <c:pt idx="9">
                  <c:v>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4670"/>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E4E0F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B4670"/>
                </a:solidFill>
                <a:latin typeface="+mn-lt"/>
              </a:defRPr>
            </a:pPr>
            <a:endParaRPr lang="en-US"/>
          </a:p>
        </c:txPr>
        <c:crossAx val="2094734554"/>
        <c:crosses val="autoZero"/>
        <c:crossBetween val="between"/>
        <c:majorUnit val="0.4"/>
      </c:valAx>
      <c:spPr>
        <a:noFill/>
        <a:ln>
          <a:noFill/>
        </a:ln>
        <a:effectLst/>
      </c:spPr>
    </c:plotArea>
    <c:legend>
      <c:legendPos val="b"/>
      <c:overlay val="0"/>
      <c:txPr>
        <a:bodyPr/>
        <a:lstStyle/>
        <a:p>
          <a:pPr>
            <a:defRPr sz="1200">
              <a:solidFill>
                <a:srgbClr val="4B46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what generative AI is, then opens up one family of generative models, the Generative Adversarial Network (GAN): its generator, its discriminator, the maths of their game, examples and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AI mostly analyses or classifies existing data. Generative AI produces new data: text, images, audio, code,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P(y|x) is the probability of a label given the input. P(x) is the probability of the data itself. If you can model P(x), you can draw new samples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are generative: each learns the distribution of its training data and can sample from it. GANs are the focus here because their two-network design is easy to explain block by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analogy: a counterfeiter and a police detective. Every time the detective spots a fake, the forger learns what gave it away. They keep improving until the fakes are indistinguishable.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inputs reach the discriminator: real images from the dataset and fakes from the generator. The discriminator outputs a score between 0 and 1. The dashed path shows the learning signal flowing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z as the forger's random inspiration. The network turns it into a full picture layer by layer. Because it never sees real data directly, everything it knows comes from how the discriminator reacts.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generator wants the discriminator to output 1 (real) for its fakes. The loss is the negative log of D's score on the fake. This is the 'non-saturating' loss used in practice; the original paper's minimax form is on a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discriminator is an ordinary image classifier, like the ones in a CNN course, with two classes. It is the only 'teacher' the generator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binary cross-entropy: label real images 1 and fakes 0. σ is the sigmoid function, 1 / (1 + e^-f). Logs are natural logs. The worked numbers show the same pair of scores being good news for D and bad news for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original objective from Goodfellow et al. (2014). With a perfect discriminator, the generator is effectively minimising the Jensen-Shannon divergence between the real and generated distributions. At the theoretical optimum, p_g equals p_data and D outputs 1/2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networks are trained in alternation. Unlike normal training, the losses do not trend to zero: it is a game, so both stay in tension. Always look at generated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Pseudo-complete PyTorch. D and G are nn.Module objects, bce is nn.BCELoss, ones and zeros are label tensors of the batch size. fake.detach() cuts the graph so the discriminator step does not update the generator. For the generator step we label fakes as 1, which is the non-saturating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defining test of generative AI is: does it model the data distribution and produce new samples? A GAN does, by transforming simple noise into samples that look like the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classic failure modes. FID (Frechet Inception Distance) compares statistics of real and generated images; lower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variant changes one thing: the architecture (DCGAN, StyleGAN), the conditioning (cGAN), the data pairing (Pix2Pix, CycleGAN), or the loss (WGAN).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examples, each as input to output. SRGAN uses a GAN loss so that upscaled images look sharp rather than blurry.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data deserves care: it can reduce privacy risk but is not automatically private. Always validate against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landscape: diffusion models have largely overtaken GANs for general image generation quality and diversity, but GANs generate in a single step, which still matters for speed-sensitive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five ideas. The fastest way to make this stick is to train a small GAN on MNIST and watch the samples improve epoch by epoch.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1371600"/>
            <a:ext cx="493776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548640" y="3108960"/>
            <a:ext cx="4754880" cy="822960"/>
          </a:xfrm>
          <a:prstGeom prst="rect">
            <a:avLst/>
          </a:prstGeom>
          <a:noFill/>
          <a:ln/>
        </p:spPr>
        <p:txBody>
          <a:bodyPr wrap="square" rtlCol="0"/>
          <a:lstStyle>
            <a:lvl1pPr algn="l" indent="0" marL="0">
              <a:buNone/>
              <a:defRPr lang="en-US" sz="2000" dirty="0">
                <a:solidFill>
                  <a:schemeClr val="accent3"/>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rgbClr val="4B4670"/>
                </a:solidFill>
              </a:rPr>
              <a:t>Generative AI &amp; GANs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1"/>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rgbClr val="CFC6F5"/>
                </a:solidFill>
              </a:rPr>
              <a:t>Generative AI &amp; GANs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FC6F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371600"/>
            <a:ext cx="4937760" cy="1554480"/>
          </a:xfrm>
          <a:prstGeom prst="rect">
            <a:avLst/>
          </a:prstGeom>
          <a:noFill/>
          <a:ln/>
        </p:spPr>
        <p:txBody>
          <a:bodyPr wrap="square" lIns="0" tIns="0" rIns="0" bIns="0" rtlCol="0" anchor="b"/>
          <a:lstStyle/>
          <a:p>
            <a:pPr algn="l" indent="0" marL="0">
              <a:buNone/>
            </a:pPr>
            <a:r>
              <a:rPr lang="en-US" sz="4400" b="1" dirty="0">
                <a:solidFill>
                  <a:schemeClr val="bg1"/>
                </a:solidFill>
              </a:rPr>
              <a:t>Generative AI &amp; GANs</a:t>
            </a:r>
            <a:endParaRPr lang="en-US" sz="4400" dirty="0"/>
          </a:p>
        </p:txBody>
      </p:sp>
      <p:sp>
        <p:nvSpPr>
          <p:cNvPr id="3" name="Text 1"/>
          <p:cNvSpPr/>
          <p:nvPr>
            <p:ph idx="102" type="body" hasCustomPrompt="1"/>
          </p:nvPr>
        </p:nvSpPr>
        <p:spPr>
          <a:xfrm>
            <a:off x="548640" y="3108960"/>
            <a:ext cx="4754880" cy="822960"/>
          </a:xfrm>
          <a:prstGeom prst="rect">
            <a:avLst/>
          </a:prstGeom>
          <a:noFill/>
          <a:ln/>
        </p:spPr>
        <p:txBody>
          <a:bodyPr wrap="square" lIns="0" tIns="0" rIns="0" bIns="0" rtlCol="0" anchor="t"/>
          <a:lstStyle/>
          <a:p>
            <a:pPr algn="l" indent="0" marL="0">
              <a:buNone/>
            </a:pPr>
            <a:r>
              <a:rPr lang="en-US" sz="2000" dirty="0">
                <a:solidFill>
                  <a:schemeClr val="accent3"/>
                </a:solidFill>
              </a:rPr>
              <a:t>How two competing networks learn to create</a:t>
            </a:r>
            <a:endParaRPr lang="en-US" sz="2000" dirty="0"/>
          </a:p>
        </p:txBody>
      </p:sp>
      <p:sp>
        <p:nvSpPr>
          <p:cNvPr id="4" name="Shape 2"/>
          <p:cNvSpPr/>
          <p:nvPr/>
        </p:nvSpPr>
        <p:spPr>
          <a:xfrm flipV="1">
            <a:off x="5852160" y="2697480"/>
            <a:ext cx="411480" cy="640080"/>
          </a:xfrm>
          <a:prstGeom prst="line">
            <a:avLst/>
          </a:prstGeom>
          <a:noFill/>
          <a:ln w="25400">
            <a:solidFill>
              <a:srgbClr val="9A94B8"/>
            </a:solidFill>
            <a:prstDash val="solid"/>
            <a:tailEnd type="triangle"/>
          </a:ln>
        </p:spPr>
      </p:sp>
      <p:sp>
        <p:nvSpPr>
          <p:cNvPr id="5" name="Shape 3"/>
          <p:cNvSpPr/>
          <p:nvPr/>
        </p:nvSpPr>
        <p:spPr>
          <a:xfrm>
            <a:off x="6949440" y="2514600"/>
            <a:ext cx="594360" cy="502920"/>
          </a:xfrm>
          <a:prstGeom prst="line">
            <a:avLst/>
          </a:prstGeom>
          <a:noFill/>
          <a:ln w="25400">
            <a:solidFill>
              <a:srgbClr val="9A94B8"/>
            </a:solidFill>
            <a:prstDash val="solid"/>
            <a:tailEnd type="triangle"/>
          </a:ln>
        </p:spPr>
      </p:sp>
      <p:sp>
        <p:nvSpPr>
          <p:cNvPr id="6" name="Shape 4"/>
          <p:cNvSpPr/>
          <p:nvPr/>
        </p:nvSpPr>
        <p:spPr>
          <a:xfrm flipH="1">
            <a:off x="8183880" y="2286000"/>
            <a:ext cx="228600" cy="640080"/>
          </a:xfrm>
          <a:prstGeom prst="line">
            <a:avLst/>
          </a:prstGeom>
          <a:noFill/>
          <a:ln w="25400">
            <a:solidFill>
              <a:srgbClr val="9A94B8"/>
            </a:solidFill>
            <a:prstDash val="solid"/>
            <a:tailEnd type="triangle"/>
          </a:ln>
        </p:spPr>
      </p:sp>
      <p:sp>
        <p:nvSpPr>
          <p:cNvPr id="7" name="Shape 5"/>
          <p:cNvSpPr/>
          <p:nvPr/>
        </p:nvSpPr>
        <p:spPr>
          <a:xfrm>
            <a:off x="5394960" y="3337560"/>
            <a:ext cx="548640" cy="548640"/>
          </a:xfrm>
          <a:prstGeom prst="ellipse">
            <a:avLst/>
          </a:prstGeom>
          <a:solidFill>
            <a:schemeClr val="accent3"/>
          </a:solidFill>
          <a:ln/>
        </p:spPr>
      </p:sp>
      <p:sp>
        <p:nvSpPr>
          <p:cNvPr id="8" name="Text 6"/>
          <p:cNvSpPr txBox="1"/>
          <p:nvPr/>
        </p:nvSpPr>
        <p:spPr>
          <a:xfrm>
            <a:off x="5394960" y="33375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z</a:t>
            </a:r>
            <a:endParaRPr lang="en-US" sz="1800" dirty="0"/>
          </a:p>
        </p:txBody>
      </p:sp>
      <p:sp>
        <p:nvSpPr>
          <p:cNvPr id="9" name="Shape 7"/>
          <p:cNvSpPr/>
          <p:nvPr/>
        </p:nvSpPr>
        <p:spPr>
          <a:xfrm>
            <a:off x="5989320" y="1600200"/>
            <a:ext cx="1005840" cy="1005840"/>
          </a:xfrm>
          <a:prstGeom prst="ellipse">
            <a:avLst/>
          </a:prstGeom>
          <a:solidFill>
            <a:schemeClr val="accent1"/>
          </a:solidFill>
          <a:ln/>
        </p:spPr>
      </p:sp>
      <p:sp>
        <p:nvSpPr>
          <p:cNvPr id="10" name="Text 8"/>
          <p:cNvSpPr txBox="1"/>
          <p:nvPr/>
        </p:nvSpPr>
        <p:spPr>
          <a:xfrm>
            <a:off x="5989320" y="1600200"/>
            <a:ext cx="1005840" cy="1005840"/>
          </a:xfrm>
          <a:prstGeom prst="rect">
            <a:avLst/>
          </a:prstGeom>
          <a:noFill/>
          <a:ln/>
        </p:spPr>
        <p:txBody>
          <a:bodyPr wrap="square" lIns="0" tIns="0" rIns="0" bIns="0" rtlCol="0" anchor="ctr"/>
          <a:lstStyle/>
          <a:p>
            <a:pPr algn="ctr" indent="0" marL="0">
              <a:buNone/>
            </a:pPr>
            <a:r>
              <a:rPr lang="en-US" sz="2800" b="1" dirty="0">
                <a:solidFill>
                  <a:schemeClr val="tx1"/>
                </a:solidFill>
              </a:rPr>
              <a:t>G</a:t>
            </a:r>
            <a:endParaRPr lang="en-US" sz="2800" dirty="0"/>
          </a:p>
        </p:txBody>
      </p:sp>
      <p:sp>
        <p:nvSpPr>
          <p:cNvPr id="11" name="Shape 9"/>
          <p:cNvSpPr/>
          <p:nvPr/>
        </p:nvSpPr>
        <p:spPr>
          <a:xfrm>
            <a:off x="7406640" y="3017520"/>
            <a:ext cx="1005840" cy="1005840"/>
          </a:xfrm>
          <a:prstGeom prst="ellipse">
            <a:avLst/>
          </a:prstGeom>
          <a:solidFill>
            <a:schemeClr val="accent2"/>
          </a:solidFill>
          <a:ln/>
        </p:spPr>
      </p:sp>
      <p:sp>
        <p:nvSpPr>
          <p:cNvPr id="12" name="Text 10"/>
          <p:cNvSpPr txBox="1"/>
          <p:nvPr/>
        </p:nvSpPr>
        <p:spPr>
          <a:xfrm>
            <a:off x="7406640" y="3017520"/>
            <a:ext cx="1005840" cy="1005840"/>
          </a:xfrm>
          <a:prstGeom prst="rect">
            <a:avLst/>
          </a:prstGeom>
          <a:noFill/>
          <a:ln/>
        </p:spPr>
        <p:txBody>
          <a:bodyPr wrap="square" lIns="0" tIns="0" rIns="0" bIns="0" rtlCol="0" anchor="ctr"/>
          <a:lstStyle/>
          <a:p>
            <a:pPr algn="ctr" indent="0" marL="0">
              <a:buNone/>
            </a:pPr>
            <a:r>
              <a:rPr lang="en-US" sz="2800" b="1" dirty="0">
                <a:solidFill>
                  <a:schemeClr val="tx1"/>
                </a:solidFill>
              </a:rPr>
              <a:t>D</a:t>
            </a:r>
            <a:endParaRPr lang="en-US" sz="2800" dirty="0"/>
          </a:p>
        </p:txBody>
      </p:sp>
      <p:sp>
        <p:nvSpPr>
          <p:cNvPr id="13" name="Shape 11"/>
          <p:cNvSpPr/>
          <p:nvPr/>
        </p:nvSpPr>
        <p:spPr>
          <a:xfrm>
            <a:off x="8183880" y="1783080"/>
            <a:ext cx="548640" cy="548640"/>
          </a:xfrm>
          <a:prstGeom prst="ellipse">
            <a:avLst/>
          </a:prstGeom>
          <a:solidFill>
            <a:schemeClr val="accent3"/>
          </a:solidFill>
          <a:ln/>
        </p:spPr>
      </p:sp>
      <p:sp>
        <p:nvSpPr>
          <p:cNvPr id="14" name="Text 12"/>
          <p:cNvSpPr txBox="1"/>
          <p:nvPr/>
        </p:nvSpPr>
        <p:spPr>
          <a:xfrm>
            <a:off x="8183880" y="17830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x</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What is Generative AI?</a:t>
            </a:r>
            <a:endParaRPr lang="en-US" sz="3400" dirty="0"/>
          </a:p>
        </p:txBody>
      </p:sp>
      <p:sp>
        <p:nvSpPr>
          <p:cNvPr id="3" name="Definition panel"/>
          <p:cNvSpPr/>
          <p:nvPr/>
        </p:nvSpPr>
        <p:spPr>
          <a:xfrm>
            <a:off x="457200" y="1280160"/>
            <a:ext cx="3840480" cy="3200400"/>
          </a:xfrm>
          <a:prstGeom prst="roundRect">
            <a:avLst>
              <a:gd name="adj" fmla="val 3429"/>
            </a:avLst>
          </a:prstGeom>
          <a:solidFill>
            <a:schemeClr val="tx1"/>
          </a:solidFill>
          <a:ln/>
        </p:spPr>
      </p:sp>
      <p:sp>
        <p:nvSpPr>
          <p:cNvPr id="4" name="Text 2"/>
          <p:cNvSpPr txBox="1"/>
          <p:nvPr/>
        </p:nvSpPr>
        <p:spPr>
          <a:xfrm>
            <a:off x="731520" y="1554480"/>
            <a:ext cx="3291840" cy="173736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AI that creates new content that resembles the data it learned from.</a:t>
            </a:r>
            <a:endParaRPr lang="en-US" sz="2200" dirty="0"/>
          </a:p>
        </p:txBody>
      </p:sp>
      <p:sp>
        <p:nvSpPr>
          <p:cNvPr id="5" name="Text 3"/>
          <p:cNvSpPr txBox="1"/>
          <p:nvPr/>
        </p:nvSpPr>
        <p:spPr>
          <a:xfrm>
            <a:off x="731520" y="3383280"/>
            <a:ext cx="3291840" cy="914400"/>
          </a:xfrm>
          <a:prstGeom prst="rect">
            <a:avLst/>
          </a:prstGeom>
          <a:noFill/>
          <a:ln/>
        </p:spPr>
        <p:txBody>
          <a:bodyPr wrap="square" lIns="0" tIns="0" rIns="0" bIns="0" rtlCol="0" anchor="t"/>
          <a:lstStyle/>
          <a:p>
            <a:pPr indent="0" marL="0">
              <a:buNone/>
            </a:pPr>
            <a:r>
              <a:rPr lang="en-US" sz="1400" dirty="0">
                <a:solidFill>
                  <a:schemeClr val="accent3"/>
                </a:solidFill>
              </a:rPr>
              <a:t>It learns the pattern of the data, then samples brand-new examples from it.</a:t>
            </a:r>
            <a:endParaRPr lang="en-US" sz="1400" dirty="0"/>
          </a:p>
        </p:txBody>
      </p:sp>
      <p:sp>
        <p:nvSpPr>
          <p:cNvPr id="6" name="Content type 1"/>
          <p:cNvSpPr/>
          <p:nvPr/>
        </p:nvSpPr>
        <p:spPr>
          <a:xfrm>
            <a:off x="4572000" y="1280160"/>
            <a:ext cx="1965960" cy="1508760"/>
          </a:xfrm>
          <a:prstGeom prst="roundRect">
            <a:avLst>
              <a:gd name="adj" fmla="val 7273"/>
            </a:avLst>
          </a:prstGeom>
          <a:solidFill>
            <a:schemeClr val="bg2"/>
          </a:solidFill>
          <a:ln/>
        </p:spPr>
      </p:sp>
      <p:sp>
        <p:nvSpPr>
          <p:cNvPr id="7" name="Text 5"/>
          <p:cNvSpPr txBox="1"/>
          <p:nvPr/>
        </p:nvSpPr>
        <p:spPr>
          <a:xfrm>
            <a:off x="4754880" y="1508760"/>
            <a:ext cx="1645920" cy="274320"/>
          </a:xfrm>
          <a:prstGeom prst="rect">
            <a:avLst/>
          </a:prstGeom>
          <a:noFill/>
          <a:ln/>
        </p:spPr>
        <p:txBody>
          <a:bodyPr wrap="square" lIns="0" tIns="0" rIns="0" bIns="0" rtlCol="0" anchor="t"/>
          <a:lstStyle/>
          <a:p>
            <a:pPr indent="0" marL="0">
              <a:buNone/>
            </a:pPr>
            <a:r>
              <a:rPr lang="en-US" sz="1800" b="1" dirty="0">
                <a:solidFill>
                  <a:schemeClr val="tx1"/>
                </a:solidFill>
              </a:rPr>
              <a:t>Text</a:t>
            </a:r>
            <a:endParaRPr lang="en-US" sz="1800" dirty="0"/>
          </a:p>
        </p:txBody>
      </p:sp>
      <p:sp>
        <p:nvSpPr>
          <p:cNvPr id="8" name="Text 6"/>
          <p:cNvSpPr txBox="1"/>
          <p:nvPr/>
        </p:nvSpPr>
        <p:spPr>
          <a:xfrm>
            <a:off x="4754880" y="1965960"/>
            <a:ext cx="1645920" cy="640080"/>
          </a:xfrm>
          <a:prstGeom prst="rect">
            <a:avLst/>
          </a:prstGeom>
          <a:noFill/>
          <a:ln/>
        </p:spPr>
        <p:txBody>
          <a:bodyPr wrap="square" lIns="0" tIns="0" rIns="0" bIns="0" rtlCol="0" anchor="t"/>
          <a:lstStyle/>
          <a:p>
            <a:pPr indent="0" marL="0">
              <a:buNone/>
            </a:pPr>
            <a:r>
              <a:rPr lang="en-US" sz="1400" dirty="0">
                <a:solidFill>
                  <a:schemeClr val="tx2"/>
                </a:solidFill>
              </a:rPr>
              <a:t>chatbots, summaries</a:t>
            </a:r>
            <a:endParaRPr lang="en-US" sz="1400" dirty="0"/>
          </a:p>
        </p:txBody>
      </p:sp>
      <p:sp>
        <p:nvSpPr>
          <p:cNvPr id="9" name="Content type 2"/>
          <p:cNvSpPr/>
          <p:nvPr/>
        </p:nvSpPr>
        <p:spPr>
          <a:xfrm>
            <a:off x="6720840" y="1280160"/>
            <a:ext cx="1965960" cy="1508760"/>
          </a:xfrm>
          <a:prstGeom prst="roundRect">
            <a:avLst>
              <a:gd name="adj" fmla="val 7273"/>
            </a:avLst>
          </a:prstGeom>
          <a:solidFill>
            <a:schemeClr val="bg2"/>
          </a:solidFill>
          <a:ln/>
        </p:spPr>
      </p:sp>
      <p:sp>
        <p:nvSpPr>
          <p:cNvPr id="10" name="Text 8"/>
          <p:cNvSpPr txBox="1"/>
          <p:nvPr/>
        </p:nvSpPr>
        <p:spPr>
          <a:xfrm>
            <a:off x="6903720" y="1508760"/>
            <a:ext cx="1645920" cy="274320"/>
          </a:xfrm>
          <a:prstGeom prst="rect">
            <a:avLst/>
          </a:prstGeom>
          <a:noFill/>
          <a:ln/>
        </p:spPr>
        <p:txBody>
          <a:bodyPr wrap="square" lIns="0" tIns="0" rIns="0" bIns="0" rtlCol="0" anchor="t"/>
          <a:lstStyle/>
          <a:p>
            <a:pPr indent="0" marL="0">
              <a:buNone/>
            </a:pPr>
            <a:r>
              <a:rPr lang="en-US" sz="1800" b="1" dirty="0">
                <a:solidFill>
                  <a:schemeClr val="tx1"/>
                </a:solidFill>
              </a:rPr>
              <a:t>Images</a:t>
            </a:r>
            <a:endParaRPr lang="en-US" sz="1800" dirty="0"/>
          </a:p>
        </p:txBody>
      </p:sp>
      <p:sp>
        <p:nvSpPr>
          <p:cNvPr id="11" name="Text 9"/>
          <p:cNvSpPr txBox="1"/>
          <p:nvPr/>
        </p:nvSpPr>
        <p:spPr>
          <a:xfrm>
            <a:off x="6903720" y="1965960"/>
            <a:ext cx="1645920" cy="640080"/>
          </a:xfrm>
          <a:prstGeom prst="rect">
            <a:avLst/>
          </a:prstGeom>
          <a:noFill/>
          <a:ln/>
        </p:spPr>
        <p:txBody>
          <a:bodyPr wrap="square" lIns="0" tIns="0" rIns="0" bIns="0" rtlCol="0" anchor="t"/>
          <a:lstStyle/>
          <a:p>
            <a:pPr indent="0" marL="0">
              <a:buNone/>
            </a:pPr>
            <a:r>
              <a:rPr lang="en-US" sz="1400" dirty="0">
                <a:solidFill>
                  <a:schemeClr val="tx2"/>
                </a:solidFill>
              </a:rPr>
              <a:t>art, design, photos</a:t>
            </a:r>
            <a:endParaRPr lang="en-US" sz="1400" dirty="0"/>
          </a:p>
        </p:txBody>
      </p:sp>
      <p:sp>
        <p:nvSpPr>
          <p:cNvPr id="12" name="Content type 3"/>
          <p:cNvSpPr/>
          <p:nvPr/>
        </p:nvSpPr>
        <p:spPr>
          <a:xfrm>
            <a:off x="4572000" y="2926080"/>
            <a:ext cx="1965960" cy="1508760"/>
          </a:xfrm>
          <a:prstGeom prst="roundRect">
            <a:avLst>
              <a:gd name="adj" fmla="val 7273"/>
            </a:avLst>
          </a:prstGeom>
          <a:solidFill>
            <a:schemeClr val="bg2"/>
          </a:solidFill>
          <a:ln/>
        </p:spPr>
      </p:sp>
      <p:sp>
        <p:nvSpPr>
          <p:cNvPr id="13" name="Text 11"/>
          <p:cNvSpPr txBox="1"/>
          <p:nvPr/>
        </p:nvSpPr>
        <p:spPr>
          <a:xfrm>
            <a:off x="4754880" y="3154680"/>
            <a:ext cx="1645920" cy="274320"/>
          </a:xfrm>
          <a:prstGeom prst="rect">
            <a:avLst/>
          </a:prstGeom>
          <a:noFill/>
          <a:ln/>
        </p:spPr>
        <p:txBody>
          <a:bodyPr wrap="square" lIns="0" tIns="0" rIns="0" bIns="0" rtlCol="0" anchor="t"/>
          <a:lstStyle/>
          <a:p>
            <a:pPr indent="0" marL="0">
              <a:buNone/>
            </a:pPr>
            <a:r>
              <a:rPr lang="en-US" sz="1800" b="1" dirty="0">
                <a:solidFill>
                  <a:schemeClr val="tx1"/>
                </a:solidFill>
              </a:rPr>
              <a:t>Audio</a:t>
            </a:r>
            <a:endParaRPr lang="en-US" sz="1800" dirty="0"/>
          </a:p>
        </p:txBody>
      </p:sp>
      <p:sp>
        <p:nvSpPr>
          <p:cNvPr id="14" name="Text 12"/>
          <p:cNvSpPr txBox="1"/>
          <p:nvPr/>
        </p:nvSpPr>
        <p:spPr>
          <a:xfrm>
            <a:off x="4754880" y="3611880"/>
            <a:ext cx="1645920" cy="640080"/>
          </a:xfrm>
          <a:prstGeom prst="rect">
            <a:avLst/>
          </a:prstGeom>
          <a:noFill/>
          <a:ln/>
        </p:spPr>
        <p:txBody>
          <a:bodyPr wrap="square" lIns="0" tIns="0" rIns="0" bIns="0" rtlCol="0" anchor="t"/>
          <a:lstStyle/>
          <a:p>
            <a:pPr indent="0" marL="0">
              <a:buNone/>
            </a:pPr>
            <a:r>
              <a:rPr lang="en-US" sz="1400" dirty="0">
                <a:solidFill>
                  <a:schemeClr val="tx2"/>
                </a:solidFill>
              </a:rPr>
              <a:t>voice and music</a:t>
            </a:r>
            <a:endParaRPr lang="en-US" sz="1400" dirty="0"/>
          </a:p>
        </p:txBody>
      </p:sp>
      <p:sp>
        <p:nvSpPr>
          <p:cNvPr id="15" name="Content type 4"/>
          <p:cNvSpPr/>
          <p:nvPr/>
        </p:nvSpPr>
        <p:spPr>
          <a:xfrm>
            <a:off x="6720840" y="2926080"/>
            <a:ext cx="1965960" cy="1508760"/>
          </a:xfrm>
          <a:prstGeom prst="roundRect">
            <a:avLst>
              <a:gd name="adj" fmla="val 7273"/>
            </a:avLst>
          </a:prstGeom>
          <a:solidFill>
            <a:schemeClr val="bg2"/>
          </a:solidFill>
          <a:ln/>
        </p:spPr>
      </p:sp>
      <p:sp>
        <p:nvSpPr>
          <p:cNvPr id="16" name="Text 14"/>
          <p:cNvSpPr txBox="1"/>
          <p:nvPr/>
        </p:nvSpPr>
        <p:spPr>
          <a:xfrm>
            <a:off x="6903720" y="3154680"/>
            <a:ext cx="1645920" cy="274320"/>
          </a:xfrm>
          <a:prstGeom prst="rect">
            <a:avLst/>
          </a:prstGeom>
          <a:noFill/>
          <a:ln/>
        </p:spPr>
        <p:txBody>
          <a:bodyPr wrap="square" lIns="0" tIns="0" rIns="0" bIns="0" rtlCol="0" anchor="t"/>
          <a:lstStyle/>
          <a:p>
            <a:pPr indent="0" marL="0">
              <a:buNone/>
            </a:pPr>
            <a:r>
              <a:rPr lang="en-US" sz="1800" b="1" dirty="0">
                <a:solidFill>
                  <a:schemeClr val="tx1"/>
                </a:solidFill>
              </a:rPr>
              <a:t>Code &amp; video</a:t>
            </a:r>
            <a:endParaRPr lang="en-US" sz="1800" dirty="0"/>
          </a:p>
        </p:txBody>
      </p:sp>
      <p:sp>
        <p:nvSpPr>
          <p:cNvPr id="17" name="Text 15"/>
          <p:cNvSpPr txBox="1"/>
          <p:nvPr/>
        </p:nvSpPr>
        <p:spPr>
          <a:xfrm>
            <a:off x="6903720" y="3611880"/>
            <a:ext cx="1645920" cy="640080"/>
          </a:xfrm>
          <a:prstGeom prst="rect">
            <a:avLst/>
          </a:prstGeom>
          <a:noFill/>
          <a:ln/>
        </p:spPr>
        <p:txBody>
          <a:bodyPr wrap="square" lIns="0" tIns="0" rIns="0" bIns="0" rtlCol="0" anchor="t"/>
          <a:lstStyle/>
          <a:p>
            <a:pPr indent="0" marL="0">
              <a:buNone/>
            </a:pPr>
            <a:r>
              <a:rPr lang="en-US" sz="1400" dirty="0">
                <a:solidFill>
                  <a:schemeClr val="tx2"/>
                </a:solidFill>
              </a:rPr>
              <a:t>copilots, short clips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Discriminative vs generative</a:t>
            </a:r>
            <a:endParaRPr lang="en-US" sz="3400" dirty="0"/>
          </a:p>
        </p:txBody>
      </p:sp>
      <p:sp>
        <p:nvSpPr>
          <p:cNvPr id="3" name="Model type card 1"/>
          <p:cNvSpPr/>
          <p:nvPr/>
        </p:nvSpPr>
        <p:spPr>
          <a:xfrm>
            <a:off x="457200" y="1234440"/>
            <a:ext cx="4023360" cy="2468880"/>
          </a:xfrm>
          <a:prstGeom prst="roundRect">
            <a:avLst>
              <a:gd name="adj" fmla="val 4444"/>
            </a:avLst>
          </a:prstGeom>
          <a:solidFill>
            <a:schemeClr val="bg2"/>
          </a:solidFill>
          <a:ln/>
        </p:spPr>
      </p:sp>
      <p:sp>
        <p:nvSpPr>
          <p:cNvPr id="4" name="Shape 2"/>
          <p:cNvSpPr/>
          <p:nvPr/>
        </p:nvSpPr>
        <p:spPr>
          <a:xfrm>
            <a:off x="685800" y="1417320"/>
            <a:ext cx="1097280" cy="292608"/>
          </a:xfrm>
          <a:prstGeom prst="roundRect">
            <a:avLst>
              <a:gd name="adj" fmla="val 50000"/>
            </a:avLst>
          </a:prstGeom>
          <a:solidFill>
            <a:schemeClr val="accent4"/>
          </a:solidFill>
          <a:ln/>
        </p:spPr>
      </p:sp>
      <p:sp>
        <p:nvSpPr>
          <p:cNvPr id="5" name="Text 3"/>
          <p:cNvSpPr txBox="1"/>
          <p:nvPr/>
        </p:nvSpPr>
        <p:spPr>
          <a:xfrm>
            <a:off x="685800" y="1417320"/>
            <a:ext cx="1097280" cy="292608"/>
          </a:xfrm>
          <a:prstGeom prst="rect">
            <a:avLst/>
          </a:prstGeom>
          <a:noFill/>
          <a:ln/>
        </p:spPr>
        <p:txBody>
          <a:bodyPr wrap="square" lIns="0" tIns="0" rIns="0" bIns="0" rtlCol="0" anchor="ctr"/>
          <a:lstStyle/>
          <a:p>
            <a:pPr algn="ctr" indent="0" marL="0">
              <a:buNone/>
            </a:pPr>
            <a:r>
              <a:rPr lang="en-US" sz="1200" b="1" dirty="0">
                <a:solidFill>
                  <a:schemeClr val="bg1"/>
                </a:solidFill>
              </a:rPr>
              <a:t>Predicts</a:t>
            </a:r>
            <a:endParaRPr lang="en-US" sz="1200" dirty="0"/>
          </a:p>
        </p:txBody>
      </p:sp>
      <p:sp>
        <p:nvSpPr>
          <p:cNvPr id="6" name="Text 4"/>
          <p:cNvSpPr txBox="1"/>
          <p:nvPr/>
        </p:nvSpPr>
        <p:spPr>
          <a:xfrm>
            <a:off x="685800" y="1828800"/>
            <a:ext cx="356616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Discriminative</a:t>
            </a:r>
            <a:endParaRPr lang="en-US" sz="2200" dirty="0"/>
          </a:p>
        </p:txBody>
      </p:sp>
      <p:sp>
        <p:nvSpPr>
          <p:cNvPr id="7" name="Text 5"/>
          <p:cNvSpPr txBox="1"/>
          <p:nvPr/>
        </p:nvSpPr>
        <p:spPr>
          <a:xfrm>
            <a:off x="685800" y="2286000"/>
            <a:ext cx="3566160" cy="274320"/>
          </a:xfrm>
          <a:prstGeom prst="rect">
            <a:avLst/>
          </a:prstGeom>
          <a:noFill/>
          <a:ln/>
        </p:spPr>
        <p:txBody>
          <a:bodyPr wrap="square" lIns="0" tIns="0" rIns="0" bIns="0" rtlCol="0" anchor="t"/>
          <a:lstStyle/>
          <a:p>
            <a:pPr indent="0" marL="0">
              <a:buNone/>
            </a:pPr>
            <a:r>
              <a:rPr lang="en-US" sz="1600" i="1" dirty="0">
                <a:solidFill>
                  <a:schemeClr val="tx2"/>
                </a:solidFill>
              </a:rPr>
              <a:t>Is this a cat or a dog?</a:t>
            </a:r>
            <a:endParaRPr lang="en-US" sz="1600" dirty="0"/>
          </a:p>
        </p:txBody>
      </p:sp>
      <p:sp>
        <p:nvSpPr>
          <p:cNvPr id="8" name="Text 6"/>
          <p:cNvSpPr txBox="1"/>
          <p:nvPr/>
        </p:nvSpPr>
        <p:spPr>
          <a:xfrm>
            <a:off x="685800" y="2651760"/>
            <a:ext cx="3566160" cy="411480"/>
          </a:xfrm>
          <a:prstGeom prst="rect">
            <a:avLst/>
          </a:prstGeom>
          <a:noFill/>
          <a:ln/>
        </p:spPr>
        <p:txBody>
          <a:bodyPr wrap="square" lIns="0" tIns="0" rIns="0" bIns="0" rtlCol="0" anchor="t"/>
          <a:lstStyle/>
          <a:p>
            <a:pPr indent="0" marL="0">
              <a:buNone/>
            </a:pPr>
            <a:r>
              <a:rPr lang="en-US" sz="2400" b="1" dirty="0">
                <a:solidFill>
                  <a:schemeClr val="accent4"/>
                </a:solidFill>
                <a:latin typeface="+mj-lt" pitchFamily="34" charset="0"/>
                <a:ea typeface="+mj-lt" pitchFamily="34" charset="-122"/>
                <a:cs typeface="+mj-lt" pitchFamily="34" charset="-120"/>
              </a:rPr>
              <a:t>Learns P(y | x)</a:t>
            </a:r>
            <a:endParaRPr lang="en-US" sz="2400" dirty="0"/>
          </a:p>
        </p:txBody>
      </p:sp>
      <p:sp>
        <p:nvSpPr>
          <p:cNvPr id="9" name="Text 7"/>
          <p:cNvSpPr txBox="1"/>
          <p:nvPr/>
        </p:nvSpPr>
        <p:spPr>
          <a:xfrm>
            <a:off x="685800" y="3200400"/>
            <a:ext cx="3566160" cy="320040"/>
          </a:xfrm>
          <a:prstGeom prst="rect">
            <a:avLst/>
          </a:prstGeom>
          <a:noFill/>
          <a:ln/>
        </p:spPr>
        <p:txBody>
          <a:bodyPr wrap="square" lIns="0" tIns="0" rIns="0" bIns="0" rtlCol="0" anchor="t"/>
          <a:lstStyle/>
          <a:p>
            <a:pPr indent="0" marL="0">
              <a:buNone/>
            </a:pPr>
            <a:r>
              <a:rPr lang="en-US" sz="1400" dirty="0">
                <a:solidFill>
                  <a:schemeClr val="tx2"/>
                </a:solidFill>
              </a:rPr>
              <a:t>Output: a label or a score</a:t>
            </a:r>
            <a:endParaRPr lang="en-US" sz="1400" dirty="0"/>
          </a:p>
        </p:txBody>
      </p:sp>
      <p:sp>
        <p:nvSpPr>
          <p:cNvPr id="10" name="Model type card 2"/>
          <p:cNvSpPr/>
          <p:nvPr/>
        </p:nvSpPr>
        <p:spPr>
          <a:xfrm>
            <a:off x="4663440" y="1234440"/>
            <a:ext cx="4023360" cy="2468880"/>
          </a:xfrm>
          <a:prstGeom prst="roundRect">
            <a:avLst>
              <a:gd name="adj" fmla="val 4444"/>
            </a:avLst>
          </a:prstGeom>
          <a:solidFill>
            <a:schemeClr val="bg2"/>
          </a:solidFill>
          <a:ln/>
        </p:spPr>
      </p:sp>
      <p:sp>
        <p:nvSpPr>
          <p:cNvPr id="11" name="Shape 9"/>
          <p:cNvSpPr/>
          <p:nvPr/>
        </p:nvSpPr>
        <p:spPr>
          <a:xfrm>
            <a:off x="4892040" y="1417320"/>
            <a:ext cx="1097280" cy="292608"/>
          </a:xfrm>
          <a:prstGeom prst="roundRect">
            <a:avLst>
              <a:gd name="adj" fmla="val 50000"/>
            </a:avLst>
          </a:prstGeom>
          <a:solidFill>
            <a:schemeClr val="accent1"/>
          </a:solidFill>
          <a:ln/>
        </p:spPr>
      </p:sp>
      <p:sp>
        <p:nvSpPr>
          <p:cNvPr id="12" name="Text 10"/>
          <p:cNvSpPr txBox="1"/>
          <p:nvPr/>
        </p:nvSpPr>
        <p:spPr>
          <a:xfrm>
            <a:off x="4892040" y="1417320"/>
            <a:ext cx="1097280" cy="292608"/>
          </a:xfrm>
          <a:prstGeom prst="rect">
            <a:avLst/>
          </a:prstGeom>
          <a:noFill/>
          <a:ln/>
        </p:spPr>
        <p:txBody>
          <a:bodyPr wrap="square" lIns="0" tIns="0" rIns="0" bIns="0" rtlCol="0" anchor="ctr"/>
          <a:lstStyle/>
          <a:p>
            <a:pPr algn="ctr" indent="0" marL="0">
              <a:buNone/>
            </a:pPr>
            <a:r>
              <a:rPr lang="en-US" sz="1200" b="1" dirty="0">
                <a:solidFill>
                  <a:schemeClr val="tx1"/>
                </a:solidFill>
              </a:rPr>
              <a:t>Creates</a:t>
            </a:r>
            <a:endParaRPr lang="en-US" sz="1200" dirty="0"/>
          </a:p>
        </p:txBody>
      </p:sp>
      <p:sp>
        <p:nvSpPr>
          <p:cNvPr id="13" name="Text 11"/>
          <p:cNvSpPr txBox="1"/>
          <p:nvPr/>
        </p:nvSpPr>
        <p:spPr>
          <a:xfrm>
            <a:off x="4892040" y="1828800"/>
            <a:ext cx="356616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Generative</a:t>
            </a:r>
            <a:endParaRPr lang="en-US" sz="2200" dirty="0"/>
          </a:p>
        </p:txBody>
      </p:sp>
      <p:sp>
        <p:nvSpPr>
          <p:cNvPr id="14" name="Text 12"/>
          <p:cNvSpPr txBox="1"/>
          <p:nvPr/>
        </p:nvSpPr>
        <p:spPr>
          <a:xfrm>
            <a:off x="4892040" y="2286000"/>
            <a:ext cx="3566160" cy="274320"/>
          </a:xfrm>
          <a:prstGeom prst="rect">
            <a:avLst/>
          </a:prstGeom>
          <a:noFill/>
          <a:ln/>
        </p:spPr>
        <p:txBody>
          <a:bodyPr wrap="square" lIns="0" tIns="0" rIns="0" bIns="0" rtlCol="0" anchor="t"/>
          <a:lstStyle/>
          <a:p>
            <a:pPr indent="0" marL="0">
              <a:buNone/>
            </a:pPr>
            <a:r>
              <a:rPr lang="en-US" sz="1600" i="1" dirty="0">
                <a:solidFill>
                  <a:schemeClr val="tx2"/>
                </a:solidFill>
              </a:rPr>
              <a:t>Draw me a new cat.</a:t>
            </a:r>
            <a:endParaRPr lang="en-US" sz="1600" dirty="0"/>
          </a:p>
        </p:txBody>
      </p:sp>
      <p:sp>
        <p:nvSpPr>
          <p:cNvPr id="15" name="Text 13"/>
          <p:cNvSpPr txBox="1"/>
          <p:nvPr/>
        </p:nvSpPr>
        <p:spPr>
          <a:xfrm>
            <a:off x="4892040" y="2651760"/>
            <a:ext cx="3566160" cy="411480"/>
          </a:xfrm>
          <a:prstGeom prst="rect">
            <a:avLst/>
          </a:prstGeom>
          <a:noFill/>
          <a:ln/>
        </p:spPr>
        <p:txBody>
          <a:bodyPr wrap="square" lIns="0" tIns="0" rIns="0" bIns="0" rtlCol="0" anchor="t"/>
          <a:lstStyle/>
          <a:p>
            <a:pPr indent="0" marL="0">
              <a:buNone/>
            </a:pPr>
            <a:r>
              <a:rPr lang="en-US" sz="2400" b="1" dirty="0">
                <a:solidFill>
                  <a:schemeClr val="accent4"/>
                </a:solidFill>
                <a:latin typeface="+mj-lt" pitchFamily="34" charset="0"/>
                <a:ea typeface="+mj-lt" pitchFamily="34" charset="-122"/>
                <a:cs typeface="+mj-lt" pitchFamily="34" charset="-120"/>
              </a:rPr>
              <a:t>Learns P(x)</a:t>
            </a:r>
            <a:endParaRPr lang="en-US" sz="2400" dirty="0"/>
          </a:p>
        </p:txBody>
      </p:sp>
      <p:sp>
        <p:nvSpPr>
          <p:cNvPr id="16" name="Text 14"/>
          <p:cNvSpPr txBox="1"/>
          <p:nvPr/>
        </p:nvSpPr>
        <p:spPr>
          <a:xfrm>
            <a:off x="4892040" y="3200400"/>
            <a:ext cx="3566160" cy="320040"/>
          </a:xfrm>
          <a:prstGeom prst="rect">
            <a:avLst/>
          </a:prstGeom>
          <a:noFill/>
          <a:ln/>
        </p:spPr>
        <p:txBody>
          <a:bodyPr wrap="square" lIns="0" tIns="0" rIns="0" bIns="0" rtlCol="0" anchor="t"/>
          <a:lstStyle/>
          <a:p>
            <a:pPr indent="0" marL="0">
              <a:buNone/>
            </a:pPr>
            <a:r>
              <a:rPr lang="en-US" sz="1400" dirty="0">
                <a:solidFill>
                  <a:schemeClr val="tx2"/>
                </a:solidFill>
              </a:rPr>
              <a:t>Output: new data samples</a:t>
            </a:r>
            <a:endParaRPr lang="en-US" sz="1400" dirty="0"/>
          </a:p>
        </p:txBody>
      </p:sp>
      <p:sp>
        <p:nvSpPr>
          <p:cNvPr id="17" name="Summary banner"/>
          <p:cNvSpPr/>
          <p:nvPr/>
        </p:nvSpPr>
        <p:spPr>
          <a:xfrm>
            <a:off x="457200" y="3886200"/>
            <a:ext cx="8229600" cy="640080"/>
          </a:xfrm>
          <a:prstGeom prst="roundRect">
            <a:avLst>
              <a:gd name="adj" fmla="val 17143"/>
            </a:avLst>
          </a:prstGeom>
          <a:solidFill>
            <a:schemeClr val="tx1"/>
          </a:solidFill>
          <a:ln/>
        </p:spPr>
      </p:sp>
      <p:sp>
        <p:nvSpPr>
          <p:cNvPr id="18" name="Text 16"/>
          <p:cNvSpPr txBox="1"/>
          <p:nvPr/>
        </p:nvSpPr>
        <p:spPr>
          <a:xfrm>
            <a:off x="457200" y="3886200"/>
            <a:ext cx="8229600" cy="640080"/>
          </a:xfrm>
          <a:prstGeom prst="rect">
            <a:avLst/>
          </a:prstGeom>
          <a:noFill/>
          <a:ln/>
        </p:spPr>
        <p:txBody>
          <a:bodyPr wrap="square" lIns="0" tIns="0" rIns="0" bIns="0" rtlCol="0" anchor="ctr"/>
          <a:lstStyle/>
          <a:p>
            <a:pPr algn="ctr" indent="0" marL="0">
              <a:buNone/>
            </a:pPr>
            <a:r>
              <a:rPr lang="en-US" sz="1800" b="1" dirty="0">
                <a:solidFill>
                  <a:schemeClr val="bg1"/>
                </a:solidFill>
              </a:rPr>
              <a:t>Generative = learn how the data is distributed, then sample from it.</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Families of generative models</a:t>
            </a:r>
            <a:endParaRPr lang="en-US" sz="3400" dirty="0"/>
          </a:p>
        </p:txBody>
      </p:sp>
      <p:sp>
        <p:nvSpPr>
          <p:cNvPr id="3" name="Family card 1"/>
          <p:cNvSpPr/>
          <p:nvPr/>
        </p:nvSpPr>
        <p:spPr>
          <a:xfrm>
            <a:off x="457200" y="1280160"/>
            <a:ext cx="4023360" cy="1554480"/>
          </a:xfrm>
          <a:prstGeom prst="roundRect">
            <a:avLst>
              <a:gd name="adj" fmla="val 7059"/>
            </a:avLst>
          </a:prstGeom>
          <a:solidFill>
            <a:schemeClr val="bg2"/>
          </a:solidFill>
          <a:ln/>
        </p:spPr>
      </p:sp>
      <p:sp>
        <p:nvSpPr>
          <p:cNvPr id="4" name="Shape 2"/>
          <p:cNvSpPr/>
          <p:nvPr/>
        </p:nvSpPr>
        <p:spPr>
          <a:xfrm>
            <a:off x="685800" y="1508760"/>
            <a:ext cx="685800" cy="685800"/>
          </a:xfrm>
          <a:prstGeom prst="ellipse">
            <a:avLst/>
          </a:prstGeom>
          <a:solidFill>
            <a:schemeClr val="accent4"/>
          </a:solidFill>
          <a:ln/>
        </p:spPr>
      </p:sp>
      <p:sp>
        <p:nvSpPr>
          <p:cNvPr id="5" name="Text 3"/>
          <p:cNvSpPr txBox="1"/>
          <p:nvPr/>
        </p:nvSpPr>
        <p:spPr>
          <a:xfrm>
            <a:off x="685800" y="150876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VAE</a:t>
            </a:r>
            <a:endParaRPr lang="en-US" sz="1400" dirty="0"/>
          </a:p>
        </p:txBody>
      </p:sp>
      <p:sp>
        <p:nvSpPr>
          <p:cNvPr id="6" name="Text 4"/>
          <p:cNvSpPr txBox="1"/>
          <p:nvPr/>
        </p:nvSpPr>
        <p:spPr>
          <a:xfrm>
            <a:off x="1554480" y="1554480"/>
            <a:ext cx="2743200" cy="320040"/>
          </a:xfrm>
          <a:prstGeom prst="rect">
            <a:avLst/>
          </a:prstGeom>
          <a:noFill/>
          <a:ln/>
        </p:spPr>
        <p:txBody>
          <a:bodyPr wrap="square" lIns="0" tIns="0" rIns="0" bIns="0" rtlCol="0" anchor="t"/>
          <a:lstStyle/>
          <a:p>
            <a:pPr indent="0" marL="0">
              <a:buNone/>
            </a:pPr>
            <a:r>
              <a:rPr lang="en-US" sz="1800" b="1" dirty="0">
                <a:solidFill>
                  <a:schemeClr val="tx1"/>
                </a:solidFill>
              </a:rPr>
              <a:t>Variational autoencoder</a:t>
            </a:r>
            <a:endParaRPr lang="en-US" sz="1800" dirty="0"/>
          </a:p>
        </p:txBody>
      </p:sp>
      <p:sp>
        <p:nvSpPr>
          <p:cNvPr id="7" name="Text 5"/>
          <p:cNvSpPr txBox="1"/>
          <p:nvPr/>
        </p:nvSpPr>
        <p:spPr>
          <a:xfrm>
            <a:off x="1554480" y="1965960"/>
            <a:ext cx="2743200" cy="777240"/>
          </a:xfrm>
          <a:prstGeom prst="rect">
            <a:avLst/>
          </a:prstGeom>
          <a:noFill/>
          <a:ln/>
        </p:spPr>
        <p:txBody>
          <a:bodyPr wrap="square" lIns="0" tIns="0" rIns="0" bIns="0" rtlCol="0" anchor="t"/>
          <a:lstStyle/>
          <a:p>
            <a:pPr indent="0" marL="0">
              <a:buNone/>
            </a:pPr>
            <a:r>
              <a:rPr lang="en-US" sz="1400" dirty="0">
                <a:solidFill>
                  <a:schemeClr val="tx2"/>
                </a:solidFill>
              </a:rPr>
              <a:t>Compresses data into a latent space, then decodes new samples from it.</a:t>
            </a:r>
            <a:endParaRPr lang="en-US" sz="1400" dirty="0"/>
          </a:p>
        </p:txBody>
      </p:sp>
      <p:sp>
        <p:nvSpPr>
          <p:cNvPr id="8" name="Family card 2"/>
          <p:cNvSpPr/>
          <p:nvPr/>
        </p:nvSpPr>
        <p:spPr>
          <a:xfrm>
            <a:off x="4663440" y="1280160"/>
            <a:ext cx="4023360" cy="1554480"/>
          </a:xfrm>
          <a:prstGeom prst="roundRect">
            <a:avLst>
              <a:gd name="adj" fmla="val 7059"/>
            </a:avLst>
          </a:prstGeom>
          <a:solidFill>
            <a:schemeClr val="bg2"/>
          </a:solidFill>
          <a:ln w="31750">
            <a:solidFill>
              <a:schemeClr val="accent1"/>
            </a:solidFill>
            <a:prstDash val="solid"/>
          </a:ln>
        </p:spPr>
      </p:sp>
      <p:sp>
        <p:nvSpPr>
          <p:cNvPr id="9" name="Shape 7"/>
          <p:cNvSpPr/>
          <p:nvPr/>
        </p:nvSpPr>
        <p:spPr>
          <a:xfrm>
            <a:off x="4892040" y="1508760"/>
            <a:ext cx="685800" cy="685800"/>
          </a:xfrm>
          <a:prstGeom prst="ellipse">
            <a:avLst/>
          </a:prstGeom>
          <a:solidFill>
            <a:schemeClr val="accent1"/>
          </a:solidFill>
          <a:ln/>
        </p:spPr>
      </p:sp>
      <p:sp>
        <p:nvSpPr>
          <p:cNvPr id="10" name="Text 8"/>
          <p:cNvSpPr txBox="1"/>
          <p:nvPr/>
        </p:nvSpPr>
        <p:spPr>
          <a:xfrm>
            <a:off x="4892040" y="1508760"/>
            <a:ext cx="685800" cy="685800"/>
          </a:xfrm>
          <a:prstGeom prst="rect">
            <a:avLst/>
          </a:prstGeom>
          <a:noFill/>
          <a:ln/>
        </p:spPr>
        <p:txBody>
          <a:bodyPr wrap="square" lIns="0" tIns="0" rIns="0" bIns="0" rtlCol="0" anchor="ctr"/>
          <a:lstStyle/>
          <a:p>
            <a:pPr algn="ctr" indent="0" marL="0">
              <a:buNone/>
            </a:pPr>
            <a:r>
              <a:rPr lang="en-US" sz="1400" b="1" dirty="0">
                <a:solidFill>
                  <a:schemeClr val="tx1"/>
                </a:solidFill>
              </a:rPr>
              <a:t>GAN</a:t>
            </a:r>
            <a:endParaRPr lang="en-US" sz="1400" dirty="0"/>
          </a:p>
        </p:txBody>
      </p:sp>
      <p:sp>
        <p:nvSpPr>
          <p:cNvPr id="11" name="Text 9"/>
          <p:cNvSpPr txBox="1"/>
          <p:nvPr/>
        </p:nvSpPr>
        <p:spPr>
          <a:xfrm>
            <a:off x="5760720" y="1554480"/>
            <a:ext cx="2743200" cy="320040"/>
          </a:xfrm>
          <a:prstGeom prst="rect">
            <a:avLst/>
          </a:prstGeom>
          <a:noFill/>
          <a:ln/>
        </p:spPr>
        <p:txBody>
          <a:bodyPr wrap="square" lIns="0" tIns="0" rIns="0" bIns="0" rtlCol="0" anchor="t"/>
          <a:lstStyle/>
          <a:p>
            <a:pPr indent="0" marL="0">
              <a:buNone/>
            </a:pPr>
            <a:r>
              <a:rPr lang="en-US" sz="1800" b="1" dirty="0">
                <a:solidFill>
                  <a:schemeClr val="tx1"/>
                </a:solidFill>
              </a:rPr>
              <a:t>Generative adversarial net</a:t>
            </a:r>
            <a:endParaRPr lang="en-US" sz="1800" dirty="0"/>
          </a:p>
        </p:txBody>
      </p:sp>
      <p:sp>
        <p:nvSpPr>
          <p:cNvPr id="12" name="Text 10"/>
          <p:cNvSpPr txBox="1"/>
          <p:nvPr/>
        </p:nvSpPr>
        <p:spPr>
          <a:xfrm>
            <a:off x="5760720" y="1965960"/>
            <a:ext cx="2743200" cy="777240"/>
          </a:xfrm>
          <a:prstGeom prst="rect">
            <a:avLst/>
          </a:prstGeom>
          <a:noFill/>
          <a:ln/>
        </p:spPr>
        <p:txBody>
          <a:bodyPr wrap="square" lIns="0" tIns="0" rIns="0" bIns="0" rtlCol="0" anchor="t"/>
          <a:lstStyle/>
          <a:p>
            <a:pPr indent="0" marL="0">
              <a:buNone/>
            </a:pPr>
            <a:r>
              <a:rPr lang="en-US" sz="1400" dirty="0">
                <a:solidFill>
                  <a:schemeClr val="tx2"/>
                </a:solidFill>
              </a:rPr>
              <a:t>Two networks compete: a generator versus a discriminator. This deck.</a:t>
            </a:r>
            <a:endParaRPr lang="en-US" sz="1400" dirty="0"/>
          </a:p>
        </p:txBody>
      </p:sp>
      <p:sp>
        <p:nvSpPr>
          <p:cNvPr id="13" name="Family card 3"/>
          <p:cNvSpPr/>
          <p:nvPr/>
        </p:nvSpPr>
        <p:spPr>
          <a:xfrm>
            <a:off x="457200" y="2971800"/>
            <a:ext cx="4023360" cy="1554480"/>
          </a:xfrm>
          <a:prstGeom prst="roundRect">
            <a:avLst>
              <a:gd name="adj" fmla="val 7059"/>
            </a:avLst>
          </a:prstGeom>
          <a:solidFill>
            <a:schemeClr val="bg2"/>
          </a:solidFill>
          <a:ln/>
        </p:spPr>
      </p:sp>
      <p:sp>
        <p:nvSpPr>
          <p:cNvPr id="14" name="Shape 12"/>
          <p:cNvSpPr/>
          <p:nvPr/>
        </p:nvSpPr>
        <p:spPr>
          <a:xfrm>
            <a:off x="685800" y="3200400"/>
            <a:ext cx="685800" cy="685800"/>
          </a:xfrm>
          <a:prstGeom prst="ellipse">
            <a:avLst/>
          </a:prstGeom>
          <a:solidFill>
            <a:schemeClr val="accent4"/>
          </a:solidFill>
          <a:ln/>
        </p:spPr>
      </p:sp>
      <p:sp>
        <p:nvSpPr>
          <p:cNvPr id="15" name="Text 13"/>
          <p:cNvSpPr txBox="1"/>
          <p:nvPr/>
        </p:nvSpPr>
        <p:spPr>
          <a:xfrm>
            <a:off x="685800" y="320040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DIF</a:t>
            </a:r>
            <a:endParaRPr lang="en-US" sz="1400" dirty="0"/>
          </a:p>
        </p:txBody>
      </p:sp>
      <p:sp>
        <p:nvSpPr>
          <p:cNvPr id="16" name="Text 14"/>
          <p:cNvSpPr txBox="1"/>
          <p:nvPr/>
        </p:nvSpPr>
        <p:spPr>
          <a:xfrm>
            <a:off x="1554480" y="3246120"/>
            <a:ext cx="2743200" cy="320040"/>
          </a:xfrm>
          <a:prstGeom prst="rect">
            <a:avLst/>
          </a:prstGeom>
          <a:noFill/>
          <a:ln/>
        </p:spPr>
        <p:txBody>
          <a:bodyPr wrap="square" lIns="0" tIns="0" rIns="0" bIns="0" rtlCol="0" anchor="t"/>
          <a:lstStyle/>
          <a:p>
            <a:pPr indent="0" marL="0">
              <a:buNone/>
            </a:pPr>
            <a:r>
              <a:rPr lang="en-US" sz="1800" b="1" dirty="0">
                <a:solidFill>
                  <a:schemeClr val="tx1"/>
                </a:solidFill>
              </a:rPr>
              <a:t>Diffusion models</a:t>
            </a:r>
            <a:endParaRPr lang="en-US" sz="1800" dirty="0"/>
          </a:p>
        </p:txBody>
      </p:sp>
      <p:sp>
        <p:nvSpPr>
          <p:cNvPr id="17" name="Text 15"/>
          <p:cNvSpPr txBox="1"/>
          <p:nvPr/>
        </p:nvSpPr>
        <p:spPr>
          <a:xfrm>
            <a:off x="1554480" y="3657600"/>
            <a:ext cx="2743200" cy="777240"/>
          </a:xfrm>
          <a:prstGeom prst="rect">
            <a:avLst/>
          </a:prstGeom>
          <a:noFill/>
          <a:ln/>
        </p:spPr>
        <p:txBody>
          <a:bodyPr wrap="square" lIns="0" tIns="0" rIns="0" bIns="0" rtlCol="0" anchor="t"/>
          <a:lstStyle/>
          <a:p>
            <a:pPr indent="0" marL="0">
              <a:buNone/>
            </a:pPr>
            <a:r>
              <a:rPr lang="en-US" sz="1400" dirty="0">
                <a:solidFill>
                  <a:schemeClr val="tx2"/>
                </a:solidFill>
              </a:rPr>
              <a:t>Learn to remove noise step by step, then start from pure noise.</a:t>
            </a:r>
            <a:endParaRPr lang="en-US" sz="1400" dirty="0"/>
          </a:p>
        </p:txBody>
      </p:sp>
      <p:sp>
        <p:nvSpPr>
          <p:cNvPr id="18" name="Family card 4"/>
          <p:cNvSpPr/>
          <p:nvPr/>
        </p:nvSpPr>
        <p:spPr>
          <a:xfrm>
            <a:off x="4663440" y="2971800"/>
            <a:ext cx="4023360" cy="1554480"/>
          </a:xfrm>
          <a:prstGeom prst="roundRect">
            <a:avLst>
              <a:gd name="adj" fmla="val 7059"/>
            </a:avLst>
          </a:prstGeom>
          <a:solidFill>
            <a:schemeClr val="bg2"/>
          </a:solidFill>
          <a:ln/>
        </p:spPr>
      </p:sp>
      <p:sp>
        <p:nvSpPr>
          <p:cNvPr id="19" name="Shape 17"/>
          <p:cNvSpPr/>
          <p:nvPr/>
        </p:nvSpPr>
        <p:spPr>
          <a:xfrm>
            <a:off x="4892040" y="3200400"/>
            <a:ext cx="685800" cy="685800"/>
          </a:xfrm>
          <a:prstGeom prst="ellipse">
            <a:avLst/>
          </a:prstGeom>
          <a:solidFill>
            <a:schemeClr val="accent4"/>
          </a:solidFill>
          <a:ln/>
        </p:spPr>
      </p:sp>
      <p:sp>
        <p:nvSpPr>
          <p:cNvPr id="20" name="Text 18"/>
          <p:cNvSpPr txBox="1"/>
          <p:nvPr/>
        </p:nvSpPr>
        <p:spPr>
          <a:xfrm>
            <a:off x="4892040" y="320040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AR</a:t>
            </a:r>
            <a:endParaRPr lang="en-US" sz="1400" dirty="0"/>
          </a:p>
        </p:txBody>
      </p:sp>
      <p:sp>
        <p:nvSpPr>
          <p:cNvPr id="21" name="Text 19"/>
          <p:cNvSpPr txBox="1"/>
          <p:nvPr/>
        </p:nvSpPr>
        <p:spPr>
          <a:xfrm>
            <a:off x="5760720" y="3246120"/>
            <a:ext cx="2743200" cy="320040"/>
          </a:xfrm>
          <a:prstGeom prst="rect">
            <a:avLst/>
          </a:prstGeom>
          <a:noFill/>
          <a:ln/>
        </p:spPr>
        <p:txBody>
          <a:bodyPr wrap="square" lIns="0" tIns="0" rIns="0" bIns="0" rtlCol="0" anchor="t"/>
          <a:lstStyle/>
          <a:p>
            <a:pPr indent="0" marL="0">
              <a:buNone/>
            </a:pPr>
            <a:r>
              <a:rPr lang="en-US" sz="1800" b="1" dirty="0">
                <a:solidFill>
                  <a:schemeClr val="tx1"/>
                </a:solidFill>
              </a:rPr>
              <a:t>Autoregressive (LLMs)</a:t>
            </a:r>
            <a:endParaRPr lang="en-US" sz="1800" dirty="0"/>
          </a:p>
        </p:txBody>
      </p:sp>
      <p:sp>
        <p:nvSpPr>
          <p:cNvPr id="22" name="Text 20"/>
          <p:cNvSpPr txBox="1"/>
          <p:nvPr/>
        </p:nvSpPr>
        <p:spPr>
          <a:xfrm>
            <a:off x="5760720" y="3657600"/>
            <a:ext cx="2743200" cy="777240"/>
          </a:xfrm>
          <a:prstGeom prst="rect">
            <a:avLst/>
          </a:prstGeom>
          <a:noFill/>
          <a:ln/>
        </p:spPr>
        <p:txBody>
          <a:bodyPr wrap="square" lIns="0" tIns="0" rIns="0" bIns="0" rtlCol="0" anchor="t"/>
          <a:lstStyle/>
          <a:p>
            <a:pPr indent="0" marL="0">
              <a:buNone/>
            </a:pPr>
            <a:r>
              <a:rPr lang="en-US" sz="1400" dirty="0">
                <a:solidFill>
                  <a:schemeClr val="tx2"/>
                </a:solidFill>
              </a:rPr>
              <a:t>Predict the next token again and again to write text or code.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GAN idea: forger vs detective</a:t>
            </a:r>
            <a:endParaRPr lang="en-US" sz="3400" dirty="0"/>
          </a:p>
        </p:txBody>
      </p:sp>
      <p:sp>
        <p:nvSpPr>
          <p:cNvPr id="3" name="Role card 1"/>
          <p:cNvSpPr/>
          <p:nvPr/>
        </p:nvSpPr>
        <p:spPr>
          <a:xfrm>
            <a:off x="457200" y="1234440"/>
            <a:ext cx="3566160" cy="2286000"/>
          </a:xfrm>
          <a:prstGeom prst="roundRect">
            <a:avLst>
              <a:gd name="adj" fmla="val 4800"/>
            </a:avLst>
          </a:prstGeom>
          <a:solidFill>
            <a:schemeClr val="bg2"/>
          </a:solidFill>
          <a:ln/>
        </p:spPr>
      </p:sp>
      <p:sp>
        <p:nvSpPr>
          <p:cNvPr id="4" name="Shape 2"/>
          <p:cNvSpPr/>
          <p:nvPr/>
        </p:nvSpPr>
        <p:spPr>
          <a:xfrm>
            <a:off x="685800" y="1417320"/>
            <a:ext cx="1554480" cy="310896"/>
          </a:xfrm>
          <a:prstGeom prst="roundRect">
            <a:avLst>
              <a:gd name="adj" fmla="val 50000"/>
            </a:avLst>
          </a:prstGeom>
          <a:solidFill>
            <a:schemeClr val="accent1"/>
          </a:solidFill>
          <a:ln/>
        </p:spPr>
      </p:sp>
      <p:sp>
        <p:nvSpPr>
          <p:cNvPr id="5" name="Text 3"/>
          <p:cNvSpPr txBox="1"/>
          <p:nvPr/>
        </p:nvSpPr>
        <p:spPr>
          <a:xfrm>
            <a:off x="685800" y="1417320"/>
            <a:ext cx="1554480" cy="310896"/>
          </a:xfrm>
          <a:prstGeom prst="rect">
            <a:avLst/>
          </a:prstGeom>
          <a:noFill/>
          <a:ln/>
        </p:spPr>
        <p:txBody>
          <a:bodyPr wrap="square" lIns="0" tIns="0" rIns="0" bIns="0" rtlCol="0" anchor="ctr"/>
          <a:lstStyle/>
          <a:p>
            <a:pPr algn="ctr" indent="0" marL="0">
              <a:buNone/>
            </a:pPr>
            <a:r>
              <a:rPr lang="en-US" sz="1200" b="1" dirty="0">
                <a:solidFill>
                  <a:schemeClr val="tx1"/>
                </a:solidFill>
              </a:rPr>
              <a:t>GENERATOR</a:t>
            </a:r>
            <a:endParaRPr lang="en-US" sz="1200" dirty="0"/>
          </a:p>
        </p:txBody>
      </p:sp>
      <p:sp>
        <p:nvSpPr>
          <p:cNvPr id="6" name="Text 4"/>
          <p:cNvSpPr txBox="1"/>
          <p:nvPr/>
        </p:nvSpPr>
        <p:spPr>
          <a:xfrm>
            <a:off x="685800" y="1920240"/>
            <a:ext cx="3108960" cy="41148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The forger</a:t>
            </a:r>
            <a:endParaRPr lang="en-US" sz="2400" dirty="0"/>
          </a:p>
        </p:txBody>
      </p:sp>
      <p:sp>
        <p:nvSpPr>
          <p:cNvPr id="7" name="Text 5"/>
          <p:cNvSpPr txBox="1"/>
          <p:nvPr/>
        </p:nvSpPr>
        <p:spPr>
          <a:xfrm>
            <a:off x="685800" y="2468880"/>
            <a:ext cx="3108960" cy="914400"/>
          </a:xfrm>
          <a:prstGeom prst="rect">
            <a:avLst/>
          </a:prstGeom>
          <a:noFill/>
          <a:ln/>
        </p:spPr>
        <p:txBody>
          <a:bodyPr wrap="square" lIns="0" tIns="0" rIns="0" bIns="0" rtlCol="0" anchor="t"/>
          <a:lstStyle/>
          <a:p>
            <a:pPr indent="0" marL="0">
              <a:buNone/>
            </a:pPr>
            <a:r>
              <a:rPr lang="en-US" sz="1400" dirty="0">
                <a:solidFill>
                  <a:schemeClr val="tx2"/>
                </a:solidFill>
              </a:rPr>
              <a:t>Paints fakes starting from random noise. Wants to fool the detective.</a:t>
            </a:r>
            <a:endParaRPr lang="en-US" sz="1400" dirty="0"/>
          </a:p>
        </p:txBody>
      </p:sp>
      <p:sp>
        <p:nvSpPr>
          <p:cNvPr id="8" name="Role card 2"/>
          <p:cNvSpPr/>
          <p:nvPr/>
        </p:nvSpPr>
        <p:spPr>
          <a:xfrm>
            <a:off x="5120640" y="1234440"/>
            <a:ext cx="3566160" cy="2286000"/>
          </a:xfrm>
          <a:prstGeom prst="roundRect">
            <a:avLst>
              <a:gd name="adj" fmla="val 4800"/>
            </a:avLst>
          </a:prstGeom>
          <a:solidFill>
            <a:schemeClr val="bg2"/>
          </a:solidFill>
          <a:ln/>
        </p:spPr>
      </p:sp>
      <p:sp>
        <p:nvSpPr>
          <p:cNvPr id="9" name="Shape 7"/>
          <p:cNvSpPr/>
          <p:nvPr/>
        </p:nvSpPr>
        <p:spPr>
          <a:xfrm>
            <a:off x="5349240" y="1417320"/>
            <a:ext cx="1554480" cy="310896"/>
          </a:xfrm>
          <a:prstGeom prst="roundRect">
            <a:avLst>
              <a:gd name="adj" fmla="val 50000"/>
            </a:avLst>
          </a:prstGeom>
          <a:solidFill>
            <a:schemeClr val="accent2"/>
          </a:solidFill>
          <a:ln/>
        </p:spPr>
      </p:sp>
      <p:sp>
        <p:nvSpPr>
          <p:cNvPr id="10" name="Text 8"/>
          <p:cNvSpPr txBox="1"/>
          <p:nvPr/>
        </p:nvSpPr>
        <p:spPr>
          <a:xfrm>
            <a:off x="5349240" y="1417320"/>
            <a:ext cx="1554480" cy="310896"/>
          </a:xfrm>
          <a:prstGeom prst="rect">
            <a:avLst/>
          </a:prstGeom>
          <a:noFill/>
          <a:ln/>
        </p:spPr>
        <p:txBody>
          <a:bodyPr wrap="square" lIns="0" tIns="0" rIns="0" bIns="0" rtlCol="0" anchor="ctr"/>
          <a:lstStyle/>
          <a:p>
            <a:pPr algn="ctr" indent="0" marL="0">
              <a:buNone/>
            </a:pPr>
            <a:r>
              <a:rPr lang="en-US" sz="1200" b="1" dirty="0">
                <a:solidFill>
                  <a:schemeClr val="tx1"/>
                </a:solidFill>
              </a:rPr>
              <a:t>DISCRIMINATOR</a:t>
            </a:r>
            <a:endParaRPr lang="en-US" sz="1200" dirty="0"/>
          </a:p>
        </p:txBody>
      </p:sp>
      <p:sp>
        <p:nvSpPr>
          <p:cNvPr id="11" name="Text 9"/>
          <p:cNvSpPr txBox="1"/>
          <p:nvPr/>
        </p:nvSpPr>
        <p:spPr>
          <a:xfrm>
            <a:off x="5349240" y="1920240"/>
            <a:ext cx="3108960" cy="41148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The detective</a:t>
            </a:r>
            <a:endParaRPr lang="en-US" sz="2400" dirty="0"/>
          </a:p>
        </p:txBody>
      </p:sp>
      <p:sp>
        <p:nvSpPr>
          <p:cNvPr id="12" name="Text 10"/>
          <p:cNvSpPr txBox="1"/>
          <p:nvPr/>
        </p:nvSpPr>
        <p:spPr>
          <a:xfrm>
            <a:off x="5349240" y="2468880"/>
            <a:ext cx="3108960" cy="914400"/>
          </a:xfrm>
          <a:prstGeom prst="rect">
            <a:avLst/>
          </a:prstGeom>
          <a:noFill/>
          <a:ln/>
        </p:spPr>
        <p:txBody>
          <a:bodyPr wrap="square" lIns="0" tIns="0" rIns="0" bIns="0" rtlCol="0" anchor="t"/>
          <a:lstStyle/>
          <a:p>
            <a:pPr indent="0" marL="0">
              <a:buNone/>
            </a:pPr>
            <a:r>
              <a:rPr lang="en-US" sz="1400" dirty="0">
                <a:solidFill>
                  <a:schemeClr val="tx2"/>
                </a:solidFill>
              </a:rPr>
              <a:t>Sees real and fake pictures. Wants to tell them apart.</a:t>
            </a:r>
            <a:endParaRPr lang="en-US" sz="1400" dirty="0"/>
          </a:p>
        </p:txBody>
      </p:sp>
      <p:sp>
        <p:nvSpPr>
          <p:cNvPr id="13" name="Shape 11"/>
          <p:cNvSpPr/>
          <p:nvPr/>
        </p:nvSpPr>
        <p:spPr>
          <a:xfrm>
            <a:off x="4114800" y="2011680"/>
            <a:ext cx="914400" cy="365760"/>
          </a:xfrm>
          <a:prstGeom prst="rightArrow">
            <a:avLst/>
          </a:prstGeom>
          <a:solidFill>
            <a:schemeClr val="accent3"/>
          </a:solidFill>
          <a:ln/>
        </p:spPr>
      </p:sp>
      <p:sp>
        <p:nvSpPr>
          <p:cNvPr id="14" name="Text 12"/>
          <p:cNvSpPr txBox="1"/>
          <p:nvPr/>
        </p:nvSpPr>
        <p:spPr>
          <a:xfrm>
            <a:off x="4114800" y="169164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fakes</a:t>
            </a:r>
            <a:endParaRPr lang="en-US" sz="1400" dirty="0"/>
          </a:p>
        </p:txBody>
      </p:sp>
      <p:sp>
        <p:nvSpPr>
          <p:cNvPr id="15" name="Shape 13"/>
          <p:cNvSpPr/>
          <p:nvPr/>
        </p:nvSpPr>
        <p:spPr>
          <a:xfrm>
            <a:off x="4114800" y="2743200"/>
            <a:ext cx="914400" cy="365760"/>
          </a:xfrm>
          <a:prstGeom prst="leftArrow">
            <a:avLst/>
          </a:prstGeom>
          <a:solidFill>
            <a:schemeClr val="accent3"/>
          </a:solidFill>
          <a:ln/>
        </p:spPr>
      </p:sp>
      <p:sp>
        <p:nvSpPr>
          <p:cNvPr id="16" name="Text 14"/>
          <p:cNvSpPr txBox="1"/>
          <p:nvPr/>
        </p:nvSpPr>
        <p:spPr>
          <a:xfrm>
            <a:off x="4114800" y="315468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feedback</a:t>
            </a:r>
            <a:endParaRPr lang="en-US" sz="1400" dirty="0"/>
          </a:p>
        </p:txBody>
      </p:sp>
      <p:sp>
        <p:nvSpPr>
          <p:cNvPr id="17" name="Goal banner"/>
          <p:cNvSpPr/>
          <p:nvPr/>
        </p:nvSpPr>
        <p:spPr>
          <a:xfrm>
            <a:off x="457200" y="3703320"/>
            <a:ext cx="8229600" cy="822960"/>
          </a:xfrm>
          <a:prstGeom prst="roundRect">
            <a:avLst>
              <a:gd name="adj" fmla="val 13333"/>
            </a:avLst>
          </a:prstGeom>
          <a:solidFill>
            <a:schemeClr val="tx1"/>
          </a:solidFill>
          <a:ln/>
        </p:spPr>
      </p:sp>
      <p:sp>
        <p:nvSpPr>
          <p:cNvPr id="18" name="Text 16"/>
          <p:cNvSpPr txBox="1"/>
          <p:nvPr/>
        </p:nvSpPr>
        <p:spPr>
          <a:xfrm>
            <a:off x="731520" y="3703320"/>
            <a:ext cx="7680960" cy="822960"/>
          </a:xfrm>
          <a:prstGeom prst="rect">
            <a:avLst/>
          </a:prstGeom>
          <a:noFill/>
          <a:ln/>
        </p:spPr>
        <p:txBody>
          <a:bodyPr wrap="square" lIns="0" tIns="0" rIns="0" bIns="0" rtlCol="0" anchor="ctr"/>
          <a:lstStyle/>
          <a:p>
            <a:pPr indent="0" marL="0">
              <a:buNone/>
            </a:pPr>
            <a:r>
              <a:rPr lang="en-US" sz="1600" b="1" dirty="0">
                <a:solidFill>
                  <a:schemeClr val="bg1"/>
                </a:solidFill>
              </a:rPr>
              <a:t>Each side improves because of the other. The goal: fakes so good that the detective can only guess (50/50).</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GAN architecture at a glance</a:t>
            </a:r>
            <a:endParaRPr lang="en-US" sz="3400" dirty="0"/>
          </a:p>
        </p:txBody>
      </p:sp>
      <p:sp>
        <p:nvSpPr>
          <p:cNvPr id="3" name="Noise box"/>
          <p:cNvSpPr/>
          <p:nvPr/>
        </p:nvSpPr>
        <p:spPr>
          <a:xfrm>
            <a:off x="365760" y="1417320"/>
            <a:ext cx="1463040" cy="731520"/>
          </a:xfrm>
          <a:prstGeom prst="roundRect">
            <a:avLst>
              <a:gd name="adj" fmla="val 12500"/>
            </a:avLst>
          </a:prstGeom>
          <a:solidFill>
            <a:schemeClr val="accent3"/>
          </a:solidFill>
          <a:ln/>
        </p:spPr>
      </p:sp>
      <p:sp>
        <p:nvSpPr>
          <p:cNvPr id="4" name="Text 2"/>
          <p:cNvSpPr txBox="1"/>
          <p:nvPr/>
        </p:nvSpPr>
        <p:spPr>
          <a:xfrm>
            <a:off x="365760" y="1417320"/>
            <a:ext cx="1463040" cy="731520"/>
          </a:xfrm>
          <a:prstGeom prst="rect">
            <a:avLst/>
          </a:prstGeom>
          <a:noFill/>
          <a:ln/>
        </p:spPr>
        <p:txBody>
          <a:bodyPr wrap="square" lIns="0" tIns="0" rIns="0" bIns="0" rtlCol="0" anchor="ctr"/>
          <a:lstStyle/>
          <a:p>
            <a:pPr algn="ctr" indent="0" marL="0">
              <a:buNone/>
            </a:pPr>
            <a:r>
              <a:rPr lang="en-US" sz="1400" b="1" dirty="0">
                <a:solidFill>
                  <a:schemeClr val="tx1"/>
                </a:solidFill>
              </a:rPr>
              <a:t>Noise z</a:t>
            </a:r>
            <a:endParaRPr lang="en-US" sz="1400" dirty="0"/>
          </a:p>
          <a:p>
            <a:pPr algn="ctr" indent="0" marL="0">
              <a:buNone/>
            </a:pPr>
            <a:r>
              <a:rPr lang="en-US" sz="1400" b="1" dirty="0">
                <a:solidFill>
                  <a:schemeClr val="tx1"/>
                </a:solidFill>
              </a:rPr>
              <a:t>random vector</a:t>
            </a:r>
            <a:endParaRPr lang="en-US" sz="1400" dirty="0"/>
          </a:p>
        </p:txBody>
      </p:sp>
      <p:sp>
        <p:nvSpPr>
          <p:cNvPr id="5" name="Generator box"/>
          <p:cNvSpPr/>
          <p:nvPr/>
        </p:nvSpPr>
        <p:spPr>
          <a:xfrm>
            <a:off x="2194560" y="1417320"/>
            <a:ext cx="1463040" cy="731520"/>
          </a:xfrm>
          <a:prstGeom prst="roundRect">
            <a:avLst>
              <a:gd name="adj" fmla="val 12500"/>
            </a:avLst>
          </a:prstGeom>
          <a:solidFill>
            <a:schemeClr val="accent1"/>
          </a:solidFill>
          <a:ln/>
        </p:spPr>
      </p:sp>
      <p:sp>
        <p:nvSpPr>
          <p:cNvPr id="6" name="Text 4"/>
          <p:cNvSpPr txBox="1"/>
          <p:nvPr/>
        </p:nvSpPr>
        <p:spPr>
          <a:xfrm>
            <a:off x="2194560" y="1417320"/>
            <a:ext cx="1463040" cy="731520"/>
          </a:xfrm>
          <a:prstGeom prst="rect">
            <a:avLst/>
          </a:prstGeom>
          <a:noFill/>
          <a:ln/>
        </p:spPr>
        <p:txBody>
          <a:bodyPr wrap="square" lIns="0" tIns="0" rIns="0" bIns="0" rtlCol="0" anchor="ctr"/>
          <a:lstStyle/>
          <a:p>
            <a:pPr algn="ctr" indent="0" marL="0">
              <a:buNone/>
            </a:pPr>
            <a:r>
              <a:rPr lang="en-US" sz="1400" b="1" dirty="0">
                <a:solidFill>
                  <a:schemeClr val="tx1"/>
                </a:solidFill>
              </a:rPr>
              <a:t>Generator G</a:t>
            </a:r>
            <a:endParaRPr lang="en-US" sz="1400" dirty="0"/>
          </a:p>
          <a:p>
            <a:pPr algn="ctr" indent="0" marL="0">
              <a:buNone/>
            </a:pPr>
            <a:r>
              <a:rPr lang="en-US" sz="1400" b="1" dirty="0">
                <a:solidFill>
                  <a:schemeClr val="tx1"/>
                </a:solidFill>
              </a:rPr>
              <a:t>the forger</a:t>
            </a:r>
            <a:endParaRPr lang="en-US" sz="1400" dirty="0"/>
          </a:p>
        </p:txBody>
      </p:sp>
      <p:sp>
        <p:nvSpPr>
          <p:cNvPr id="7" name="Fake box"/>
          <p:cNvSpPr/>
          <p:nvPr/>
        </p:nvSpPr>
        <p:spPr>
          <a:xfrm>
            <a:off x="4023360" y="1417320"/>
            <a:ext cx="1371600" cy="731520"/>
          </a:xfrm>
          <a:prstGeom prst="roundRect">
            <a:avLst>
              <a:gd name="adj" fmla="val 12500"/>
            </a:avLst>
          </a:prstGeom>
          <a:solidFill>
            <a:schemeClr val="bg2"/>
          </a:solidFill>
          <a:ln/>
        </p:spPr>
      </p:sp>
      <p:sp>
        <p:nvSpPr>
          <p:cNvPr id="8" name="Text 6"/>
          <p:cNvSpPr txBox="1"/>
          <p:nvPr/>
        </p:nvSpPr>
        <p:spPr>
          <a:xfrm>
            <a:off x="4023360" y="141732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Fake image</a:t>
            </a:r>
            <a:endParaRPr lang="en-US" sz="1400" dirty="0"/>
          </a:p>
          <a:p>
            <a:pPr algn="ctr" indent="0" marL="0">
              <a:buNone/>
            </a:pPr>
            <a:r>
              <a:rPr lang="en-US" sz="1400" b="1" dirty="0">
                <a:solidFill>
                  <a:schemeClr val="tx1"/>
                </a:solidFill>
              </a:rPr>
              <a:t>x̂ = G(z)</a:t>
            </a:r>
            <a:endParaRPr lang="en-US" sz="1400" dirty="0"/>
          </a:p>
        </p:txBody>
      </p:sp>
      <p:sp>
        <p:nvSpPr>
          <p:cNvPr id="9" name="Real box"/>
          <p:cNvSpPr/>
          <p:nvPr/>
        </p:nvSpPr>
        <p:spPr>
          <a:xfrm>
            <a:off x="4023360" y="3200400"/>
            <a:ext cx="1371600" cy="731520"/>
          </a:xfrm>
          <a:prstGeom prst="roundRect">
            <a:avLst>
              <a:gd name="adj" fmla="val 12500"/>
            </a:avLst>
          </a:prstGeom>
          <a:solidFill>
            <a:schemeClr val="bg2"/>
          </a:solidFill>
          <a:ln/>
        </p:spPr>
      </p:sp>
      <p:sp>
        <p:nvSpPr>
          <p:cNvPr id="10" name="Text 8"/>
          <p:cNvSpPr txBox="1"/>
          <p:nvPr/>
        </p:nvSpPr>
        <p:spPr>
          <a:xfrm>
            <a:off x="4023360" y="3200400"/>
            <a:ext cx="1371600" cy="731520"/>
          </a:xfrm>
          <a:prstGeom prst="rect">
            <a:avLst/>
          </a:prstGeom>
          <a:noFill/>
          <a:ln/>
        </p:spPr>
        <p:txBody>
          <a:bodyPr wrap="square" lIns="0" tIns="0" rIns="0" bIns="0" rtlCol="0" anchor="ctr"/>
          <a:lstStyle/>
          <a:p>
            <a:pPr algn="ctr" indent="0" marL="0">
              <a:buNone/>
            </a:pPr>
            <a:r>
              <a:rPr lang="en-US" sz="1400" b="1" dirty="0">
                <a:solidFill>
                  <a:schemeClr val="tx1"/>
                </a:solidFill>
              </a:rPr>
              <a:t>Real image</a:t>
            </a:r>
            <a:endParaRPr lang="en-US" sz="1400" dirty="0"/>
          </a:p>
          <a:p>
            <a:pPr algn="ctr" indent="0" marL="0">
              <a:buNone/>
            </a:pPr>
            <a:r>
              <a:rPr lang="en-US" sz="1400" b="1" dirty="0">
                <a:solidFill>
                  <a:schemeClr val="tx1"/>
                </a:solidFill>
              </a:rPr>
              <a:t>x from data</a:t>
            </a:r>
            <a:endParaRPr lang="en-US" sz="1400" dirty="0"/>
          </a:p>
        </p:txBody>
      </p:sp>
      <p:sp>
        <p:nvSpPr>
          <p:cNvPr id="11" name="Discriminator box"/>
          <p:cNvSpPr/>
          <p:nvPr/>
        </p:nvSpPr>
        <p:spPr>
          <a:xfrm>
            <a:off x="5760720" y="2103120"/>
            <a:ext cx="1554480" cy="1188720"/>
          </a:xfrm>
          <a:prstGeom prst="roundRect">
            <a:avLst>
              <a:gd name="adj" fmla="val 7692"/>
            </a:avLst>
          </a:prstGeom>
          <a:solidFill>
            <a:schemeClr val="accent2"/>
          </a:solidFill>
          <a:ln/>
        </p:spPr>
      </p:sp>
      <p:sp>
        <p:nvSpPr>
          <p:cNvPr id="12" name="Text 10"/>
          <p:cNvSpPr txBox="1"/>
          <p:nvPr/>
        </p:nvSpPr>
        <p:spPr>
          <a:xfrm>
            <a:off x="5760720" y="2103120"/>
            <a:ext cx="1554480" cy="1188720"/>
          </a:xfrm>
          <a:prstGeom prst="rect">
            <a:avLst/>
          </a:prstGeom>
          <a:noFill/>
          <a:ln/>
        </p:spPr>
        <p:txBody>
          <a:bodyPr wrap="square" lIns="0" tIns="0" rIns="0" bIns="0" rtlCol="0" anchor="ctr"/>
          <a:lstStyle/>
          <a:p>
            <a:pPr algn="ctr" indent="0" marL="0">
              <a:buNone/>
            </a:pPr>
            <a:r>
              <a:rPr lang="en-US" sz="1400" b="1" dirty="0">
                <a:solidFill>
                  <a:schemeClr val="tx1"/>
                </a:solidFill>
              </a:rPr>
              <a:t>Discriminator D</a:t>
            </a:r>
            <a:endParaRPr lang="en-US" sz="1400" dirty="0"/>
          </a:p>
          <a:p>
            <a:pPr algn="ctr" indent="0" marL="0">
              <a:buNone/>
            </a:pPr>
            <a:r>
              <a:rPr lang="en-US" sz="1400" b="1" dirty="0">
                <a:solidFill>
                  <a:schemeClr val="tx1"/>
                </a:solidFill>
              </a:rPr>
              <a:t>the detective</a:t>
            </a:r>
            <a:endParaRPr lang="en-US" sz="1400" dirty="0"/>
          </a:p>
        </p:txBody>
      </p:sp>
      <p:sp>
        <p:nvSpPr>
          <p:cNvPr id="13" name="Score box"/>
          <p:cNvSpPr/>
          <p:nvPr/>
        </p:nvSpPr>
        <p:spPr>
          <a:xfrm>
            <a:off x="7589520" y="2240280"/>
            <a:ext cx="1097280" cy="914400"/>
          </a:xfrm>
          <a:prstGeom prst="roundRect">
            <a:avLst>
              <a:gd name="adj" fmla="val 10000"/>
            </a:avLst>
          </a:prstGeom>
          <a:solidFill>
            <a:schemeClr val="bg2"/>
          </a:solidFill>
          <a:ln/>
        </p:spPr>
      </p:sp>
      <p:sp>
        <p:nvSpPr>
          <p:cNvPr id="14" name="Text 12"/>
          <p:cNvSpPr txBox="1"/>
          <p:nvPr/>
        </p:nvSpPr>
        <p:spPr>
          <a:xfrm>
            <a:off x="7589520" y="2240280"/>
            <a:ext cx="1097280" cy="914400"/>
          </a:xfrm>
          <a:prstGeom prst="rect">
            <a:avLst/>
          </a:prstGeom>
          <a:noFill/>
          <a:ln/>
        </p:spPr>
        <p:txBody>
          <a:bodyPr wrap="square" lIns="0" tIns="0" rIns="0" bIns="0" rtlCol="0" anchor="ctr"/>
          <a:lstStyle/>
          <a:p>
            <a:pPr algn="ctr" indent="0" marL="0">
              <a:buNone/>
            </a:pPr>
            <a:r>
              <a:rPr lang="en-US" sz="1400" b="1" dirty="0">
                <a:solidFill>
                  <a:schemeClr val="tx1"/>
                </a:solidFill>
              </a:rPr>
              <a:t>Score</a:t>
            </a:r>
            <a:endParaRPr lang="en-US" sz="1400" dirty="0"/>
          </a:p>
          <a:p>
            <a:pPr algn="ctr" indent="0" marL="0">
              <a:buNone/>
            </a:pPr>
            <a:r>
              <a:rPr lang="en-US" sz="1400" b="1" dirty="0">
                <a:solidFill>
                  <a:schemeClr val="tx1"/>
                </a:solidFill>
              </a:rPr>
              <a:t>0 = fake</a:t>
            </a:r>
            <a:endParaRPr lang="en-US" sz="1400" dirty="0"/>
          </a:p>
          <a:p>
            <a:pPr algn="ctr" indent="0" marL="0">
              <a:buNone/>
            </a:pPr>
            <a:r>
              <a:rPr lang="en-US" sz="1400" b="1" dirty="0">
                <a:solidFill>
                  <a:schemeClr val="tx1"/>
                </a:solidFill>
              </a:rPr>
              <a:t>1 = real</a:t>
            </a:r>
            <a:endParaRPr lang="en-US" sz="1400" dirty="0"/>
          </a:p>
        </p:txBody>
      </p:sp>
      <p:sp>
        <p:nvSpPr>
          <p:cNvPr id="15" name="Shape 13"/>
          <p:cNvSpPr/>
          <p:nvPr/>
        </p:nvSpPr>
        <p:spPr>
          <a:xfrm>
            <a:off x="1828800" y="1783080"/>
            <a:ext cx="365760" cy="0"/>
          </a:xfrm>
          <a:prstGeom prst="line">
            <a:avLst/>
          </a:prstGeom>
          <a:noFill/>
          <a:ln w="25400">
            <a:solidFill>
              <a:srgbClr val="4B4670"/>
            </a:solidFill>
            <a:prstDash val="solid"/>
            <a:tailEnd type="triangle"/>
          </a:ln>
        </p:spPr>
      </p:sp>
      <p:sp>
        <p:nvSpPr>
          <p:cNvPr id="16" name="Shape 14"/>
          <p:cNvSpPr/>
          <p:nvPr/>
        </p:nvSpPr>
        <p:spPr>
          <a:xfrm>
            <a:off x="3657600" y="1783080"/>
            <a:ext cx="365760" cy="0"/>
          </a:xfrm>
          <a:prstGeom prst="line">
            <a:avLst/>
          </a:prstGeom>
          <a:noFill/>
          <a:ln w="25400">
            <a:solidFill>
              <a:srgbClr val="4B4670"/>
            </a:solidFill>
            <a:prstDash val="solid"/>
            <a:tailEnd type="triangle"/>
          </a:ln>
        </p:spPr>
      </p:sp>
      <p:sp>
        <p:nvSpPr>
          <p:cNvPr id="17" name="Shape 15"/>
          <p:cNvSpPr/>
          <p:nvPr/>
        </p:nvSpPr>
        <p:spPr>
          <a:xfrm>
            <a:off x="5394960" y="1783080"/>
            <a:ext cx="365760" cy="548640"/>
          </a:xfrm>
          <a:prstGeom prst="line">
            <a:avLst/>
          </a:prstGeom>
          <a:noFill/>
          <a:ln w="25400">
            <a:solidFill>
              <a:srgbClr val="4B4670"/>
            </a:solidFill>
            <a:prstDash val="solid"/>
            <a:tailEnd type="triangle"/>
          </a:ln>
        </p:spPr>
      </p:sp>
      <p:sp>
        <p:nvSpPr>
          <p:cNvPr id="18" name="Shape 16"/>
          <p:cNvSpPr/>
          <p:nvPr/>
        </p:nvSpPr>
        <p:spPr>
          <a:xfrm flipV="1">
            <a:off x="5394960" y="3063240"/>
            <a:ext cx="365760" cy="502920"/>
          </a:xfrm>
          <a:prstGeom prst="line">
            <a:avLst/>
          </a:prstGeom>
          <a:noFill/>
          <a:ln w="25400">
            <a:solidFill>
              <a:srgbClr val="4B4670"/>
            </a:solidFill>
            <a:prstDash val="solid"/>
            <a:tailEnd type="triangle"/>
          </a:ln>
        </p:spPr>
      </p:sp>
      <p:sp>
        <p:nvSpPr>
          <p:cNvPr id="19" name="Shape 17"/>
          <p:cNvSpPr/>
          <p:nvPr/>
        </p:nvSpPr>
        <p:spPr>
          <a:xfrm>
            <a:off x="7315200" y="2697480"/>
            <a:ext cx="274320" cy="0"/>
          </a:xfrm>
          <a:prstGeom prst="line">
            <a:avLst/>
          </a:prstGeom>
          <a:noFill/>
          <a:ln w="25400">
            <a:solidFill>
              <a:srgbClr val="4B4670"/>
            </a:solidFill>
            <a:prstDash val="solid"/>
            <a:tailEnd type="triangle"/>
          </a:ln>
        </p:spPr>
      </p:sp>
      <p:sp>
        <p:nvSpPr>
          <p:cNvPr id="20" name="Shape 18"/>
          <p:cNvSpPr/>
          <p:nvPr/>
        </p:nvSpPr>
        <p:spPr>
          <a:xfrm>
            <a:off x="8138160" y="3154680"/>
            <a:ext cx="0" cy="1051560"/>
          </a:xfrm>
          <a:prstGeom prst="line">
            <a:avLst/>
          </a:prstGeom>
          <a:noFill/>
          <a:ln w="25400">
            <a:solidFill>
              <a:srgbClr val="9A94B8"/>
            </a:solidFill>
            <a:prstDash val="dash"/>
          </a:ln>
        </p:spPr>
      </p:sp>
      <p:sp>
        <p:nvSpPr>
          <p:cNvPr id="21" name="Shape 19"/>
          <p:cNvSpPr/>
          <p:nvPr/>
        </p:nvSpPr>
        <p:spPr>
          <a:xfrm flipH="1">
            <a:off x="2926080" y="4206240"/>
            <a:ext cx="5212080" cy="0"/>
          </a:xfrm>
          <a:prstGeom prst="line">
            <a:avLst/>
          </a:prstGeom>
          <a:noFill/>
          <a:ln w="25400">
            <a:solidFill>
              <a:srgbClr val="9A94B8"/>
            </a:solidFill>
            <a:prstDash val="dash"/>
          </a:ln>
        </p:spPr>
      </p:sp>
      <p:sp>
        <p:nvSpPr>
          <p:cNvPr id="22" name="Shape 20"/>
          <p:cNvSpPr/>
          <p:nvPr/>
        </p:nvSpPr>
        <p:spPr>
          <a:xfrm flipV="1">
            <a:off x="2926080" y="2148840"/>
            <a:ext cx="0" cy="2057400"/>
          </a:xfrm>
          <a:prstGeom prst="line">
            <a:avLst/>
          </a:prstGeom>
          <a:noFill/>
          <a:ln w="25400">
            <a:solidFill>
              <a:srgbClr val="9A94B8"/>
            </a:solidFill>
            <a:prstDash val="dash"/>
            <a:tailEnd type="triangle"/>
          </a:ln>
        </p:spPr>
      </p:sp>
      <p:sp>
        <p:nvSpPr>
          <p:cNvPr id="23" name="Text 21"/>
          <p:cNvSpPr txBox="1"/>
          <p:nvPr/>
        </p:nvSpPr>
        <p:spPr>
          <a:xfrm>
            <a:off x="3108960" y="4279392"/>
            <a:ext cx="5029200" cy="274320"/>
          </a:xfrm>
          <a:prstGeom prst="rect">
            <a:avLst/>
          </a:prstGeom>
          <a:noFill/>
          <a:ln/>
        </p:spPr>
        <p:txBody>
          <a:bodyPr wrap="square" lIns="0" tIns="0" rIns="0" bIns="0" rtlCol="0" anchor="t"/>
          <a:lstStyle/>
          <a:p>
            <a:pPr indent="0" marL="0">
              <a:buNone/>
            </a:pPr>
            <a:r>
              <a:rPr lang="en-US" sz="1400" i="1" dirty="0">
                <a:solidFill>
                  <a:schemeClr val="tx2"/>
                </a:solidFill>
              </a:rPr>
              <a:t>Feedback: gradients tell G how to fool D, and D how to catch G.</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Generator: in simple terms</a:t>
            </a:r>
            <a:endParaRPr lang="en-US" sz="3400" dirty="0"/>
          </a:p>
        </p:txBody>
      </p:sp>
      <p:sp>
        <p:nvSpPr>
          <p:cNvPr id="3" name="Step card 1"/>
          <p:cNvSpPr/>
          <p:nvPr/>
        </p:nvSpPr>
        <p:spPr>
          <a:xfrm>
            <a:off x="457200" y="1234440"/>
            <a:ext cx="1874520" cy="2011680"/>
          </a:xfrm>
          <a:prstGeom prst="roundRect">
            <a:avLst>
              <a:gd name="adj" fmla="val 5854"/>
            </a:avLst>
          </a:prstGeom>
          <a:solidFill>
            <a:schemeClr val="bg2"/>
          </a:solidFill>
          <a:ln/>
        </p:spPr>
      </p:sp>
      <p:sp>
        <p:nvSpPr>
          <p:cNvPr id="4" name="Shape 2"/>
          <p:cNvSpPr/>
          <p:nvPr/>
        </p:nvSpPr>
        <p:spPr>
          <a:xfrm>
            <a:off x="640080" y="1417320"/>
            <a:ext cx="457200" cy="457200"/>
          </a:xfrm>
          <a:prstGeom prst="ellipse">
            <a:avLst/>
          </a:prstGeom>
          <a:solidFill>
            <a:schemeClr val="accent1"/>
          </a:solidFill>
          <a:ln/>
        </p:spPr>
      </p:sp>
      <p:sp>
        <p:nvSpPr>
          <p:cNvPr id="5" name="Text 3"/>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640080"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Random noise</a:t>
            </a:r>
            <a:endParaRPr lang="en-US" sz="1600" dirty="0"/>
          </a:p>
        </p:txBody>
      </p:sp>
      <p:sp>
        <p:nvSpPr>
          <p:cNvPr id="7" name="Text 5"/>
          <p:cNvSpPr txBox="1"/>
          <p:nvPr/>
        </p:nvSpPr>
        <p:spPr>
          <a:xfrm>
            <a:off x="640080"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A vector of random numbers, say 100 of them.</a:t>
            </a:r>
            <a:endParaRPr lang="en-US" sz="1400" dirty="0"/>
          </a:p>
        </p:txBody>
      </p:sp>
      <p:sp>
        <p:nvSpPr>
          <p:cNvPr id="8" name="Shape 6"/>
          <p:cNvSpPr/>
          <p:nvPr/>
        </p:nvSpPr>
        <p:spPr>
          <a:xfrm>
            <a:off x="2350008" y="2103120"/>
            <a:ext cx="182880" cy="228600"/>
          </a:xfrm>
          <a:prstGeom prst="rightArrow">
            <a:avLst/>
          </a:prstGeom>
          <a:solidFill>
            <a:schemeClr val="accent3"/>
          </a:solidFill>
          <a:ln/>
        </p:spPr>
      </p:sp>
      <p:sp>
        <p:nvSpPr>
          <p:cNvPr id="9" name="Step card 2"/>
          <p:cNvSpPr/>
          <p:nvPr/>
        </p:nvSpPr>
        <p:spPr>
          <a:xfrm>
            <a:off x="2575865" y="1234440"/>
            <a:ext cx="1874520" cy="2011680"/>
          </a:xfrm>
          <a:prstGeom prst="roundRect">
            <a:avLst>
              <a:gd name="adj" fmla="val 5854"/>
            </a:avLst>
          </a:prstGeom>
          <a:solidFill>
            <a:schemeClr val="bg2"/>
          </a:solidFill>
          <a:ln/>
        </p:spPr>
      </p:sp>
      <p:sp>
        <p:nvSpPr>
          <p:cNvPr id="10" name="Shape 8"/>
          <p:cNvSpPr/>
          <p:nvPr/>
        </p:nvSpPr>
        <p:spPr>
          <a:xfrm>
            <a:off x="2758745" y="1417320"/>
            <a:ext cx="457200" cy="457200"/>
          </a:xfrm>
          <a:prstGeom prst="ellipse">
            <a:avLst/>
          </a:prstGeom>
          <a:solidFill>
            <a:schemeClr val="accent1"/>
          </a:solidFill>
          <a:ln/>
        </p:spPr>
      </p:sp>
      <p:sp>
        <p:nvSpPr>
          <p:cNvPr id="11" name="Text 9"/>
          <p:cNvSpPr txBox="1"/>
          <p:nvPr/>
        </p:nvSpPr>
        <p:spPr>
          <a:xfrm>
            <a:off x="2758745" y="1417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Text 10"/>
          <p:cNvSpPr txBox="1"/>
          <p:nvPr/>
        </p:nvSpPr>
        <p:spPr>
          <a:xfrm>
            <a:off x="2758745"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Dense layer</a:t>
            </a:r>
            <a:endParaRPr lang="en-US" sz="1600" dirty="0"/>
          </a:p>
        </p:txBody>
      </p:sp>
      <p:sp>
        <p:nvSpPr>
          <p:cNvPr id="13" name="Text 11"/>
          <p:cNvSpPr txBox="1"/>
          <p:nvPr/>
        </p:nvSpPr>
        <p:spPr>
          <a:xfrm>
            <a:off x="2758745"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Expands the noise into a small grid of features.</a:t>
            </a:r>
            <a:endParaRPr lang="en-US" sz="1400" dirty="0"/>
          </a:p>
        </p:txBody>
      </p:sp>
      <p:sp>
        <p:nvSpPr>
          <p:cNvPr id="14" name="Shape 12"/>
          <p:cNvSpPr/>
          <p:nvPr/>
        </p:nvSpPr>
        <p:spPr>
          <a:xfrm>
            <a:off x="4468673" y="2103120"/>
            <a:ext cx="182880" cy="228600"/>
          </a:xfrm>
          <a:prstGeom prst="rightArrow">
            <a:avLst/>
          </a:prstGeom>
          <a:solidFill>
            <a:schemeClr val="accent3"/>
          </a:solidFill>
          <a:ln/>
        </p:spPr>
      </p:sp>
      <p:sp>
        <p:nvSpPr>
          <p:cNvPr id="15" name="Step card 3"/>
          <p:cNvSpPr/>
          <p:nvPr/>
        </p:nvSpPr>
        <p:spPr>
          <a:xfrm>
            <a:off x="4694530" y="1234440"/>
            <a:ext cx="1874520" cy="2011680"/>
          </a:xfrm>
          <a:prstGeom prst="roundRect">
            <a:avLst>
              <a:gd name="adj" fmla="val 5854"/>
            </a:avLst>
          </a:prstGeom>
          <a:solidFill>
            <a:schemeClr val="bg2"/>
          </a:solidFill>
          <a:ln/>
        </p:spPr>
      </p:sp>
      <p:sp>
        <p:nvSpPr>
          <p:cNvPr id="16" name="Shape 14"/>
          <p:cNvSpPr/>
          <p:nvPr/>
        </p:nvSpPr>
        <p:spPr>
          <a:xfrm>
            <a:off x="4877410" y="1417320"/>
            <a:ext cx="457200" cy="457200"/>
          </a:xfrm>
          <a:prstGeom prst="ellipse">
            <a:avLst/>
          </a:prstGeom>
          <a:solidFill>
            <a:schemeClr val="accent1"/>
          </a:solidFill>
          <a:ln/>
        </p:spPr>
      </p:sp>
      <p:sp>
        <p:nvSpPr>
          <p:cNvPr id="17" name="Text 15"/>
          <p:cNvSpPr txBox="1"/>
          <p:nvPr/>
        </p:nvSpPr>
        <p:spPr>
          <a:xfrm>
            <a:off x="4877410" y="1417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8" name="Text 16"/>
          <p:cNvSpPr txBox="1"/>
          <p:nvPr/>
        </p:nvSpPr>
        <p:spPr>
          <a:xfrm>
            <a:off x="4877410"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Up-sampling</a:t>
            </a:r>
            <a:endParaRPr lang="en-US" sz="1600" dirty="0"/>
          </a:p>
        </p:txBody>
      </p:sp>
      <p:sp>
        <p:nvSpPr>
          <p:cNvPr id="19" name="Text 17"/>
          <p:cNvSpPr txBox="1"/>
          <p:nvPr/>
        </p:nvSpPr>
        <p:spPr>
          <a:xfrm>
            <a:off x="4877410"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Transposed convolutions grow it, e.g. 4x4 up to 64x64.</a:t>
            </a:r>
            <a:endParaRPr lang="en-US" sz="1400" dirty="0"/>
          </a:p>
        </p:txBody>
      </p:sp>
      <p:sp>
        <p:nvSpPr>
          <p:cNvPr id="20" name="Shape 18"/>
          <p:cNvSpPr/>
          <p:nvPr/>
        </p:nvSpPr>
        <p:spPr>
          <a:xfrm>
            <a:off x="6587338" y="2103120"/>
            <a:ext cx="182880" cy="228600"/>
          </a:xfrm>
          <a:prstGeom prst="rightArrow">
            <a:avLst/>
          </a:prstGeom>
          <a:solidFill>
            <a:schemeClr val="accent3"/>
          </a:solidFill>
          <a:ln/>
        </p:spPr>
      </p:sp>
      <p:sp>
        <p:nvSpPr>
          <p:cNvPr id="21" name="Step card 4"/>
          <p:cNvSpPr/>
          <p:nvPr/>
        </p:nvSpPr>
        <p:spPr>
          <a:xfrm>
            <a:off x="6813194" y="1234440"/>
            <a:ext cx="1874520" cy="2011680"/>
          </a:xfrm>
          <a:prstGeom prst="roundRect">
            <a:avLst>
              <a:gd name="adj" fmla="val 5854"/>
            </a:avLst>
          </a:prstGeom>
          <a:solidFill>
            <a:schemeClr val="bg2"/>
          </a:solidFill>
          <a:ln/>
        </p:spPr>
      </p:sp>
      <p:sp>
        <p:nvSpPr>
          <p:cNvPr id="22" name="Shape 20"/>
          <p:cNvSpPr/>
          <p:nvPr/>
        </p:nvSpPr>
        <p:spPr>
          <a:xfrm>
            <a:off x="6996074" y="1417320"/>
            <a:ext cx="457200" cy="457200"/>
          </a:xfrm>
          <a:prstGeom prst="ellipse">
            <a:avLst/>
          </a:prstGeom>
          <a:solidFill>
            <a:schemeClr val="accent1"/>
          </a:solidFill>
          <a:ln/>
        </p:spPr>
      </p:sp>
      <p:sp>
        <p:nvSpPr>
          <p:cNvPr id="23" name="Text 21"/>
          <p:cNvSpPr txBox="1"/>
          <p:nvPr/>
        </p:nvSpPr>
        <p:spPr>
          <a:xfrm>
            <a:off x="6996074" y="1417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4" name="Text 22"/>
          <p:cNvSpPr txBox="1"/>
          <p:nvPr/>
        </p:nvSpPr>
        <p:spPr>
          <a:xfrm>
            <a:off x="6996074"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Output image</a:t>
            </a:r>
            <a:endParaRPr lang="en-US" sz="1600" dirty="0"/>
          </a:p>
        </p:txBody>
      </p:sp>
      <p:sp>
        <p:nvSpPr>
          <p:cNvPr id="25" name="Text 23"/>
          <p:cNvSpPr txBox="1"/>
          <p:nvPr/>
        </p:nvSpPr>
        <p:spPr>
          <a:xfrm>
            <a:off x="6996074"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Pixel values squashed to −1 to 1 with tanh.</a:t>
            </a:r>
            <a:endParaRPr lang="en-US" sz="1400" dirty="0"/>
          </a:p>
        </p:txBody>
      </p:sp>
      <p:sp>
        <p:nvSpPr>
          <p:cNvPr id="26" name="Variety bar"/>
          <p:cNvSpPr/>
          <p:nvPr/>
        </p:nvSpPr>
        <p:spPr>
          <a:xfrm>
            <a:off x="457200" y="3383280"/>
            <a:ext cx="8229600" cy="457200"/>
          </a:xfrm>
          <a:prstGeom prst="roundRect">
            <a:avLst>
              <a:gd name="adj" fmla="val 20000"/>
            </a:avLst>
          </a:prstGeom>
          <a:solidFill>
            <a:schemeClr val="accent1"/>
          </a:solidFill>
          <a:ln/>
        </p:spPr>
      </p:sp>
      <p:sp>
        <p:nvSpPr>
          <p:cNvPr id="27" name="Text 25"/>
          <p:cNvSpPr txBox="1"/>
          <p:nvPr/>
        </p:nvSpPr>
        <p:spPr>
          <a:xfrm>
            <a:off x="457200" y="3383280"/>
            <a:ext cx="8229600" cy="457200"/>
          </a:xfrm>
          <a:prstGeom prst="rect">
            <a:avLst/>
          </a:prstGeom>
          <a:noFill/>
          <a:ln/>
        </p:spPr>
        <p:txBody>
          <a:bodyPr wrap="square" lIns="0" tIns="0" rIns="0" bIns="0" rtlCol="0" anchor="ctr"/>
          <a:lstStyle/>
          <a:p>
            <a:pPr algn="ctr" indent="0" marL="0">
              <a:buNone/>
            </a:pPr>
            <a:r>
              <a:rPr lang="en-US" sz="1400" b="1" dirty="0">
                <a:solidFill>
                  <a:schemeClr val="tx1"/>
                </a:solidFill>
              </a:rPr>
              <a:t>A different noise vector z gives a different image.</a:t>
            </a:r>
            <a:endParaRPr lang="en-US" sz="1400" dirty="0"/>
          </a:p>
        </p:txBody>
      </p:sp>
      <p:sp>
        <p:nvSpPr>
          <p:cNvPr id="28" name="Text 26"/>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400" i="1" dirty="0">
                <a:solidFill>
                  <a:schemeClr val="tx2"/>
                </a:solidFill>
              </a:rPr>
              <a:t>The generator never sees real images. It learns only from the discriminator's feedback.</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Generator: a bit of maths</a:t>
            </a:r>
            <a:endParaRPr lang="en-US" sz="3400" dirty="0"/>
          </a:p>
        </p:txBody>
      </p:sp>
      <p:sp>
        <p:nvSpPr>
          <p:cNvPr id="3" name="Generator maths panel"/>
          <p:cNvSpPr/>
          <p:nvPr/>
        </p:nvSpPr>
        <p:spPr>
          <a:xfrm>
            <a:off x="457200" y="1234440"/>
            <a:ext cx="4846320" cy="3291840"/>
          </a:xfrm>
          <a:prstGeom prst="roundRect">
            <a:avLst>
              <a:gd name="adj" fmla="val 3333"/>
            </a:avLst>
          </a:prstGeom>
          <a:solidFill>
            <a:schemeClr val="tx1"/>
          </a:solidFill>
          <a:ln/>
        </p:spPr>
      </p:sp>
      <p:sp>
        <p:nvSpPr>
          <p:cNvPr id="4" name="Text 2"/>
          <p:cNvSpPr txBox="1"/>
          <p:nvPr/>
        </p:nvSpPr>
        <p:spPr>
          <a:xfrm>
            <a:off x="731520" y="1371600"/>
            <a:ext cx="4389120" cy="256032"/>
          </a:xfrm>
          <a:prstGeom prst="rect">
            <a:avLst/>
          </a:prstGeom>
          <a:noFill/>
          <a:ln/>
        </p:spPr>
        <p:txBody>
          <a:bodyPr wrap="square" lIns="0" tIns="0" rIns="0" bIns="0" rtlCol="0" anchor="t"/>
          <a:lstStyle/>
          <a:p>
            <a:pPr indent="0" marL="0">
              <a:buNone/>
            </a:pPr>
            <a:r>
              <a:rPr lang="en-US" sz="1400" b="1" dirty="0">
                <a:solidFill>
                  <a:schemeClr val="accent1"/>
                </a:solidFill>
              </a:rPr>
              <a:t>Generate</a:t>
            </a:r>
            <a:endParaRPr lang="en-US" sz="1400" dirty="0"/>
          </a:p>
        </p:txBody>
      </p:sp>
      <p:sp>
        <p:nvSpPr>
          <p:cNvPr id="5" name="Text 3"/>
          <p:cNvSpPr txBox="1"/>
          <p:nvPr/>
        </p:nvSpPr>
        <p:spPr>
          <a:xfrm>
            <a:off x="731520" y="1645920"/>
            <a:ext cx="4389120" cy="4114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x̂ = G(z; θg),  z ~ N(0, I)</a:t>
            </a:r>
            <a:endParaRPr lang="en-US" sz="2000" dirty="0"/>
          </a:p>
        </p:txBody>
      </p:sp>
      <p:sp>
        <p:nvSpPr>
          <p:cNvPr id="6" name="Text 4"/>
          <p:cNvSpPr txBox="1"/>
          <p:nvPr/>
        </p:nvSpPr>
        <p:spPr>
          <a:xfrm>
            <a:off x="731520" y="2148840"/>
            <a:ext cx="4389120" cy="256032"/>
          </a:xfrm>
          <a:prstGeom prst="rect">
            <a:avLst/>
          </a:prstGeom>
          <a:noFill/>
          <a:ln/>
        </p:spPr>
        <p:txBody>
          <a:bodyPr wrap="square" lIns="0" tIns="0" rIns="0" bIns="0" rtlCol="0" anchor="t"/>
          <a:lstStyle/>
          <a:p>
            <a:pPr indent="0" marL="0">
              <a:buNone/>
            </a:pPr>
            <a:r>
              <a:rPr lang="en-US" sz="1400" b="1" dirty="0">
                <a:solidFill>
                  <a:schemeClr val="accent1"/>
                </a:solidFill>
              </a:rPr>
              <a:t>Goal</a:t>
            </a:r>
            <a:endParaRPr lang="en-US" sz="1400" dirty="0"/>
          </a:p>
        </p:txBody>
      </p:sp>
      <p:sp>
        <p:nvSpPr>
          <p:cNvPr id="7" name="Text 5"/>
          <p:cNvSpPr txBox="1"/>
          <p:nvPr/>
        </p:nvSpPr>
        <p:spPr>
          <a:xfrm>
            <a:off x="731520" y="2423160"/>
            <a:ext cx="4389120" cy="4114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make D(G(z)) → 1</a:t>
            </a:r>
            <a:endParaRPr lang="en-US" sz="2000" dirty="0"/>
          </a:p>
        </p:txBody>
      </p:sp>
      <p:sp>
        <p:nvSpPr>
          <p:cNvPr id="8" name="Text 6"/>
          <p:cNvSpPr txBox="1"/>
          <p:nvPr/>
        </p:nvSpPr>
        <p:spPr>
          <a:xfrm>
            <a:off x="731520" y="2926080"/>
            <a:ext cx="4389120" cy="256032"/>
          </a:xfrm>
          <a:prstGeom prst="rect">
            <a:avLst/>
          </a:prstGeom>
          <a:noFill/>
          <a:ln/>
        </p:spPr>
        <p:txBody>
          <a:bodyPr wrap="square" lIns="0" tIns="0" rIns="0" bIns="0" rtlCol="0" anchor="t"/>
          <a:lstStyle/>
          <a:p>
            <a:pPr indent="0" marL="0">
              <a:buNone/>
            </a:pPr>
            <a:r>
              <a:rPr lang="en-US" sz="1400" b="1" dirty="0">
                <a:solidFill>
                  <a:schemeClr val="accent1"/>
                </a:solidFill>
              </a:rPr>
              <a:t>Loss</a:t>
            </a:r>
            <a:endParaRPr lang="en-US" sz="1400" dirty="0"/>
          </a:p>
        </p:txBody>
      </p:sp>
      <p:sp>
        <p:nvSpPr>
          <p:cNvPr id="9" name="Text 7"/>
          <p:cNvSpPr txBox="1"/>
          <p:nvPr/>
        </p:nvSpPr>
        <p:spPr>
          <a:xfrm>
            <a:off x="731520" y="3200400"/>
            <a:ext cx="4389120" cy="4114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L_G = −E_z[ log D(G(z)) ]</a:t>
            </a:r>
            <a:endParaRPr lang="en-US" sz="2000" dirty="0"/>
          </a:p>
        </p:txBody>
      </p:sp>
      <p:sp>
        <p:nvSpPr>
          <p:cNvPr id="10" name="Text 8"/>
          <p:cNvSpPr txBox="1"/>
          <p:nvPr/>
        </p:nvSpPr>
        <p:spPr>
          <a:xfrm>
            <a:off x="731520" y="3703320"/>
            <a:ext cx="4389120" cy="256032"/>
          </a:xfrm>
          <a:prstGeom prst="rect">
            <a:avLst/>
          </a:prstGeom>
          <a:noFill/>
          <a:ln/>
        </p:spPr>
        <p:txBody>
          <a:bodyPr wrap="square" lIns="0" tIns="0" rIns="0" bIns="0" rtlCol="0" anchor="t"/>
          <a:lstStyle/>
          <a:p>
            <a:pPr indent="0" marL="0">
              <a:buNone/>
            </a:pPr>
            <a:r>
              <a:rPr lang="en-US" sz="1400" b="1" dirty="0">
                <a:solidFill>
                  <a:schemeClr val="accent1"/>
                </a:solidFill>
              </a:rPr>
              <a:t>Update</a:t>
            </a:r>
            <a:endParaRPr lang="en-US" sz="1400" dirty="0"/>
          </a:p>
        </p:txBody>
      </p:sp>
      <p:sp>
        <p:nvSpPr>
          <p:cNvPr id="11" name="Text 9"/>
          <p:cNvSpPr txBox="1"/>
          <p:nvPr/>
        </p:nvSpPr>
        <p:spPr>
          <a:xfrm>
            <a:off x="731520" y="3977640"/>
            <a:ext cx="4389120" cy="4114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θg ← θg − η ∇θg L_G</a:t>
            </a:r>
            <a:endParaRPr lang="en-US" sz="2000" dirty="0"/>
          </a:p>
        </p:txBody>
      </p:sp>
      <p:sp>
        <p:nvSpPr>
          <p:cNvPr id="12" name="Text 10"/>
          <p:cNvSpPr txBox="1"/>
          <p:nvPr/>
        </p:nvSpPr>
        <p:spPr>
          <a:xfrm>
            <a:off x="5577840" y="1280160"/>
            <a:ext cx="3108960" cy="3200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z: a random noise vector.</a:t>
            </a:r>
            <a:endParaRPr lang="en-US" sz="1400" dirty="0"/>
          </a:p>
          <a:p>
            <a:pPr marL="342900" indent="-342900">
              <a:spcAft>
                <a:spcPts val="600"/>
              </a:spcAft>
              <a:buSzPct val="100000"/>
              <a:buChar char="•"/>
            </a:pPr>
            <a:r>
              <a:rPr lang="en-US" sz="1400" dirty="0">
                <a:solidFill>
                  <a:schemeClr val="tx2"/>
                </a:solidFill>
              </a:rPr>
              <a:t>θg: the generator's weights, the only thing updated in this step.</a:t>
            </a:r>
            <a:endParaRPr lang="en-US" sz="1400" dirty="0"/>
          </a:p>
          <a:p>
            <a:pPr marL="342900" indent="-342900">
              <a:spcAft>
                <a:spcPts val="600"/>
              </a:spcAft>
              <a:buSzPct val="100000"/>
              <a:buChar char="•"/>
            </a:pPr>
            <a:r>
              <a:rPr lang="en-US" sz="1400" dirty="0">
                <a:solidFill>
                  <a:schemeClr val="tx2"/>
                </a:solidFill>
              </a:rPr>
              <a:t>If D(G(z)) ≈ 1 then log D ≈ 0, so the loss is small: D was fooled.</a:t>
            </a:r>
            <a:endParaRPr lang="en-US" sz="1400" dirty="0"/>
          </a:p>
          <a:p>
            <a:pPr marL="342900" indent="-342900">
              <a:spcAft>
                <a:spcPts val="600"/>
              </a:spcAft>
              <a:buSzPct val="100000"/>
              <a:buChar char="•"/>
            </a:pPr>
            <a:r>
              <a:rPr lang="en-US" sz="1400" dirty="0">
                <a:solidFill>
                  <a:schemeClr val="tx2"/>
                </a:solidFill>
              </a:rPr>
              <a:t>We minimise −log D(G(z)) rather than log(1 − D(G(z))): it gives stronger gradients early on.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Discriminator: in simple terms</a:t>
            </a:r>
            <a:endParaRPr lang="en-US" sz="3400" dirty="0"/>
          </a:p>
        </p:txBody>
      </p:sp>
      <p:sp>
        <p:nvSpPr>
          <p:cNvPr id="3" name="Step card 1"/>
          <p:cNvSpPr/>
          <p:nvPr/>
        </p:nvSpPr>
        <p:spPr>
          <a:xfrm>
            <a:off x="457200" y="1234440"/>
            <a:ext cx="1874520" cy="2011680"/>
          </a:xfrm>
          <a:prstGeom prst="roundRect">
            <a:avLst>
              <a:gd name="adj" fmla="val 5854"/>
            </a:avLst>
          </a:prstGeom>
          <a:solidFill>
            <a:schemeClr val="bg2"/>
          </a:solidFill>
          <a:ln/>
        </p:spPr>
      </p:sp>
      <p:sp>
        <p:nvSpPr>
          <p:cNvPr id="4" name="Shape 2"/>
          <p:cNvSpPr/>
          <p:nvPr/>
        </p:nvSpPr>
        <p:spPr>
          <a:xfrm>
            <a:off x="640080" y="1417320"/>
            <a:ext cx="457200" cy="457200"/>
          </a:xfrm>
          <a:prstGeom prst="ellipse">
            <a:avLst/>
          </a:prstGeom>
          <a:solidFill>
            <a:schemeClr val="accent2"/>
          </a:solidFill>
          <a:ln/>
        </p:spPr>
      </p:sp>
      <p:sp>
        <p:nvSpPr>
          <p:cNvPr id="5" name="Text 3"/>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640080"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Input image</a:t>
            </a:r>
            <a:endParaRPr lang="en-US" sz="1600" dirty="0"/>
          </a:p>
        </p:txBody>
      </p:sp>
      <p:sp>
        <p:nvSpPr>
          <p:cNvPr id="7" name="Text 5"/>
          <p:cNvSpPr txBox="1"/>
          <p:nvPr/>
        </p:nvSpPr>
        <p:spPr>
          <a:xfrm>
            <a:off x="640080"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Either a real photo or a fake from the generator.</a:t>
            </a:r>
            <a:endParaRPr lang="en-US" sz="1400" dirty="0"/>
          </a:p>
        </p:txBody>
      </p:sp>
      <p:sp>
        <p:nvSpPr>
          <p:cNvPr id="8" name="Shape 6"/>
          <p:cNvSpPr/>
          <p:nvPr/>
        </p:nvSpPr>
        <p:spPr>
          <a:xfrm>
            <a:off x="2350008" y="2103120"/>
            <a:ext cx="182880" cy="228600"/>
          </a:xfrm>
          <a:prstGeom prst="rightArrow">
            <a:avLst/>
          </a:prstGeom>
          <a:solidFill>
            <a:schemeClr val="accent3"/>
          </a:solidFill>
          <a:ln/>
        </p:spPr>
      </p:sp>
      <p:sp>
        <p:nvSpPr>
          <p:cNvPr id="9" name="Step card 2"/>
          <p:cNvSpPr/>
          <p:nvPr/>
        </p:nvSpPr>
        <p:spPr>
          <a:xfrm>
            <a:off x="2575865" y="1234440"/>
            <a:ext cx="1874520" cy="2011680"/>
          </a:xfrm>
          <a:prstGeom prst="roundRect">
            <a:avLst>
              <a:gd name="adj" fmla="val 5854"/>
            </a:avLst>
          </a:prstGeom>
          <a:solidFill>
            <a:schemeClr val="bg2"/>
          </a:solidFill>
          <a:ln/>
        </p:spPr>
      </p:sp>
      <p:sp>
        <p:nvSpPr>
          <p:cNvPr id="10" name="Shape 8"/>
          <p:cNvSpPr/>
          <p:nvPr/>
        </p:nvSpPr>
        <p:spPr>
          <a:xfrm>
            <a:off x="2758745" y="1417320"/>
            <a:ext cx="457200" cy="457200"/>
          </a:xfrm>
          <a:prstGeom prst="ellipse">
            <a:avLst/>
          </a:prstGeom>
          <a:solidFill>
            <a:schemeClr val="accent2"/>
          </a:solidFill>
          <a:ln/>
        </p:spPr>
      </p:sp>
      <p:sp>
        <p:nvSpPr>
          <p:cNvPr id="11" name="Text 9"/>
          <p:cNvSpPr txBox="1"/>
          <p:nvPr/>
        </p:nvSpPr>
        <p:spPr>
          <a:xfrm>
            <a:off x="2758745" y="1417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2" name="Text 10"/>
          <p:cNvSpPr txBox="1"/>
          <p:nvPr/>
        </p:nvSpPr>
        <p:spPr>
          <a:xfrm>
            <a:off x="2758745"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Down-sampling</a:t>
            </a:r>
            <a:endParaRPr lang="en-US" sz="1600" dirty="0"/>
          </a:p>
        </p:txBody>
      </p:sp>
      <p:sp>
        <p:nvSpPr>
          <p:cNvPr id="13" name="Text 11"/>
          <p:cNvSpPr txBox="1"/>
          <p:nvPr/>
        </p:nvSpPr>
        <p:spPr>
          <a:xfrm>
            <a:off x="2758745"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Strided convolutions shrink the image into features.</a:t>
            </a:r>
            <a:endParaRPr lang="en-US" sz="1400" dirty="0"/>
          </a:p>
        </p:txBody>
      </p:sp>
      <p:sp>
        <p:nvSpPr>
          <p:cNvPr id="14" name="Shape 12"/>
          <p:cNvSpPr/>
          <p:nvPr/>
        </p:nvSpPr>
        <p:spPr>
          <a:xfrm>
            <a:off x="4468673" y="2103120"/>
            <a:ext cx="182880" cy="228600"/>
          </a:xfrm>
          <a:prstGeom prst="rightArrow">
            <a:avLst/>
          </a:prstGeom>
          <a:solidFill>
            <a:schemeClr val="accent3"/>
          </a:solidFill>
          <a:ln/>
        </p:spPr>
      </p:sp>
      <p:sp>
        <p:nvSpPr>
          <p:cNvPr id="15" name="Step card 3"/>
          <p:cNvSpPr/>
          <p:nvPr/>
        </p:nvSpPr>
        <p:spPr>
          <a:xfrm>
            <a:off x="4694530" y="1234440"/>
            <a:ext cx="1874520" cy="2011680"/>
          </a:xfrm>
          <a:prstGeom prst="roundRect">
            <a:avLst>
              <a:gd name="adj" fmla="val 5854"/>
            </a:avLst>
          </a:prstGeom>
          <a:solidFill>
            <a:schemeClr val="bg2"/>
          </a:solidFill>
          <a:ln/>
        </p:spPr>
      </p:sp>
      <p:sp>
        <p:nvSpPr>
          <p:cNvPr id="16" name="Shape 14"/>
          <p:cNvSpPr/>
          <p:nvPr/>
        </p:nvSpPr>
        <p:spPr>
          <a:xfrm>
            <a:off x="4877410" y="1417320"/>
            <a:ext cx="457200" cy="457200"/>
          </a:xfrm>
          <a:prstGeom prst="ellipse">
            <a:avLst/>
          </a:prstGeom>
          <a:solidFill>
            <a:schemeClr val="accent2"/>
          </a:solidFill>
          <a:ln/>
        </p:spPr>
      </p:sp>
      <p:sp>
        <p:nvSpPr>
          <p:cNvPr id="17" name="Text 15"/>
          <p:cNvSpPr txBox="1"/>
          <p:nvPr/>
        </p:nvSpPr>
        <p:spPr>
          <a:xfrm>
            <a:off x="4877410" y="1417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8" name="Text 16"/>
          <p:cNvSpPr txBox="1"/>
          <p:nvPr/>
        </p:nvSpPr>
        <p:spPr>
          <a:xfrm>
            <a:off x="4877410"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Dense + sigmoid</a:t>
            </a:r>
            <a:endParaRPr lang="en-US" sz="1600" dirty="0"/>
          </a:p>
        </p:txBody>
      </p:sp>
      <p:sp>
        <p:nvSpPr>
          <p:cNvPr id="19" name="Text 17"/>
          <p:cNvSpPr txBox="1"/>
          <p:nvPr/>
        </p:nvSpPr>
        <p:spPr>
          <a:xfrm>
            <a:off x="4877410"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Squashes everything into a single number from 0 to 1.</a:t>
            </a:r>
            <a:endParaRPr lang="en-US" sz="1400" dirty="0"/>
          </a:p>
        </p:txBody>
      </p:sp>
      <p:sp>
        <p:nvSpPr>
          <p:cNvPr id="20" name="Shape 18"/>
          <p:cNvSpPr/>
          <p:nvPr/>
        </p:nvSpPr>
        <p:spPr>
          <a:xfrm>
            <a:off x="6587338" y="2103120"/>
            <a:ext cx="182880" cy="228600"/>
          </a:xfrm>
          <a:prstGeom prst="rightArrow">
            <a:avLst/>
          </a:prstGeom>
          <a:solidFill>
            <a:schemeClr val="accent3"/>
          </a:solidFill>
          <a:ln/>
        </p:spPr>
      </p:sp>
      <p:sp>
        <p:nvSpPr>
          <p:cNvPr id="21" name="Step card 4"/>
          <p:cNvSpPr/>
          <p:nvPr/>
        </p:nvSpPr>
        <p:spPr>
          <a:xfrm>
            <a:off x="6813194" y="1234440"/>
            <a:ext cx="1874520" cy="2011680"/>
          </a:xfrm>
          <a:prstGeom prst="roundRect">
            <a:avLst>
              <a:gd name="adj" fmla="val 5854"/>
            </a:avLst>
          </a:prstGeom>
          <a:solidFill>
            <a:schemeClr val="bg2"/>
          </a:solidFill>
          <a:ln/>
        </p:spPr>
      </p:sp>
      <p:sp>
        <p:nvSpPr>
          <p:cNvPr id="22" name="Shape 20"/>
          <p:cNvSpPr/>
          <p:nvPr/>
        </p:nvSpPr>
        <p:spPr>
          <a:xfrm>
            <a:off x="6996074" y="1417320"/>
            <a:ext cx="457200" cy="457200"/>
          </a:xfrm>
          <a:prstGeom prst="ellipse">
            <a:avLst/>
          </a:prstGeom>
          <a:solidFill>
            <a:schemeClr val="accent2"/>
          </a:solidFill>
          <a:ln/>
        </p:spPr>
      </p:sp>
      <p:sp>
        <p:nvSpPr>
          <p:cNvPr id="23" name="Text 21"/>
          <p:cNvSpPr txBox="1"/>
          <p:nvPr/>
        </p:nvSpPr>
        <p:spPr>
          <a:xfrm>
            <a:off x="6996074" y="1417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4" name="Text 22"/>
          <p:cNvSpPr txBox="1"/>
          <p:nvPr/>
        </p:nvSpPr>
        <p:spPr>
          <a:xfrm>
            <a:off x="6996074" y="2011680"/>
            <a:ext cx="1600200" cy="274320"/>
          </a:xfrm>
          <a:prstGeom prst="rect">
            <a:avLst/>
          </a:prstGeom>
          <a:noFill/>
          <a:ln/>
        </p:spPr>
        <p:txBody>
          <a:bodyPr wrap="square" lIns="0" tIns="0" rIns="0" bIns="0" rtlCol="0" anchor="t"/>
          <a:lstStyle/>
          <a:p>
            <a:pPr indent="0" marL="0">
              <a:buNone/>
            </a:pPr>
            <a:r>
              <a:rPr lang="en-US" sz="1600" b="1" dirty="0">
                <a:solidFill>
                  <a:schemeClr val="tx1"/>
                </a:solidFill>
              </a:rPr>
              <a:t>Verdict</a:t>
            </a:r>
            <a:endParaRPr lang="en-US" sz="1600" dirty="0"/>
          </a:p>
        </p:txBody>
      </p:sp>
      <p:sp>
        <p:nvSpPr>
          <p:cNvPr id="25" name="Text 23"/>
          <p:cNvSpPr txBox="1"/>
          <p:nvPr/>
        </p:nvSpPr>
        <p:spPr>
          <a:xfrm>
            <a:off x="6996074" y="2331720"/>
            <a:ext cx="1600200" cy="868680"/>
          </a:xfrm>
          <a:prstGeom prst="rect">
            <a:avLst/>
          </a:prstGeom>
          <a:noFill/>
          <a:ln/>
        </p:spPr>
        <p:txBody>
          <a:bodyPr wrap="square" lIns="0" tIns="0" rIns="0" bIns="0" rtlCol="0" anchor="t"/>
          <a:lstStyle/>
          <a:p>
            <a:pPr indent="0" marL="0">
              <a:buNone/>
            </a:pPr>
            <a:r>
              <a:rPr lang="en-US" sz="1400" dirty="0">
                <a:solidFill>
                  <a:schemeClr val="tx2"/>
                </a:solidFill>
              </a:rPr>
              <a:t>Near 1 means real, near 0 means fake.</a:t>
            </a:r>
            <a:endParaRPr lang="en-US" sz="1400" dirty="0"/>
          </a:p>
        </p:txBody>
      </p:sp>
      <p:sp>
        <p:nvSpPr>
          <p:cNvPr id="26" name="Classifier bar"/>
          <p:cNvSpPr/>
          <p:nvPr/>
        </p:nvSpPr>
        <p:spPr>
          <a:xfrm>
            <a:off x="457200" y="3383280"/>
            <a:ext cx="8229600" cy="457200"/>
          </a:xfrm>
          <a:prstGeom prst="roundRect">
            <a:avLst>
              <a:gd name="adj" fmla="val 20000"/>
            </a:avLst>
          </a:prstGeom>
          <a:solidFill>
            <a:schemeClr val="accent2"/>
          </a:solidFill>
          <a:ln/>
        </p:spPr>
      </p:sp>
      <p:sp>
        <p:nvSpPr>
          <p:cNvPr id="27" name="Text 25"/>
          <p:cNvSpPr txBox="1"/>
          <p:nvPr/>
        </p:nvSpPr>
        <p:spPr>
          <a:xfrm>
            <a:off x="457200" y="3383280"/>
            <a:ext cx="8229600" cy="457200"/>
          </a:xfrm>
          <a:prstGeom prst="rect">
            <a:avLst/>
          </a:prstGeom>
          <a:noFill/>
          <a:ln/>
        </p:spPr>
        <p:txBody>
          <a:bodyPr wrap="square" lIns="0" tIns="0" rIns="0" bIns="0" rtlCol="0" anchor="ctr"/>
          <a:lstStyle/>
          <a:p>
            <a:pPr algn="ctr" indent="0" marL="0">
              <a:buNone/>
            </a:pPr>
            <a:r>
              <a:rPr lang="en-US" sz="1400" b="1" dirty="0">
                <a:solidFill>
                  <a:schemeClr val="tx1"/>
                </a:solidFill>
              </a:rPr>
              <a:t>It is just a binary classifier: real (1) versus fake (0).</a:t>
            </a:r>
            <a:endParaRPr lang="en-US" sz="1400" dirty="0"/>
          </a:p>
        </p:txBody>
      </p:sp>
      <p:sp>
        <p:nvSpPr>
          <p:cNvPr id="28" name="Text 26"/>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400" i="1" dirty="0">
                <a:solidFill>
                  <a:schemeClr val="tx2"/>
                </a:solidFill>
              </a:rPr>
              <a:t>Its mistakes teach it. Its answers also teach the generator.</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Discriminator: a bit of maths</a:t>
            </a:r>
            <a:endParaRPr lang="en-US" sz="3400" dirty="0"/>
          </a:p>
        </p:txBody>
      </p:sp>
      <p:sp>
        <p:nvSpPr>
          <p:cNvPr id="3" name="Discriminator maths panel"/>
          <p:cNvSpPr/>
          <p:nvPr/>
        </p:nvSpPr>
        <p:spPr>
          <a:xfrm>
            <a:off x="457200" y="1234440"/>
            <a:ext cx="5029200" cy="3291840"/>
          </a:xfrm>
          <a:prstGeom prst="roundRect">
            <a:avLst>
              <a:gd name="adj" fmla="val 3333"/>
            </a:avLst>
          </a:prstGeom>
          <a:solidFill>
            <a:schemeClr val="tx1"/>
          </a:solidFill>
          <a:ln/>
        </p:spPr>
      </p:sp>
      <p:sp>
        <p:nvSpPr>
          <p:cNvPr id="4" name="Text 2"/>
          <p:cNvSpPr txBox="1"/>
          <p:nvPr/>
        </p:nvSpPr>
        <p:spPr>
          <a:xfrm>
            <a:off x="731520" y="1371600"/>
            <a:ext cx="4572000" cy="256032"/>
          </a:xfrm>
          <a:prstGeom prst="rect">
            <a:avLst/>
          </a:prstGeom>
          <a:noFill/>
          <a:ln/>
        </p:spPr>
        <p:txBody>
          <a:bodyPr wrap="square" lIns="0" tIns="0" rIns="0" bIns="0" rtlCol="0" anchor="t"/>
          <a:lstStyle/>
          <a:p>
            <a:pPr indent="0" marL="0">
              <a:buNone/>
            </a:pPr>
            <a:r>
              <a:rPr lang="en-US" sz="1400" b="1" dirty="0">
                <a:solidFill>
                  <a:schemeClr val="accent2"/>
                </a:solidFill>
              </a:rPr>
              <a:t>Score</a:t>
            </a:r>
            <a:endParaRPr lang="en-US" sz="1400" dirty="0"/>
          </a:p>
        </p:txBody>
      </p:sp>
      <p:sp>
        <p:nvSpPr>
          <p:cNvPr id="5" name="Text 3"/>
          <p:cNvSpPr txBox="1"/>
          <p:nvPr/>
        </p:nvSpPr>
        <p:spPr>
          <a:xfrm>
            <a:off x="731520" y="1645920"/>
            <a:ext cx="4572000" cy="4114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D(x) = σ(f(x)) ∈ (0, 1)</a:t>
            </a:r>
            <a:endParaRPr lang="en-US" sz="2000" dirty="0"/>
          </a:p>
        </p:txBody>
      </p:sp>
      <p:sp>
        <p:nvSpPr>
          <p:cNvPr id="6" name="Text 4"/>
          <p:cNvSpPr txBox="1"/>
          <p:nvPr/>
        </p:nvSpPr>
        <p:spPr>
          <a:xfrm>
            <a:off x="731520" y="2148840"/>
            <a:ext cx="4572000" cy="256032"/>
          </a:xfrm>
          <a:prstGeom prst="rect">
            <a:avLst/>
          </a:prstGeom>
          <a:noFill/>
          <a:ln/>
        </p:spPr>
        <p:txBody>
          <a:bodyPr wrap="square" lIns="0" tIns="0" rIns="0" bIns="0" rtlCol="0" anchor="t"/>
          <a:lstStyle/>
          <a:p>
            <a:pPr indent="0" marL="0">
              <a:buNone/>
            </a:pPr>
            <a:r>
              <a:rPr lang="en-US" sz="1400" b="1" dirty="0">
                <a:solidFill>
                  <a:schemeClr val="accent2"/>
                </a:solidFill>
              </a:rPr>
              <a:t>Real images</a:t>
            </a:r>
            <a:endParaRPr lang="en-US" sz="1400" dirty="0"/>
          </a:p>
        </p:txBody>
      </p:sp>
      <p:sp>
        <p:nvSpPr>
          <p:cNvPr id="7" name="Text 5"/>
          <p:cNvSpPr txBox="1"/>
          <p:nvPr/>
        </p:nvSpPr>
        <p:spPr>
          <a:xfrm>
            <a:off x="731520" y="2423160"/>
            <a:ext cx="4572000" cy="4114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want D(x) → 1</a:t>
            </a:r>
            <a:endParaRPr lang="en-US" sz="2000" dirty="0"/>
          </a:p>
        </p:txBody>
      </p:sp>
      <p:sp>
        <p:nvSpPr>
          <p:cNvPr id="8" name="Text 6"/>
          <p:cNvSpPr txBox="1"/>
          <p:nvPr/>
        </p:nvSpPr>
        <p:spPr>
          <a:xfrm>
            <a:off x="731520" y="2926080"/>
            <a:ext cx="4572000" cy="256032"/>
          </a:xfrm>
          <a:prstGeom prst="rect">
            <a:avLst/>
          </a:prstGeom>
          <a:noFill/>
          <a:ln/>
        </p:spPr>
        <p:txBody>
          <a:bodyPr wrap="square" lIns="0" tIns="0" rIns="0" bIns="0" rtlCol="0" anchor="t"/>
          <a:lstStyle/>
          <a:p>
            <a:pPr indent="0" marL="0">
              <a:buNone/>
            </a:pPr>
            <a:r>
              <a:rPr lang="en-US" sz="1400" b="1" dirty="0">
                <a:solidFill>
                  <a:schemeClr val="accent2"/>
                </a:solidFill>
              </a:rPr>
              <a:t>Fake images</a:t>
            </a:r>
            <a:endParaRPr lang="en-US" sz="1400" dirty="0"/>
          </a:p>
        </p:txBody>
      </p:sp>
      <p:sp>
        <p:nvSpPr>
          <p:cNvPr id="9" name="Text 7"/>
          <p:cNvSpPr txBox="1"/>
          <p:nvPr/>
        </p:nvSpPr>
        <p:spPr>
          <a:xfrm>
            <a:off x="731520" y="3200400"/>
            <a:ext cx="4572000" cy="4114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want D(G(z)) → 0</a:t>
            </a:r>
            <a:endParaRPr lang="en-US" sz="2000" dirty="0"/>
          </a:p>
        </p:txBody>
      </p:sp>
      <p:sp>
        <p:nvSpPr>
          <p:cNvPr id="10" name="Text 8"/>
          <p:cNvSpPr txBox="1"/>
          <p:nvPr/>
        </p:nvSpPr>
        <p:spPr>
          <a:xfrm>
            <a:off x="731520" y="3703320"/>
            <a:ext cx="4572000" cy="256032"/>
          </a:xfrm>
          <a:prstGeom prst="rect">
            <a:avLst/>
          </a:prstGeom>
          <a:noFill/>
          <a:ln/>
        </p:spPr>
        <p:txBody>
          <a:bodyPr wrap="square" lIns="0" tIns="0" rIns="0" bIns="0" rtlCol="0" anchor="t"/>
          <a:lstStyle/>
          <a:p>
            <a:pPr indent="0" marL="0">
              <a:buNone/>
            </a:pPr>
            <a:r>
              <a:rPr lang="en-US" sz="1400" b="1" dirty="0">
                <a:solidFill>
                  <a:schemeClr val="accent2"/>
                </a:solidFill>
              </a:rPr>
              <a:t>Loss</a:t>
            </a:r>
            <a:endParaRPr lang="en-US" sz="1400" dirty="0"/>
          </a:p>
        </p:txBody>
      </p:sp>
      <p:sp>
        <p:nvSpPr>
          <p:cNvPr id="11" name="Text 9"/>
          <p:cNvSpPr txBox="1"/>
          <p:nvPr/>
        </p:nvSpPr>
        <p:spPr>
          <a:xfrm>
            <a:off x="731520" y="3977640"/>
            <a:ext cx="4572000" cy="411480"/>
          </a:xfrm>
          <a:prstGeom prst="rect">
            <a:avLst/>
          </a:prstGeom>
          <a:noFill/>
          <a:ln/>
        </p:spPr>
        <p:txBody>
          <a:bodyPr wrap="square" lIns="0" tIns="0" rIns="0" bIns="0" rtlCol="0" anchor="t"/>
          <a:lstStyle/>
          <a:p>
            <a:pPr indent="0" marL="0">
              <a:buNone/>
            </a:pPr>
            <a:r>
              <a:rPr lang="en-US" sz="1700" dirty="0">
                <a:solidFill>
                  <a:schemeClr val="bg1"/>
                </a:solidFill>
                <a:latin typeface="+mj-lt" pitchFamily="34" charset="0"/>
                <a:ea typeface="+mj-lt" pitchFamily="34" charset="-122"/>
                <a:cs typeface="+mj-lt" pitchFamily="34" charset="-120"/>
              </a:rPr>
              <a:t>L_D = −E[log D(x)] − E[log(1 − D(G(z)))]</a:t>
            </a:r>
            <a:endParaRPr lang="en-US" sz="1700" dirty="0"/>
          </a:p>
        </p:txBody>
      </p:sp>
      <p:sp>
        <p:nvSpPr>
          <p:cNvPr id="12" name="Detective example"/>
          <p:cNvSpPr/>
          <p:nvPr/>
        </p:nvSpPr>
        <p:spPr>
          <a:xfrm>
            <a:off x="5760720" y="1234440"/>
            <a:ext cx="2926080" cy="1554480"/>
          </a:xfrm>
          <a:prstGeom prst="roundRect">
            <a:avLst>
              <a:gd name="adj" fmla="val 7059"/>
            </a:avLst>
          </a:prstGeom>
          <a:solidFill>
            <a:schemeClr val="bg2"/>
          </a:solidFill>
          <a:ln/>
        </p:spPr>
      </p:sp>
      <p:sp>
        <p:nvSpPr>
          <p:cNvPr id="13" name="Shape 11"/>
          <p:cNvSpPr/>
          <p:nvPr/>
        </p:nvSpPr>
        <p:spPr>
          <a:xfrm>
            <a:off x="5943600" y="1371600"/>
            <a:ext cx="1737360" cy="274320"/>
          </a:xfrm>
          <a:prstGeom prst="roundRect">
            <a:avLst>
              <a:gd name="adj" fmla="val 50000"/>
            </a:avLst>
          </a:prstGeom>
          <a:solidFill>
            <a:schemeClr val="accent2"/>
          </a:solidFill>
          <a:ln/>
        </p:spPr>
      </p:sp>
      <p:sp>
        <p:nvSpPr>
          <p:cNvPr id="14" name="Text 12"/>
          <p:cNvSpPr txBox="1"/>
          <p:nvPr/>
        </p:nvSpPr>
        <p:spPr>
          <a:xfrm>
            <a:off x="5943600" y="1371600"/>
            <a:ext cx="1737360" cy="274320"/>
          </a:xfrm>
          <a:prstGeom prst="rect">
            <a:avLst/>
          </a:prstGeom>
          <a:noFill/>
          <a:ln/>
        </p:spPr>
        <p:txBody>
          <a:bodyPr wrap="square" lIns="0" tIns="0" rIns="0" bIns="0" rtlCol="0" anchor="ctr"/>
          <a:lstStyle/>
          <a:p>
            <a:pPr algn="ctr" indent="0" marL="0">
              <a:buNone/>
            </a:pPr>
            <a:r>
              <a:rPr lang="en-US" sz="1200" b="1" dirty="0">
                <a:solidFill>
                  <a:schemeClr val="tx1"/>
                </a:solidFill>
              </a:rPr>
              <a:t>D is doing well</a:t>
            </a:r>
            <a:endParaRPr lang="en-US" sz="1200" dirty="0"/>
          </a:p>
        </p:txBody>
      </p:sp>
      <p:sp>
        <p:nvSpPr>
          <p:cNvPr id="15" name="Text 13"/>
          <p:cNvSpPr txBox="1"/>
          <p:nvPr/>
        </p:nvSpPr>
        <p:spPr>
          <a:xfrm>
            <a:off x="5943600" y="1783080"/>
            <a:ext cx="2606040" cy="914400"/>
          </a:xfrm>
          <a:prstGeom prst="rect">
            <a:avLst/>
          </a:prstGeom>
          <a:noFill/>
          <a:ln/>
        </p:spPr>
        <p:txBody>
          <a:bodyPr wrap="square" lIns="0" tIns="0" rIns="0" bIns="0" rtlCol="0" anchor="t"/>
          <a:lstStyle/>
          <a:p>
            <a:pPr indent="0" marL="0">
              <a:buNone/>
            </a:pPr>
            <a:r>
              <a:rPr lang="en-US" sz="1400" dirty="0">
                <a:solidFill>
                  <a:schemeClr val="tx2"/>
                </a:solidFill>
              </a:rPr>
              <a:t>Real: D = 0.9, loss = 0.11</a:t>
            </a:r>
            <a:endParaRPr lang="en-US" sz="1400" dirty="0"/>
          </a:p>
          <a:p>
            <a:pPr indent="0" marL="0">
              <a:buNone/>
            </a:pPr>
            <a:r>
              <a:rPr lang="en-US" sz="1400" dirty="0">
                <a:solidFill>
                  <a:schemeClr val="tx2"/>
                </a:solidFill>
              </a:rPr>
              <a:t>Fake: D = 0.1, loss = 0.11</a:t>
            </a:r>
            <a:endParaRPr lang="en-US" sz="1400" dirty="0"/>
          </a:p>
        </p:txBody>
      </p:sp>
      <p:sp>
        <p:nvSpPr>
          <p:cNvPr id="16" name="Forger example"/>
          <p:cNvSpPr/>
          <p:nvPr/>
        </p:nvSpPr>
        <p:spPr>
          <a:xfrm>
            <a:off x="5760720" y="2971800"/>
            <a:ext cx="2926080" cy="1554480"/>
          </a:xfrm>
          <a:prstGeom prst="roundRect">
            <a:avLst>
              <a:gd name="adj" fmla="val 7059"/>
            </a:avLst>
          </a:prstGeom>
          <a:solidFill>
            <a:schemeClr val="bg2"/>
          </a:solidFill>
          <a:ln/>
        </p:spPr>
      </p:sp>
      <p:sp>
        <p:nvSpPr>
          <p:cNvPr id="17" name="Shape 15"/>
          <p:cNvSpPr/>
          <p:nvPr/>
        </p:nvSpPr>
        <p:spPr>
          <a:xfrm>
            <a:off x="5943600" y="3108960"/>
            <a:ext cx="2103120" cy="274320"/>
          </a:xfrm>
          <a:prstGeom prst="roundRect">
            <a:avLst>
              <a:gd name="adj" fmla="val 50000"/>
            </a:avLst>
          </a:prstGeom>
          <a:solidFill>
            <a:schemeClr val="accent1"/>
          </a:solidFill>
          <a:ln/>
        </p:spPr>
      </p:sp>
      <p:sp>
        <p:nvSpPr>
          <p:cNvPr id="18" name="Text 16"/>
          <p:cNvSpPr txBox="1"/>
          <p:nvPr/>
        </p:nvSpPr>
        <p:spPr>
          <a:xfrm>
            <a:off x="5943600" y="3108960"/>
            <a:ext cx="2103120" cy="274320"/>
          </a:xfrm>
          <a:prstGeom prst="rect">
            <a:avLst/>
          </a:prstGeom>
          <a:noFill/>
          <a:ln/>
        </p:spPr>
        <p:txBody>
          <a:bodyPr wrap="square" lIns="0" tIns="0" rIns="0" bIns="0" rtlCol="0" anchor="ctr"/>
          <a:lstStyle/>
          <a:p>
            <a:pPr algn="ctr" indent="0" marL="0">
              <a:buNone/>
            </a:pPr>
            <a:r>
              <a:rPr lang="en-US" sz="1200" b="1" dirty="0">
                <a:solidFill>
                  <a:schemeClr val="tx1"/>
                </a:solidFill>
              </a:rPr>
              <a:t>G gets a strong signal</a:t>
            </a:r>
            <a:endParaRPr lang="en-US" sz="1200" dirty="0"/>
          </a:p>
        </p:txBody>
      </p:sp>
      <p:sp>
        <p:nvSpPr>
          <p:cNvPr id="19" name="Text 17"/>
          <p:cNvSpPr txBox="1"/>
          <p:nvPr/>
        </p:nvSpPr>
        <p:spPr>
          <a:xfrm>
            <a:off x="5943600" y="3520440"/>
            <a:ext cx="2606040" cy="914400"/>
          </a:xfrm>
          <a:prstGeom prst="rect">
            <a:avLst/>
          </a:prstGeom>
          <a:noFill/>
          <a:ln/>
        </p:spPr>
        <p:txBody>
          <a:bodyPr wrap="square" lIns="0" tIns="0" rIns="0" bIns="0" rtlCol="0" anchor="t"/>
          <a:lstStyle/>
          <a:p>
            <a:pPr indent="0" marL="0">
              <a:buNone/>
            </a:pPr>
            <a:r>
              <a:rPr lang="en-US" sz="1400" dirty="0">
                <a:solidFill>
                  <a:schemeClr val="tx2"/>
                </a:solidFill>
              </a:rPr>
              <a:t>G's loss = −log D(G(z)) = −log 0.1 = 2.30, so G must change a lot.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minimax game</a:t>
            </a:r>
            <a:endParaRPr lang="en-US" sz="3400" dirty="0"/>
          </a:p>
        </p:txBody>
      </p:sp>
      <p:sp>
        <p:nvSpPr>
          <p:cNvPr id="3" name="Minimax panel"/>
          <p:cNvSpPr/>
          <p:nvPr/>
        </p:nvSpPr>
        <p:spPr>
          <a:xfrm>
            <a:off x="457200" y="1234440"/>
            <a:ext cx="8229600" cy="1371600"/>
          </a:xfrm>
          <a:prstGeom prst="roundRect">
            <a:avLst>
              <a:gd name="adj" fmla="val 8000"/>
            </a:avLst>
          </a:prstGeom>
          <a:solidFill>
            <a:schemeClr val="tx1"/>
          </a:solidFill>
          <a:ln/>
        </p:spPr>
      </p:sp>
      <p:sp>
        <p:nvSpPr>
          <p:cNvPr id="4" name="Text 2"/>
          <p:cNvSpPr txBox="1"/>
          <p:nvPr/>
        </p:nvSpPr>
        <p:spPr>
          <a:xfrm>
            <a:off x="640080" y="1371600"/>
            <a:ext cx="7863840" cy="457200"/>
          </a:xfrm>
          <a:prstGeom prst="rect">
            <a:avLst/>
          </a:prstGeom>
          <a:noFill/>
          <a:ln/>
        </p:spPr>
        <p:txBody>
          <a:bodyPr wrap="square" lIns="0" tIns="0" rIns="0" bIns="0" rtlCol="0" anchor="t"/>
          <a:lstStyle/>
          <a:p>
            <a:pPr algn="ctr" indent="0" marL="0">
              <a:buNone/>
            </a:pPr>
            <a:r>
              <a:rPr lang="en-US" sz="2000" b="1" dirty="0">
                <a:solidFill>
                  <a:schemeClr val="accent3"/>
                </a:solidFill>
                <a:latin typeface="+mj-lt" pitchFamily="34" charset="0"/>
                <a:ea typeface="+mj-lt" pitchFamily="34" charset="-122"/>
                <a:cs typeface="+mj-lt" pitchFamily="34" charset="-120"/>
              </a:rPr>
              <a:t>min_G max_D V(D, G) = E_x[ log D(x) ] + E_z[ log(1 − D(G(z))) ]</a:t>
            </a:r>
            <a:endParaRPr lang="en-US" sz="2000" dirty="0"/>
          </a:p>
        </p:txBody>
      </p:sp>
      <p:sp>
        <p:nvSpPr>
          <p:cNvPr id="5" name="Text 3"/>
          <p:cNvSpPr txBox="1"/>
          <p:nvPr/>
        </p:nvSpPr>
        <p:spPr>
          <a:xfrm>
            <a:off x="640080" y="1920240"/>
            <a:ext cx="7863840" cy="274320"/>
          </a:xfrm>
          <a:prstGeom prst="rect">
            <a:avLst/>
          </a:prstGeom>
          <a:noFill/>
          <a:ln/>
        </p:spPr>
        <p:txBody>
          <a:bodyPr wrap="square" lIns="0" tIns="0" rIns="0" bIns="0" rtlCol="0" anchor="t"/>
          <a:lstStyle/>
          <a:p>
            <a:pPr algn="ctr" indent="0" marL="0">
              <a:buNone/>
            </a:pPr>
            <a:r>
              <a:rPr lang="en-US" sz="1400" dirty="0">
                <a:solidFill>
                  <a:schemeClr val="bg1"/>
                </a:solidFill>
              </a:rPr>
              <a:t>x comes from the real data, z is random noise.</a:t>
            </a:r>
            <a:endParaRPr lang="en-US" sz="1400" dirty="0"/>
          </a:p>
        </p:txBody>
      </p:sp>
      <p:sp>
        <p:nvSpPr>
          <p:cNvPr id="6" name="Text 4"/>
          <p:cNvSpPr txBox="1"/>
          <p:nvPr/>
        </p:nvSpPr>
        <p:spPr>
          <a:xfrm>
            <a:off x="640080" y="2240280"/>
            <a:ext cx="7863840" cy="274320"/>
          </a:xfrm>
          <a:prstGeom prst="rect">
            <a:avLst/>
          </a:prstGeom>
          <a:noFill/>
          <a:ln/>
        </p:spPr>
        <p:txBody>
          <a:bodyPr wrap="square" lIns="0" tIns="0" rIns="0" bIns="0" rtlCol="0" anchor="t"/>
          <a:lstStyle/>
          <a:p>
            <a:pPr algn="ctr" indent="0" marL="0">
              <a:buNone/>
            </a:pPr>
            <a:r>
              <a:rPr lang="en-US" sz="1400" dirty="0">
                <a:solidFill>
                  <a:srgbClr val="CFC6F5"/>
                </a:solidFill>
              </a:rPr>
              <a:t>Best possible detective: D*(x) = p_data(x) / ( p_data(x) + p_g(x) )</a:t>
            </a:r>
            <a:endParaRPr lang="en-US" sz="1400" dirty="0"/>
          </a:p>
        </p:txBody>
      </p:sp>
      <p:sp>
        <p:nvSpPr>
          <p:cNvPr id="7" name="Minimax card 1"/>
          <p:cNvSpPr/>
          <p:nvPr/>
        </p:nvSpPr>
        <p:spPr>
          <a:xfrm>
            <a:off x="457200" y="2788920"/>
            <a:ext cx="2624328" cy="1737360"/>
          </a:xfrm>
          <a:prstGeom prst="roundRect">
            <a:avLst>
              <a:gd name="adj" fmla="val 6316"/>
            </a:avLst>
          </a:prstGeom>
          <a:solidFill>
            <a:schemeClr val="bg2"/>
          </a:solidFill>
          <a:ln/>
        </p:spPr>
      </p:sp>
      <p:sp>
        <p:nvSpPr>
          <p:cNvPr id="8" name="Shape 6"/>
          <p:cNvSpPr/>
          <p:nvPr/>
        </p:nvSpPr>
        <p:spPr>
          <a:xfrm>
            <a:off x="640080" y="2971800"/>
            <a:ext cx="731520" cy="109728"/>
          </a:xfrm>
          <a:prstGeom prst="roundRect">
            <a:avLst>
              <a:gd name="adj" fmla="val 50000"/>
            </a:avLst>
          </a:prstGeom>
          <a:solidFill>
            <a:schemeClr val="accent2"/>
          </a:solidFill>
          <a:ln/>
        </p:spPr>
      </p:sp>
      <p:sp>
        <p:nvSpPr>
          <p:cNvPr id="9" name="Text 7"/>
          <p:cNvSpPr txBox="1"/>
          <p:nvPr/>
        </p:nvSpPr>
        <p:spPr>
          <a:xfrm>
            <a:off x="640080" y="3200400"/>
            <a:ext cx="2286000" cy="274320"/>
          </a:xfrm>
          <a:prstGeom prst="rect">
            <a:avLst/>
          </a:prstGeom>
          <a:noFill/>
          <a:ln/>
        </p:spPr>
        <p:txBody>
          <a:bodyPr wrap="square" lIns="0" tIns="0" rIns="0" bIns="0" rtlCol="0" anchor="t"/>
          <a:lstStyle/>
          <a:p>
            <a:pPr indent="0" marL="0">
              <a:buNone/>
            </a:pPr>
            <a:r>
              <a:rPr lang="en-US" sz="1600" b="1" dirty="0">
                <a:solidFill>
                  <a:schemeClr val="tx1"/>
                </a:solidFill>
              </a:rPr>
              <a:t>D maximises V</a:t>
            </a:r>
            <a:endParaRPr lang="en-US" sz="1600" dirty="0"/>
          </a:p>
        </p:txBody>
      </p:sp>
      <p:sp>
        <p:nvSpPr>
          <p:cNvPr id="10" name="Text 8"/>
          <p:cNvSpPr txBox="1"/>
          <p:nvPr/>
        </p:nvSpPr>
        <p:spPr>
          <a:xfrm>
            <a:off x="640080" y="3566160"/>
            <a:ext cx="2286000" cy="914400"/>
          </a:xfrm>
          <a:prstGeom prst="rect">
            <a:avLst/>
          </a:prstGeom>
          <a:noFill/>
          <a:ln/>
        </p:spPr>
        <p:txBody>
          <a:bodyPr wrap="square" lIns="0" tIns="0" rIns="0" bIns="0" rtlCol="0" anchor="t"/>
          <a:lstStyle/>
          <a:p>
            <a:pPr indent="0" marL="0">
              <a:buNone/>
            </a:pPr>
            <a:r>
              <a:rPr lang="en-US" sz="1400" dirty="0">
                <a:solidFill>
                  <a:schemeClr val="tx2"/>
                </a:solidFill>
              </a:rPr>
              <a:t>Score real images near 1 and fakes near 0.</a:t>
            </a:r>
            <a:endParaRPr lang="en-US" sz="1400" dirty="0"/>
          </a:p>
        </p:txBody>
      </p:sp>
      <p:sp>
        <p:nvSpPr>
          <p:cNvPr id="11" name="Minimax card 2"/>
          <p:cNvSpPr/>
          <p:nvPr/>
        </p:nvSpPr>
        <p:spPr>
          <a:xfrm>
            <a:off x="3259836" y="2788920"/>
            <a:ext cx="2624328" cy="1737360"/>
          </a:xfrm>
          <a:prstGeom prst="roundRect">
            <a:avLst>
              <a:gd name="adj" fmla="val 6316"/>
            </a:avLst>
          </a:prstGeom>
          <a:solidFill>
            <a:schemeClr val="bg2"/>
          </a:solidFill>
          <a:ln/>
        </p:spPr>
      </p:sp>
      <p:sp>
        <p:nvSpPr>
          <p:cNvPr id="12" name="Shape 10"/>
          <p:cNvSpPr/>
          <p:nvPr/>
        </p:nvSpPr>
        <p:spPr>
          <a:xfrm>
            <a:off x="3442716" y="2971800"/>
            <a:ext cx="731520" cy="109728"/>
          </a:xfrm>
          <a:prstGeom prst="roundRect">
            <a:avLst>
              <a:gd name="adj" fmla="val 50000"/>
            </a:avLst>
          </a:prstGeom>
          <a:solidFill>
            <a:schemeClr val="accent1"/>
          </a:solidFill>
          <a:ln/>
        </p:spPr>
      </p:sp>
      <p:sp>
        <p:nvSpPr>
          <p:cNvPr id="13" name="Text 11"/>
          <p:cNvSpPr txBox="1"/>
          <p:nvPr/>
        </p:nvSpPr>
        <p:spPr>
          <a:xfrm>
            <a:off x="3442716" y="3200400"/>
            <a:ext cx="2286000" cy="274320"/>
          </a:xfrm>
          <a:prstGeom prst="rect">
            <a:avLst/>
          </a:prstGeom>
          <a:noFill/>
          <a:ln/>
        </p:spPr>
        <p:txBody>
          <a:bodyPr wrap="square" lIns="0" tIns="0" rIns="0" bIns="0" rtlCol="0" anchor="t"/>
          <a:lstStyle/>
          <a:p>
            <a:pPr indent="0" marL="0">
              <a:buNone/>
            </a:pPr>
            <a:r>
              <a:rPr lang="en-US" sz="1600" b="1" dirty="0">
                <a:solidFill>
                  <a:schemeClr val="tx1"/>
                </a:solidFill>
              </a:rPr>
              <a:t>G minimises V</a:t>
            </a:r>
            <a:endParaRPr lang="en-US" sz="1600" dirty="0"/>
          </a:p>
        </p:txBody>
      </p:sp>
      <p:sp>
        <p:nvSpPr>
          <p:cNvPr id="14" name="Text 12"/>
          <p:cNvSpPr txBox="1"/>
          <p:nvPr/>
        </p:nvSpPr>
        <p:spPr>
          <a:xfrm>
            <a:off x="3442716" y="3566160"/>
            <a:ext cx="2286000" cy="914400"/>
          </a:xfrm>
          <a:prstGeom prst="rect">
            <a:avLst/>
          </a:prstGeom>
          <a:noFill/>
          <a:ln/>
        </p:spPr>
        <p:txBody>
          <a:bodyPr wrap="square" lIns="0" tIns="0" rIns="0" bIns="0" rtlCol="0" anchor="t"/>
          <a:lstStyle/>
          <a:p>
            <a:pPr indent="0" marL="0">
              <a:buNone/>
            </a:pPr>
            <a:r>
              <a:rPr lang="en-US" sz="1400" dirty="0">
                <a:solidFill>
                  <a:schemeClr val="tx2"/>
                </a:solidFill>
              </a:rPr>
              <a:t>Make fakes score high so log(1 − D(G(z))) falls.</a:t>
            </a:r>
            <a:endParaRPr lang="en-US" sz="1400" dirty="0"/>
          </a:p>
        </p:txBody>
      </p:sp>
      <p:sp>
        <p:nvSpPr>
          <p:cNvPr id="15" name="Minimax card 3"/>
          <p:cNvSpPr/>
          <p:nvPr/>
        </p:nvSpPr>
        <p:spPr>
          <a:xfrm>
            <a:off x="6062472" y="2788920"/>
            <a:ext cx="2624328" cy="1737360"/>
          </a:xfrm>
          <a:prstGeom prst="roundRect">
            <a:avLst>
              <a:gd name="adj" fmla="val 6316"/>
            </a:avLst>
          </a:prstGeom>
          <a:solidFill>
            <a:schemeClr val="bg2"/>
          </a:solidFill>
          <a:ln/>
        </p:spPr>
      </p:sp>
      <p:sp>
        <p:nvSpPr>
          <p:cNvPr id="16" name="Shape 14"/>
          <p:cNvSpPr/>
          <p:nvPr/>
        </p:nvSpPr>
        <p:spPr>
          <a:xfrm>
            <a:off x="6245352" y="2971800"/>
            <a:ext cx="731520" cy="109728"/>
          </a:xfrm>
          <a:prstGeom prst="roundRect">
            <a:avLst>
              <a:gd name="adj" fmla="val 50000"/>
            </a:avLst>
          </a:prstGeom>
          <a:solidFill>
            <a:schemeClr val="accent3"/>
          </a:solidFill>
          <a:ln/>
        </p:spPr>
      </p:sp>
      <p:sp>
        <p:nvSpPr>
          <p:cNvPr id="17" name="Text 15"/>
          <p:cNvSpPr txBox="1"/>
          <p:nvPr/>
        </p:nvSpPr>
        <p:spPr>
          <a:xfrm>
            <a:off x="6245352" y="3200400"/>
            <a:ext cx="2286000" cy="274320"/>
          </a:xfrm>
          <a:prstGeom prst="rect">
            <a:avLst/>
          </a:prstGeom>
          <a:noFill/>
          <a:ln/>
        </p:spPr>
        <p:txBody>
          <a:bodyPr wrap="square" lIns="0" tIns="0" rIns="0" bIns="0" rtlCol="0" anchor="t"/>
          <a:lstStyle/>
          <a:p>
            <a:pPr indent="0" marL="0">
              <a:buNone/>
            </a:pPr>
            <a:r>
              <a:rPr lang="en-US" sz="1600" b="1" dirty="0">
                <a:solidFill>
                  <a:schemeClr val="tx1"/>
                </a:solidFill>
              </a:rPr>
              <a:t>Equilibrium</a:t>
            </a:r>
            <a:endParaRPr lang="en-US" sz="1600" dirty="0"/>
          </a:p>
        </p:txBody>
      </p:sp>
      <p:sp>
        <p:nvSpPr>
          <p:cNvPr id="18" name="Text 16"/>
          <p:cNvSpPr txBox="1"/>
          <p:nvPr/>
        </p:nvSpPr>
        <p:spPr>
          <a:xfrm>
            <a:off x="6245352" y="3566160"/>
            <a:ext cx="2286000" cy="914400"/>
          </a:xfrm>
          <a:prstGeom prst="rect">
            <a:avLst/>
          </a:prstGeom>
          <a:noFill/>
          <a:ln/>
        </p:spPr>
        <p:txBody>
          <a:bodyPr wrap="square" lIns="0" tIns="0" rIns="0" bIns="0" rtlCol="0" anchor="t"/>
          <a:lstStyle/>
          <a:p>
            <a:pPr indent="0" marL="0">
              <a:buNone/>
            </a:pPr>
            <a:r>
              <a:rPr lang="en-US" sz="1400" dirty="0">
                <a:solidFill>
                  <a:schemeClr val="tx2"/>
                </a:solidFill>
              </a:rPr>
              <a:t>Fakes match real data (p_g = p_data) and D can only say 0.5.</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Training loop, step by step</a:t>
            </a:r>
            <a:endParaRPr lang="en-US" sz="3400" dirty="0"/>
          </a:p>
        </p:txBody>
      </p:sp>
      <p:sp>
        <p:nvSpPr>
          <p:cNvPr id="3" name="Shape 1"/>
          <p:cNvSpPr/>
          <p:nvPr/>
        </p:nvSpPr>
        <p:spPr>
          <a:xfrm>
            <a:off x="457200" y="1280160"/>
            <a:ext cx="411480" cy="411480"/>
          </a:xfrm>
          <a:prstGeom prst="ellipse">
            <a:avLst/>
          </a:prstGeom>
          <a:solidFill>
            <a:schemeClr val="accent3"/>
          </a:solidFill>
          <a:ln/>
        </p:spPr>
      </p:sp>
      <p:sp>
        <p:nvSpPr>
          <p:cNvPr id="4" name="Text 2"/>
          <p:cNvSpPr txBox="1"/>
          <p:nvPr/>
        </p:nvSpPr>
        <p:spPr>
          <a:xfrm>
            <a:off x="457200" y="1280160"/>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Text 3"/>
          <p:cNvSpPr txBox="1"/>
          <p:nvPr/>
        </p:nvSpPr>
        <p:spPr>
          <a:xfrm>
            <a:off x="1051560" y="1234440"/>
            <a:ext cx="4480560" cy="548640"/>
          </a:xfrm>
          <a:prstGeom prst="rect">
            <a:avLst/>
          </a:prstGeom>
          <a:noFill/>
          <a:ln/>
        </p:spPr>
        <p:txBody>
          <a:bodyPr wrap="square" lIns="0" tIns="0" rIns="0" bIns="0" rtlCol="0" anchor="ctr"/>
          <a:lstStyle/>
          <a:p>
            <a:pPr indent="0" marL="0">
              <a:buNone/>
            </a:pPr>
            <a:r>
              <a:rPr lang="en-US" sz="1500" dirty="0">
                <a:solidFill>
                  <a:schemeClr val="tx1"/>
                </a:solidFill>
              </a:rPr>
              <a:t>Sample a batch of real images x and a batch of noise z.</a:t>
            </a:r>
            <a:endParaRPr lang="en-US" sz="1500" dirty="0"/>
          </a:p>
        </p:txBody>
      </p:sp>
      <p:sp>
        <p:nvSpPr>
          <p:cNvPr id="6" name="Shape 4"/>
          <p:cNvSpPr/>
          <p:nvPr/>
        </p:nvSpPr>
        <p:spPr>
          <a:xfrm>
            <a:off x="457200" y="1938528"/>
            <a:ext cx="411480" cy="411480"/>
          </a:xfrm>
          <a:prstGeom prst="ellipse">
            <a:avLst/>
          </a:prstGeom>
          <a:solidFill>
            <a:schemeClr val="accent3"/>
          </a:solidFill>
          <a:ln/>
        </p:spPr>
      </p:sp>
      <p:sp>
        <p:nvSpPr>
          <p:cNvPr id="7" name="Text 5"/>
          <p:cNvSpPr txBox="1"/>
          <p:nvPr/>
        </p:nvSpPr>
        <p:spPr>
          <a:xfrm>
            <a:off x="457200" y="1938528"/>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8" name="Text 6"/>
          <p:cNvSpPr txBox="1"/>
          <p:nvPr/>
        </p:nvSpPr>
        <p:spPr>
          <a:xfrm>
            <a:off x="1051560" y="1892808"/>
            <a:ext cx="4480560" cy="548640"/>
          </a:xfrm>
          <a:prstGeom prst="rect">
            <a:avLst/>
          </a:prstGeom>
          <a:noFill/>
          <a:ln/>
        </p:spPr>
        <p:txBody>
          <a:bodyPr wrap="square" lIns="0" tIns="0" rIns="0" bIns="0" rtlCol="0" anchor="ctr"/>
          <a:lstStyle/>
          <a:p>
            <a:pPr indent="0" marL="0">
              <a:buNone/>
            </a:pPr>
            <a:r>
              <a:rPr lang="en-US" sz="1500" dirty="0">
                <a:solidFill>
                  <a:schemeClr val="tx1"/>
                </a:solidFill>
              </a:rPr>
              <a:t>Generate fakes: x̂ = G(z).</a:t>
            </a:r>
            <a:endParaRPr lang="en-US" sz="1500" dirty="0"/>
          </a:p>
        </p:txBody>
      </p:sp>
      <p:sp>
        <p:nvSpPr>
          <p:cNvPr id="9" name="Shape 7"/>
          <p:cNvSpPr/>
          <p:nvPr/>
        </p:nvSpPr>
        <p:spPr>
          <a:xfrm>
            <a:off x="457200" y="2596896"/>
            <a:ext cx="411480" cy="411480"/>
          </a:xfrm>
          <a:prstGeom prst="ellipse">
            <a:avLst/>
          </a:prstGeom>
          <a:solidFill>
            <a:schemeClr val="accent2"/>
          </a:solidFill>
          <a:ln/>
        </p:spPr>
      </p:sp>
      <p:sp>
        <p:nvSpPr>
          <p:cNvPr id="10" name="Text 8"/>
          <p:cNvSpPr txBox="1"/>
          <p:nvPr/>
        </p:nvSpPr>
        <p:spPr>
          <a:xfrm>
            <a:off x="457200" y="2596896"/>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Text 9"/>
          <p:cNvSpPr txBox="1"/>
          <p:nvPr/>
        </p:nvSpPr>
        <p:spPr>
          <a:xfrm>
            <a:off x="1051560" y="2551176"/>
            <a:ext cx="4480560" cy="548640"/>
          </a:xfrm>
          <a:prstGeom prst="rect">
            <a:avLst/>
          </a:prstGeom>
          <a:noFill/>
          <a:ln/>
        </p:spPr>
        <p:txBody>
          <a:bodyPr wrap="square" lIns="0" tIns="0" rIns="0" bIns="0" rtlCol="0" anchor="ctr"/>
          <a:lstStyle/>
          <a:p>
            <a:pPr indent="0" marL="0">
              <a:buNone/>
            </a:pPr>
            <a:r>
              <a:rPr lang="en-US" sz="1500" dirty="0">
                <a:solidFill>
                  <a:schemeClr val="tx1"/>
                </a:solidFill>
              </a:rPr>
              <a:t>Train D: update θd so it scores x high and G(z) low (G frozen).</a:t>
            </a:r>
            <a:endParaRPr lang="en-US" sz="1500" dirty="0"/>
          </a:p>
        </p:txBody>
      </p:sp>
      <p:sp>
        <p:nvSpPr>
          <p:cNvPr id="12" name="Shape 10"/>
          <p:cNvSpPr/>
          <p:nvPr/>
        </p:nvSpPr>
        <p:spPr>
          <a:xfrm>
            <a:off x="457200" y="3255264"/>
            <a:ext cx="411480" cy="411480"/>
          </a:xfrm>
          <a:prstGeom prst="ellipse">
            <a:avLst/>
          </a:prstGeom>
          <a:solidFill>
            <a:schemeClr val="accent1"/>
          </a:solidFill>
          <a:ln/>
        </p:spPr>
      </p:sp>
      <p:sp>
        <p:nvSpPr>
          <p:cNvPr id="13" name="Text 11"/>
          <p:cNvSpPr txBox="1"/>
          <p:nvPr/>
        </p:nvSpPr>
        <p:spPr>
          <a:xfrm>
            <a:off x="457200" y="3255264"/>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4" name="Text 12"/>
          <p:cNvSpPr txBox="1"/>
          <p:nvPr/>
        </p:nvSpPr>
        <p:spPr>
          <a:xfrm>
            <a:off x="1051560" y="3209544"/>
            <a:ext cx="4480560" cy="548640"/>
          </a:xfrm>
          <a:prstGeom prst="rect">
            <a:avLst/>
          </a:prstGeom>
          <a:noFill/>
          <a:ln/>
        </p:spPr>
        <p:txBody>
          <a:bodyPr wrap="square" lIns="0" tIns="0" rIns="0" bIns="0" rtlCol="0" anchor="ctr"/>
          <a:lstStyle/>
          <a:p>
            <a:pPr indent="0" marL="0">
              <a:buNone/>
            </a:pPr>
            <a:r>
              <a:rPr lang="en-US" sz="1500" dirty="0">
                <a:solidFill>
                  <a:schemeClr val="tx1"/>
                </a:solidFill>
              </a:rPr>
              <a:t>Train G: update θg so D scores G(z) high (D frozen).</a:t>
            </a:r>
            <a:endParaRPr lang="en-US" sz="1500" dirty="0"/>
          </a:p>
        </p:txBody>
      </p:sp>
      <p:sp>
        <p:nvSpPr>
          <p:cNvPr id="15" name="Shape 13"/>
          <p:cNvSpPr/>
          <p:nvPr/>
        </p:nvSpPr>
        <p:spPr>
          <a:xfrm>
            <a:off x="457200" y="3913632"/>
            <a:ext cx="411480" cy="411480"/>
          </a:xfrm>
          <a:prstGeom prst="ellipse">
            <a:avLst/>
          </a:prstGeom>
          <a:solidFill>
            <a:schemeClr val="accent3"/>
          </a:solidFill>
          <a:ln/>
        </p:spPr>
      </p:sp>
      <p:sp>
        <p:nvSpPr>
          <p:cNvPr id="16" name="Text 14"/>
          <p:cNvSpPr txBox="1"/>
          <p:nvPr/>
        </p:nvSpPr>
        <p:spPr>
          <a:xfrm>
            <a:off x="457200" y="3913632"/>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7" name="Text 15"/>
          <p:cNvSpPr txBox="1"/>
          <p:nvPr/>
        </p:nvSpPr>
        <p:spPr>
          <a:xfrm>
            <a:off x="1051560" y="3867912"/>
            <a:ext cx="4480560" cy="548640"/>
          </a:xfrm>
          <a:prstGeom prst="rect">
            <a:avLst/>
          </a:prstGeom>
          <a:noFill/>
          <a:ln/>
        </p:spPr>
        <p:txBody>
          <a:bodyPr wrap="square" lIns="0" tIns="0" rIns="0" bIns="0" rtlCol="0" anchor="ctr"/>
          <a:lstStyle/>
          <a:p>
            <a:pPr indent="0" marL="0">
              <a:buNone/>
            </a:pPr>
            <a:r>
              <a:rPr lang="en-US" sz="1500" dirty="0">
                <a:solidFill>
                  <a:schemeClr val="tx1"/>
                </a:solidFill>
              </a:rPr>
              <a:t>Repeat for many epochs; check sample images as you go.</a:t>
            </a:r>
            <a:endParaRPr lang="en-US" sz="1500" dirty="0"/>
          </a:p>
        </p:txBody>
      </p:sp>
      <p:graphicFrame>
        <p:nvGraphicFramePr>
          <p:cNvPr id="18" name="Chart 0" descr=""/>
          <p:cNvGraphicFramePr/>
          <p:nvPr/>
        </p:nvGraphicFramePr>
        <p:xfrm>
          <a:off x="5669280" y="1188720"/>
          <a:ext cx="3017520" cy="28346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669280" y="4069080"/>
            <a:ext cx="3017520" cy="502920"/>
          </a:xfrm>
          <a:prstGeom prst="rect">
            <a:avLst/>
          </a:prstGeom>
          <a:noFill/>
          <a:ln/>
        </p:spPr>
        <p:txBody>
          <a:bodyPr wrap="square" lIns="0" tIns="0" rIns="0" bIns="0" rtlCol="0" anchor="t"/>
          <a:lstStyle/>
          <a:p>
            <a:pPr indent="0" marL="0">
              <a:buNone/>
            </a:pPr>
            <a:r>
              <a:rPr lang="en-US" sz="1400" i="1" dirty="0">
                <a:solidFill>
                  <a:schemeClr val="tx2"/>
                </a:solidFill>
              </a:rPr>
              <a:t>Losses hover rather than fall to zero. Judge by sample quality.</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GAN training in code</a:t>
            </a:r>
            <a:endParaRPr lang="en-US" sz="3400" dirty="0"/>
          </a:p>
        </p:txBody>
      </p:sp>
      <p:sp>
        <p:nvSpPr>
          <p:cNvPr id="3" name="Code panel"/>
          <p:cNvSpPr/>
          <p:nvPr/>
        </p:nvSpPr>
        <p:spPr>
          <a:xfrm>
            <a:off x="457200" y="1234440"/>
            <a:ext cx="5486400" cy="3291840"/>
          </a:xfrm>
          <a:prstGeom prst="roundRect">
            <a:avLst>
              <a:gd name="adj" fmla="val 3333"/>
            </a:avLst>
          </a:prstGeom>
          <a:solidFill>
            <a:schemeClr val="tx1"/>
          </a:solidFill>
          <a:ln/>
        </p:spPr>
      </p:sp>
      <p:sp>
        <p:nvSpPr>
          <p:cNvPr id="4" name="Text 2"/>
          <p:cNvSpPr txBox="1"/>
          <p:nvPr/>
        </p:nvSpPr>
        <p:spPr>
          <a:xfrm>
            <a:off x="685800" y="1371600"/>
            <a:ext cx="5120640" cy="306324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for real in loader: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z = torch.randn(B, 100)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fake = G(z)</a:t>
            </a:r>
            <a:endParaRPr lang="en-US" sz="1100" dirty="0"/>
          </a:p>
          <a:p>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1) train the discriminator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d_real = bce(D(real), ones)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d_fake = bce(D(fake.detach()), zeros)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d_loss = d_real + d_fake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d_opt.zero_grad()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d_loss.backward()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d_opt.step()</a:t>
            </a:r>
            <a:endParaRPr lang="en-US" sz="1100" dirty="0"/>
          </a:p>
          <a:p>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2) train the generator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g_loss = bce(D(fake), ones)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g_opt.zero_grad()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g_loss.backward()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g_opt.step()</a:t>
            </a:r>
            <a:endParaRPr lang="en-US" sz="1100" dirty="0"/>
          </a:p>
        </p:txBody>
      </p:sp>
      <p:sp>
        <p:nvSpPr>
          <p:cNvPr id="5" name="Code tip 1"/>
          <p:cNvSpPr/>
          <p:nvPr/>
        </p:nvSpPr>
        <p:spPr>
          <a:xfrm>
            <a:off x="6217920" y="1234440"/>
            <a:ext cx="2468880" cy="1005840"/>
          </a:xfrm>
          <a:prstGeom prst="roundRect">
            <a:avLst>
              <a:gd name="adj" fmla="val 10909"/>
            </a:avLst>
          </a:prstGeom>
          <a:solidFill>
            <a:schemeClr val="bg2"/>
          </a:solidFill>
          <a:ln/>
        </p:spPr>
      </p:sp>
      <p:sp>
        <p:nvSpPr>
          <p:cNvPr id="6" name="Shape 4"/>
          <p:cNvSpPr/>
          <p:nvPr/>
        </p:nvSpPr>
        <p:spPr>
          <a:xfrm>
            <a:off x="6217920" y="1399032"/>
            <a:ext cx="91440" cy="365760"/>
          </a:xfrm>
          <a:prstGeom prst="roundRect">
            <a:avLst>
              <a:gd name="adj" fmla="val 50000"/>
            </a:avLst>
          </a:prstGeom>
          <a:solidFill>
            <a:schemeClr val="accent2"/>
          </a:solidFill>
          <a:ln/>
        </p:spPr>
      </p:sp>
      <p:sp>
        <p:nvSpPr>
          <p:cNvPr id="7" name="Text 5"/>
          <p:cNvSpPr txBox="1"/>
          <p:nvPr/>
        </p:nvSpPr>
        <p:spPr>
          <a:xfrm>
            <a:off x="6446520" y="1344168"/>
            <a:ext cx="2148840" cy="274320"/>
          </a:xfrm>
          <a:prstGeom prst="rect">
            <a:avLst/>
          </a:prstGeom>
          <a:noFill/>
          <a:ln/>
        </p:spPr>
        <p:txBody>
          <a:bodyPr wrap="square" lIns="0" tIns="0" rIns="0" bIns="0" rtlCol="0" anchor="t"/>
          <a:lstStyle/>
          <a:p>
            <a:pPr indent="0" marL="0">
              <a:buNone/>
            </a:pPr>
            <a:r>
              <a:rPr lang="en-US" sz="1400" b="1" dirty="0">
                <a:solidFill>
                  <a:schemeClr val="tx1"/>
                </a:solidFill>
              </a:rPr>
              <a:t>detach()</a:t>
            </a:r>
            <a:endParaRPr lang="en-US" sz="1400" dirty="0"/>
          </a:p>
        </p:txBody>
      </p:sp>
      <p:sp>
        <p:nvSpPr>
          <p:cNvPr id="8" name="Text 6"/>
          <p:cNvSpPr txBox="1"/>
          <p:nvPr/>
        </p:nvSpPr>
        <p:spPr>
          <a:xfrm>
            <a:off x="6446520" y="1645920"/>
            <a:ext cx="2148840" cy="548640"/>
          </a:xfrm>
          <a:prstGeom prst="rect">
            <a:avLst/>
          </a:prstGeom>
          <a:noFill/>
          <a:ln/>
        </p:spPr>
        <p:txBody>
          <a:bodyPr wrap="square" lIns="0" tIns="0" rIns="0" bIns="0" rtlCol="0" anchor="t"/>
          <a:lstStyle/>
          <a:p>
            <a:pPr indent="0" marL="0">
              <a:buNone/>
            </a:pPr>
            <a:r>
              <a:rPr lang="en-US" sz="1300" dirty="0">
                <a:solidFill>
                  <a:schemeClr val="tx2"/>
                </a:solidFill>
              </a:rPr>
              <a:t>Stops D's loss from changing G.</a:t>
            </a:r>
            <a:endParaRPr lang="en-US" sz="1300" dirty="0"/>
          </a:p>
        </p:txBody>
      </p:sp>
      <p:sp>
        <p:nvSpPr>
          <p:cNvPr id="9" name="Code tip 2"/>
          <p:cNvSpPr/>
          <p:nvPr/>
        </p:nvSpPr>
        <p:spPr>
          <a:xfrm>
            <a:off x="6217920" y="2331720"/>
            <a:ext cx="2468880" cy="1005840"/>
          </a:xfrm>
          <a:prstGeom prst="roundRect">
            <a:avLst>
              <a:gd name="adj" fmla="val 10909"/>
            </a:avLst>
          </a:prstGeom>
          <a:solidFill>
            <a:schemeClr val="bg2"/>
          </a:solidFill>
          <a:ln/>
        </p:spPr>
      </p:sp>
      <p:sp>
        <p:nvSpPr>
          <p:cNvPr id="10" name="Shape 8"/>
          <p:cNvSpPr/>
          <p:nvPr/>
        </p:nvSpPr>
        <p:spPr>
          <a:xfrm>
            <a:off x="6217920" y="2496312"/>
            <a:ext cx="91440" cy="365760"/>
          </a:xfrm>
          <a:prstGeom prst="roundRect">
            <a:avLst>
              <a:gd name="adj" fmla="val 50000"/>
            </a:avLst>
          </a:prstGeom>
          <a:solidFill>
            <a:schemeClr val="accent1"/>
          </a:solidFill>
          <a:ln/>
        </p:spPr>
      </p:sp>
      <p:sp>
        <p:nvSpPr>
          <p:cNvPr id="11" name="Text 9"/>
          <p:cNvSpPr txBox="1"/>
          <p:nvPr/>
        </p:nvSpPr>
        <p:spPr>
          <a:xfrm>
            <a:off x="6446520" y="2441448"/>
            <a:ext cx="2148840" cy="274320"/>
          </a:xfrm>
          <a:prstGeom prst="rect">
            <a:avLst/>
          </a:prstGeom>
          <a:noFill/>
          <a:ln/>
        </p:spPr>
        <p:txBody>
          <a:bodyPr wrap="square" lIns="0" tIns="0" rIns="0" bIns="0" rtlCol="0" anchor="t"/>
          <a:lstStyle/>
          <a:p>
            <a:pPr indent="0" marL="0">
              <a:buNone/>
            </a:pPr>
            <a:r>
              <a:rPr lang="en-US" sz="1400" b="1" dirty="0">
                <a:solidFill>
                  <a:schemeClr val="tx1"/>
                </a:solidFill>
              </a:rPr>
              <a:t>Target = ones for G</a:t>
            </a:r>
            <a:endParaRPr lang="en-US" sz="1400" dirty="0"/>
          </a:p>
        </p:txBody>
      </p:sp>
      <p:sp>
        <p:nvSpPr>
          <p:cNvPr id="12" name="Text 10"/>
          <p:cNvSpPr txBox="1"/>
          <p:nvPr/>
        </p:nvSpPr>
        <p:spPr>
          <a:xfrm>
            <a:off x="6446520" y="2743200"/>
            <a:ext cx="2148840" cy="548640"/>
          </a:xfrm>
          <a:prstGeom prst="rect">
            <a:avLst/>
          </a:prstGeom>
          <a:noFill/>
          <a:ln/>
        </p:spPr>
        <p:txBody>
          <a:bodyPr wrap="square" lIns="0" tIns="0" rIns="0" bIns="0" rtlCol="0" anchor="t"/>
          <a:lstStyle/>
          <a:p>
            <a:pPr indent="0" marL="0">
              <a:buNone/>
            </a:pPr>
            <a:r>
              <a:rPr lang="en-US" sz="1300" dirty="0">
                <a:solidFill>
                  <a:schemeClr val="tx2"/>
                </a:solidFill>
              </a:rPr>
              <a:t>G is rewarded when D says real.</a:t>
            </a:r>
            <a:endParaRPr lang="en-US" sz="1300" dirty="0"/>
          </a:p>
        </p:txBody>
      </p:sp>
      <p:sp>
        <p:nvSpPr>
          <p:cNvPr id="13" name="Code tip 3"/>
          <p:cNvSpPr/>
          <p:nvPr/>
        </p:nvSpPr>
        <p:spPr>
          <a:xfrm>
            <a:off x="6217920" y="3429000"/>
            <a:ext cx="2468880" cy="1005840"/>
          </a:xfrm>
          <a:prstGeom prst="roundRect">
            <a:avLst>
              <a:gd name="adj" fmla="val 10909"/>
            </a:avLst>
          </a:prstGeom>
          <a:solidFill>
            <a:schemeClr val="bg2"/>
          </a:solidFill>
          <a:ln/>
        </p:spPr>
      </p:sp>
      <p:sp>
        <p:nvSpPr>
          <p:cNvPr id="14" name="Shape 12"/>
          <p:cNvSpPr/>
          <p:nvPr/>
        </p:nvSpPr>
        <p:spPr>
          <a:xfrm>
            <a:off x="6217920" y="3593592"/>
            <a:ext cx="91440" cy="365760"/>
          </a:xfrm>
          <a:prstGeom prst="roundRect">
            <a:avLst>
              <a:gd name="adj" fmla="val 50000"/>
            </a:avLst>
          </a:prstGeom>
          <a:solidFill>
            <a:schemeClr val="accent3"/>
          </a:solidFill>
          <a:ln/>
        </p:spPr>
      </p:sp>
      <p:sp>
        <p:nvSpPr>
          <p:cNvPr id="15" name="Text 13"/>
          <p:cNvSpPr txBox="1"/>
          <p:nvPr/>
        </p:nvSpPr>
        <p:spPr>
          <a:xfrm>
            <a:off x="6446520" y="3538728"/>
            <a:ext cx="2148840" cy="274320"/>
          </a:xfrm>
          <a:prstGeom prst="rect">
            <a:avLst/>
          </a:prstGeom>
          <a:noFill/>
          <a:ln/>
        </p:spPr>
        <p:txBody>
          <a:bodyPr wrap="square" lIns="0" tIns="0" rIns="0" bIns="0" rtlCol="0" anchor="t"/>
          <a:lstStyle/>
          <a:p>
            <a:pPr indent="0" marL="0">
              <a:buNone/>
            </a:pPr>
            <a:r>
              <a:rPr lang="en-US" sz="1400" b="1" dirty="0">
                <a:solidFill>
                  <a:schemeClr val="tx1"/>
                </a:solidFill>
              </a:rPr>
              <a:t>Two optimizers</a:t>
            </a:r>
            <a:endParaRPr lang="en-US" sz="1400" dirty="0"/>
          </a:p>
        </p:txBody>
      </p:sp>
      <p:sp>
        <p:nvSpPr>
          <p:cNvPr id="16" name="Text 14"/>
          <p:cNvSpPr txBox="1"/>
          <p:nvPr/>
        </p:nvSpPr>
        <p:spPr>
          <a:xfrm>
            <a:off x="6446520" y="3840480"/>
            <a:ext cx="2148840" cy="548640"/>
          </a:xfrm>
          <a:prstGeom prst="rect">
            <a:avLst/>
          </a:prstGeom>
          <a:noFill/>
          <a:ln/>
        </p:spPr>
        <p:txBody>
          <a:bodyPr wrap="square" lIns="0" tIns="0" rIns="0" bIns="0" rtlCol="0" anchor="t"/>
          <a:lstStyle/>
          <a:p>
            <a:pPr indent="0" marL="0">
              <a:buNone/>
            </a:pPr>
            <a:r>
              <a:rPr lang="en-US" sz="1300" dirty="0">
                <a:solidFill>
                  <a:schemeClr val="tx2"/>
                </a:solidFill>
              </a:rPr>
              <a:t>Separate Adam optimizers. lr 2e-4, beta1 0.5 works well.</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Why GANs are Generative AI</a:t>
            </a:r>
            <a:endParaRPr lang="en-US" sz="3400" dirty="0"/>
          </a:p>
        </p:txBody>
      </p:sp>
      <p:sp>
        <p:nvSpPr>
          <p:cNvPr id="3" name="Why card 1"/>
          <p:cNvSpPr/>
          <p:nvPr/>
        </p:nvSpPr>
        <p:spPr>
          <a:xfrm>
            <a:off x="457200" y="1234440"/>
            <a:ext cx="2624328" cy="1828800"/>
          </a:xfrm>
          <a:prstGeom prst="roundRect">
            <a:avLst>
              <a:gd name="adj" fmla="val 6000"/>
            </a:avLst>
          </a:prstGeom>
          <a:solidFill>
            <a:schemeClr val="bg2"/>
          </a:solidFill>
          <a:ln/>
        </p:spPr>
      </p:sp>
      <p:sp>
        <p:nvSpPr>
          <p:cNvPr id="4" name="Shape 2"/>
          <p:cNvSpPr/>
          <p:nvPr/>
        </p:nvSpPr>
        <p:spPr>
          <a:xfrm>
            <a:off x="640080" y="1417320"/>
            <a:ext cx="411480" cy="411480"/>
          </a:xfrm>
          <a:prstGeom prst="ellipse">
            <a:avLst/>
          </a:prstGeom>
          <a:solidFill>
            <a:schemeClr val="accent3"/>
          </a:solidFill>
          <a:ln/>
        </p:spPr>
      </p:sp>
      <p:sp>
        <p:nvSpPr>
          <p:cNvPr id="5" name="Text 3"/>
          <p:cNvSpPr txBox="1"/>
          <p:nvPr/>
        </p:nvSpPr>
        <p:spPr>
          <a:xfrm>
            <a:off x="640080" y="1417320"/>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 4"/>
          <p:cNvSpPr txBox="1"/>
          <p:nvPr/>
        </p:nvSpPr>
        <p:spPr>
          <a:xfrm>
            <a:off x="640080" y="1920240"/>
            <a:ext cx="2286000" cy="274320"/>
          </a:xfrm>
          <a:prstGeom prst="rect">
            <a:avLst/>
          </a:prstGeom>
          <a:noFill/>
          <a:ln/>
        </p:spPr>
        <p:txBody>
          <a:bodyPr wrap="square" lIns="0" tIns="0" rIns="0" bIns="0" rtlCol="0" anchor="t"/>
          <a:lstStyle/>
          <a:p>
            <a:pPr indent="0" marL="0">
              <a:buNone/>
            </a:pPr>
            <a:r>
              <a:rPr lang="en-US" sz="1600" b="1" dirty="0">
                <a:solidFill>
                  <a:schemeClr val="tx1"/>
                </a:solidFill>
              </a:rPr>
              <a:t>Learns the distribution</a:t>
            </a:r>
            <a:endParaRPr lang="en-US" sz="1600" dirty="0"/>
          </a:p>
        </p:txBody>
      </p:sp>
      <p:sp>
        <p:nvSpPr>
          <p:cNvPr id="7" name="Text 5"/>
          <p:cNvSpPr txBox="1"/>
          <p:nvPr/>
        </p:nvSpPr>
        <p:spPr>
          <a:xfrm>
            <a:off x="640080" y="2286000"/>
            <a:ext cx="2286000" cy="731520"/>
          </a:xfrm>
          <a:prstGeom prst="rect">
            <a:avLst/>
          </a:prstGeom>
          <a:noFill/>
          <a:ln/>
        </p:spPr>
        <p:txBody>
          <a:bodyPr wrap="square" lIns="0" tIns="0" rIns="0" bIns="0" rtlCol="0" anchor="t"/>
          <a:lstStyle/>
          <a:p>
            <a:pPr indent="0" marL="0">
              <a:buNone/>
            </a:pPr>
            <a:r>
              <a:rPr lang="en-US" sz="1400" dirty="0">
                <a:solidFill>
                  <a:schemeClr val="tx2"/>
                </a:solidFill>
              </a:rPr>
              <a:t>After training, G's outputs follow p_g, which approximates p_data.</a:t>
            </a:r>
            <a:endParaRPr lang="en-US" sz="1400" dirty="0"/>
          </a:p>
        </p:txBody>
      </p:sp>
      <p:sp>
        <p:nvSpPr>
          <p:cNvPr id="8" name="Why card 2"/>
          <p:cNvSpPr/>
          <p:nvPr/>
        </p:nvSpPr>
        <p:spPr>
          <a:xfrm>
            <a:off x="3259836" y="1234440"/>
            <a:ext cx="2624328" cy="1828800"/>
          </a:xfrm>
          <a:prstGeom prst="roundRect">
            <a:avLst>
              <a:gd name="adj" fmla="val 6000"/>
            </a:avLst>
          </a:prstGeom>
          <a:solidFill>
            <a:schemeClr val="bg2"/>
          </a:solidFill>
          <a:ln/>
        </p:spPr>
      </p:sp>
      <p:sp>
        <p:nvSpPr>
          <p:cNvPr id="9" name="Shape 7"/>
          <p:cNvSpPr/>
          <p:nvPr/>
        </p:nvSpPr>
        <p:spPr>
          <a:xfrm>
            <a:off x="3442716" y="1417320"/>
            <a:ext cx="411480" cy="411480"/>
          </a:xfrm>
          <a:prstGeom prst="ellipse">
            <a:avLst/>
          </a:prstGeom>
          <a:solidFill>
            <a:schemeClr val="accent3"/>
          </a:solidFill>
          <a:ln/>
        </p:spPr>
      </p:sp>
      <p:sp>
        <p:nvSpPr>
          <p:cNvPr id="10" name="Text 8"/>
          <p:cNvSpPr txBox="1"/>
          <p:nvPr/>
        </p:nvSpPr>
        <p:spPr>
          <a:xfrm>
            <a:off x="3442716" y="1417320"/>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 9"/>
          <p:cNvSpPr txBox="1"/>
          <p:nvPr/>
        </p:nvSpPr>
        <p:spPr>
          <a:xfrm>
            <a:off x="3442716" y="1920240"/>
            <a:ext cx="2286000" cy="274320"/>
          </a:xfrm>
          <a:prstGeom prst="rect">
            <a:avLst/>
          </a:prstGeom>
          <a:noFill/>
          <a:ln/>
        </p:spPr>
        <p:txBody>
          <a:bodyPr wrap="square" lIns="0" tIns="0" rIns="0" bIns="0" rtlCol="0" anchor="t"/>
          <a:lstStyle/>
          <a:p>
            <a:pPr indent="0" marL="0">
              <a:buNone/>
            </a:pPr>
            <a:r>
              <a:rPr lang="en-US" sz="1600" b="1" dirty="0">
                <a:solidFill>
                  <a:schemeClr val="tx1"/>
                </a:solidFill>
              </a:rPr>
              <a:t>Samples new data</a:t>
            </a:r>
            <a:endParaRPr lang="en-US" sz="1600" dirty="0"/>
          </a:p>
        </p:txBody>
      </p:sp>
      <p:sp>
        <p:nvSpPr>
          <p:cNvPr id="12" name="Text 10"/>
          <p:cNvSpPr txBox="1"/>
          <p:nvPr/>
        </p:nvSpPr>
        <p:spPr>
          <a:xfrm>
            <a:off x="3442716" y="2286000"/>
            <a:ext cx="2286000" cy="731520"/>
          </a:xfrm>
          <a:prstGeom prst="rect">
            <a:avLst/>
          </a:prstGeom>
          <a:noFill/>
          <a:ln/>
        </p:spPr>
        <p:txBody>
          <a:bodyPr wrap="square" lIns="0" tIns="0" rIns="0" bIns="0" rtlCol="0" anchor="t"/>
          <a:lstStyle/>
          <a:p>
            <a:pPr indent="0" marL="0">
              <a:buNone/>
            </a:pPr>
            <a:r>
              <a:rPr lang="en-US" sz="1400" dirty="0">
                <a:solidFill>
                  <a:schemeClr val="tx2"/>
                </a:solidFill>
              </a:rPr>
              <a:t>Every new noise vector z gives a new image never seen in training.</a:t>
            </a:r>
            <a:endParaRPr lang="en-US" sz="1400" dirty="0"/>
          </a:p>
        </p:txBody>
      </p:sp>
      <p:sp>
        <p:nvSpPr>
          <p:cNvPr id="13" name="Why card 3"/>
          <p:cNvSpPr/>
          <p:nvPr/>
        </p:nvSpPr>
        <p:spPr>
          <a:xfrm>
            <a:off x="6062472" y="1234440"/>
            <a:ext cx="2624328" cy="1828800"/>
          </a:xfrm>
          <a:prstGeom prst="roundRect">
            <a:avLst>
              <a:gd name="adj" fmla="val 6000"/>
            </a:avLst>
          </a:prstGeom>
          <a:solidFill>
            <a:schemeClr val="bg2"/>
          </a:solidFill>
          <a:ln/>
        </p:spPr>
      </p:sp>
      <p:sp>
        <p:nvSpPr>
          <p:cNvPr id="14" name="Shape 12"/>
          <p:cNvSpPr/>
          <p:nvPr/>
        </p:nvSpPr>
        <p:spPr>
          <a:xfrm>
            <a:off x="6245352" y="1417320"/>
            <a:ext cx="411480" cy="411480"/>
          </a:xfrm>
          <a:prstGeom prst="ellipse">
            <a:avLst/>
          </a:prstGeom>
          <a:solidFill>
            <a:schemeClr val="accent3"/>
          </a:solidFill>
          <a:ln/>
        </p:spPr>
      </p:sp>
      <p:sp>
        <p:nvSpPr>
          <p:cNvPr id="15" name="Text 13"/>
          <p:cNvSpPr txBox="1"/>
          <p:nvPr/>
        </p:nvSpPr>
        <p:spPr>
          <a:xfrm>
            <a:off x="6245352" y="1417320"/>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Text 14"/>
          <p:cNvSpPr txBox="1"/>
          <p:nvPr/>
        </p:nvSpPr>
        <p:spPr>
          <a:xfrm>
            <a:off x="6245352" y="1920240"/>
            <a:ext cx="2286000" cy="274320"/>
          </a:xfrm>
          <a:prstGeom prst="rect">
            <a:avLst/>
          </a:prstGeom>
          <a:noFill/>
          <a:ln/>
        </p:spPr>
        <p:txBody>
          <a:bodyPr wrap="square" lIns="0" tIns="0" rIns="0" bIns="0" rtlCol="0" anchor="t"/>
          <a:lstStyle/>
          <a:p>
            <a:pPr indent="0" marL="0">
              <a:buNone/>
            </a:pPr>
            <a:r>
              <a:rPr lang="en-US" sz="1600" b="1" dirty="0">
                <a:solidFill>
                  <a:schemeClr val="tx1"/>
                </a:solidFill>
              </a:rPr>
              <a:t>Needs no labels</a:t>
            </a:r>
            <a:endParaRPr lang="en-US" sz="1600" dirty="0"/>
          </a:p>
        </p:txBody>
      </p:sp>
      <p:sp>
        <p:nvSpPr>
          <p:cNvPr id="17" name="Text 15"/>
          <p:cNvSpPr txBox="1"/>
          <p:nvPr/>
        </p:nvSpPr>
        <p:spPr>
          <a:xfrm>
            <a:off x="6245352" y="2286000"/>
            <a:ext cx="2286000" cy="731520"/>
          </a:xfrm>
          <a:prstGeom prst="rect">
            <a:avLst/>
          </a:prstGeom>
          <a:noFill/>
          <a:ln/>
        </p:spPr>
        <p:txBody>
          <a:bodyPr wrap="square" lIns="0" tIns="0" rIns="0" bIns="0" rtlCol="0" anchor="t"/>
          <a:lstStyle/>
          <a:p>
            <a:pPr indent="0" marL="0">
              <a:buNone/>
            </a:pPr>
            <a:r>
              <a:rPr lang="en-US" sz="1400" dirty="0">
                <a:solidFill>
                  <a:schemeClr val="tx2"/>
                </a:solidFill>
              </a:rPr>
              <a:t>A basic GAN learns from raw, unlabelled data.</a:t>
            </a:r>
            <a:endParaRPr lang="en-US" sz="1400" dirty="0"/>
          </a:p>
        </p:txBody>
      </p:sp>
      <p:sp>
        <p:nvSpPr>
          <p:cNvPr id="18" name="Why banner"/>
          <p:cNvSpPr/>
          <p:nvPr/>
        </p:nvSpPr>
        <p:spPr>
          <a:xfrm>
            <a:off x="457200" y="3246120"/>
            <a:ext cx="8229600" cy="1280160"/>
          </a:xfrm>
          <a:prstGeom prst="roundRect">
            <a:avLst>
              <a:gd name="adj" fmla="val 8571"/>
            </a:avLst>
          </a:prstGeom>
          <a:solidFill>
            <a:schemeClr val="tx1"/>
          </a:solidFill>
          <a:ln/>
        </p:spPr>
      </p:sp>
      <p:sp>
        <p:nvSpPr>
          <p:cNvPr id="19" name="Text 17"/>
          <p:cNvSpPr txBox="1"/>
          <p:nvPr/>
        </p:nvSpPr>
        <p:spPr>
          <a:xfrm>
            <a:off x="457200" y="3383280"/>
            <a:ext cx="8229600" cy="457200"/>
          </a:xfrm>
          <a:prstGeom prst="rect">
            <a:avLst/>
          </a:prstGeom>
          <a:noFill/>
          <a:ln/>
        </p:spPr>
        <p:txBody>
          <a:bodyPr wrap="square" lIns="0" tIns="0" rIns="0" bIns="0" rtlCol="0" anchor="t"/>
          <a:lstStyle/>
          <a:p>
            <a:pPr algn="ctr" indent="0" marL="0">
              <a:buNone/>
            </a:pPr>
            <a:r>
              <a:rPr lang="en-US" sz="2400" b="1" dirty="0">
                <a:solidFill>
                  <a:schemeClr val="accent3"/>
                </a:solidFill>
                <a:latin typeface="+mj-lt" pitchFamily="34" charset="0"/>
                <a:ea typeface="+mj-lt" pitchFamily="34" charset="-122"/>
                <a:cs typeface="+mj-lt" pitchFamily="34" charset="-120"/>
              </a:rPr>
              <a:t>z ~ p_z   →   G   →   x̂ ~ p_g ≈ p_data</a:t>
            </a:r>
            <a:endParaRPr lang="en-US" sz="2400" dirty="0"/>
          </a:p>
        </p:txBody>
      </p:sp>
      <p:sp>
        <p:nvSpPr>
          <p:cNvPr id="20" name="Text 18"/>
          <p:cNvSpPr txBox="1"/>
          <p:nvPr/>
        </p:nvSpPr>
        <p:spPr>
          <a:xfrm>
            <a:off x="731520" y="3931920"/>
            <a:ext cx="7680960" cy="457200"/>
          </a:xfrm>
          <a:prstGeom prst="rect">
            <a:avLst/>
          </a:prstGeom>
          <a:noFill/>
          <a:ln/>
        </p:spPr>
        <p:txBody>
          <a:bodyPr wrap="square" lIns="0" tIns="0" rIns="0" bIns="0" rtlCol="0" anchor="t"/>
          <a:lstStyle/>
          <a:p>
            <a:pPr algn="ctr" indent="0" marL="0">
              <a:buNone/>
            </a:pPr>
            <a:r>
              <a:rPr lang="en-US" sz="1400" dirty="0">
                <a:solidFill>
                  <a:schemeClr val="bg1"/>
                </a:solidFill>
              </a:rPr>
              <a:t>A GAN is an implicit generative model: no formula for p(x), but it can draw samples from it.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Training challenges</a:t>
            </a:r>
            <a:endParaRPr lang="en-US" sz="3400" dirty="0"/>
          </a:p>
        </p:txBody>
      </p:sp>
      <p:sp>
        <p:nvSpPr>
          <p:cNvPr id="3" name="Challenge card 1"/>
          <p:cNvSpPr/>
          <p:nvPr/>
        </p:nvSpPr>
        <p:spPr>
          <a:xfrm>
            <a:off x="457200" y="1280160"/>
            <a:ext cx="4023360" cy="1554480"/>
          </a:xfrm>
          <a:prstGeom prst="roundRect">
            <a:avLst>
              <a:gd name="adj" fmla="val 7059"/>
            </a:avLst>
          </a:prstGeom>
          <a:solidFill>
            <a:schemeClr val="bg2"/>
          </a:solidFill>
          <a:ln/>
        </p:spPr>
      </p:sp>
      <p:sp>
        <p:nvSpPr>
          <p:cNvPr id="4" name="Shape 2"/>
          <p:cNvSpPr/>
          <p:nvPr/>
        </p:nvSpPr>
        <p:spPr>
          <a:xfrm>
            <a:off x="685800" y="1508760"/>
            <a:ext cx="731520" cy="109728"/>
          </a:xfrm>
          <a:prstGeom prst="roundRect">
            <a:avLst>
              <a:gd name="adj" fmla="val 50000"/>
            </a:avLst>
          </a:prstGeom>
          <a:solidFill>
            <a:schemeClr val="accent1"/>
          </a:solidFill>
          <a:ln/>
        </p:spPr>
      </p:sp>
      <p:sp>
        <p:nvSpPr>
          <p:cNvPr id="5" name="Text 3"/>
          <p:cNvSpPr txBox="1"/>
          <p:nvPr/>
        </p:nvSpPr>
        <p:spPr>
          <a:xfrm>
            <a:off x="685800" y="1737360"/>
            <a:ext cx="3566160" cy="320040"/>
          </a:xfrm>
          <a:prstGeom prst="rect">
            <a:avLst/>
          </a:prstGeom>
          <a:noFill/>
          <a:ln/>
        </p:spPr>
        <p:txBody>
          <a:bodyPr wrap="square" lIns="0" tIns="0" rIns="0" bIns="0" rtlCol="0" anchor="t"/>
          <a:lstStyle/>
          <a:p>
            <a:pPr indent="0" marL="0">
              <a:buNone/>
            </a:pPr>
            <a:r>
              <a:rPr lang="en-US" sz="1800" b="1" dirty="0">
                <a:solidFill>
                  <a:schemeClr val="tx1"/>
                </a:solidFill>
              </a:rPr>
              <a:t>Mode collapse</a:t>
            </a:r>
            <a:endParaRPr lang="en-US" sz="1800" dirty="0"/>
          </a:p>
        </p:txBody>
      </p:sp>
      <p:sp>
        <p:nvSpPr>
          <p:cNvPr id="6" name="Text 4"/>
          <p:cNvSpPr txBox="1"/>
          <p:nvPr/>
        </p:nvSpPr>
        <p:spPr>
          <a:xfrm>
            <a:off x="685800" y="2148840"/>
            <a:ext cx="3566160" cy="640080"/>
          </a:xfrm>
          <a:prstGeom prst="rect">
            <a:avLst/>
          </a:prstGeom>
          <a:noFill/>
          <a:ln/>
        </p:spPr>
        <p:txBody>
          <a:bodyPr wrap="square" lIns="0" tIns="0" rIns="0" bIns="0" rtlCol="0" anchor="t"/>
          <a:lstStyle/>
          <a:p>
            <a:pPr indent="0" marL="0">
              <a:buNone/>
            </a:pPr>
            <a:r>
              <a:rPr lang="en-US" sz="1400" dirty="0">
                <a:solidFill>
                  <a:schemeClr val="tx2"/>
                </a:solidFill>
              </a:rPr>
              <a:t>G keeps making a few near-identical outputs. Helped by WGAN and minibatch tricks.</a:t>
            </a:r>
            <a:endParaRPr lang="en-US" sz="1400" dirty="0"/>
          </a:p>
        </p:txBody>
      </p:sp>
      <p:sp>
        <p:nvSpPr>
          <p:cNvPr id="7" name="Challenge card 2"/>
          <p:cNvSpPr/>
          <p:nvPr/>
        </p:nvSpPr>
        <p:spPr>
          <a:xfrm>
            <a:off x="4663440" y="1280160"/>
            <a:ext cx="4023360" cy="1554480"/>
          </a:xfrm>
          <a:prstGeom prst="roundRect">
            <a:avLst>
              <a:gd name="adj" fmla="val 7059"/>
            </a:avLst>
          </a:prstGeom>
          <a:solidFill>
            <a:schemeClr val="bg2"/>
          </a:solidFill>
          <a:ln/>
        </p:spPr>
      </p:sp>
      <p:sp>
        <p:nvSpPr>
          <p:cNvPr id="8" name="Shape 6"/>
          <p:cNvSpPr/>
          <p:nvPr/>
        </p:nvSpPr>
        <p:spPr>
          <a:xfrm>
            <a:off x="4892040" y="1508760"/>
            <a:ext cx="731520" cy="109728"/>
          </a:xfrm>
          <a:prstGeom prst="roundRect">
            <a:avLst>
              <a:gd name="adj" fmla="val 50000"/>
            </a:avLst>
          </a:prstGeom>
          <a:solidFill>
            <a:schemeClr val="accent2"/>
          </a:solidFill>
          <a:ln/>
        </p:spPr>
      </p:sp>
      <p:sp>
        <p:nvSpPr>
          <p:cNvPr id="9" name="Text 7"/>
          <p:cNvSpPr txBox="1"/>
          <p:nvPr/>
        </p:nvSpPr>
        <p:spPr>
          <a:xfrm>
            <a:off x="4892040" y="1737360"/>
            <a:ext cx="3566160" cy="320040"/>
          </a:xfrm>
          <a:prstGeom prst="rect">
            <a:avLst/>
          </a:prstGeom>
          <a:noFill/>
          <a:ln/>
        </p:spPr>
        <p:txBody>
          <a:bodyPr wrap="square" lIns="0" tIns="0" rIns="0" bIns="0" rtlCol="0" anchor="t"/>
          <a:lstStyle/>
          <a:p>
            <a:pPr indent="0" marL="0">
              <a:buNone/>
            </a:pPr>
            <a:r>
              <a:rPr lang="en-US" sz="1800" b="1" dirty="0">
                <a:solidFill>
                  <a:schemeClr val="tx1"/>
                </a:solidFill>
              </a:rPr>
              <a:t>Vanishing gradients</a:t>
            </a:r>
            <a:endParaRPr lang="en-US" sz="1800" dirty="0"/>
          </a:p>
        </p:txBody>
      </p:sp>
      <p:sp>
        <p:nvSpPr>
          <p:cNvPr id="10" name="Text 8"/>
          <p:cNvSpPr txBox="1"/>
          <p:nvPr/>
        </p:nvSpPr>
        <p:spPr>
          <a:xfrm>
            <a:off x="4892040" y="2148840"/>
            <a:ext cx="3566160" cy="640080"/>
          </a:xfrm>
          <a:prstGeom prst="rect">
            <a:avLst/>
          </a:prstGeom>
          <a:noFill/>
          <a:ln/>
        </p:spPr>
        <p:txBody>
          <a:bodyPr wrap="square" lIns="0" tIns="0" rIns="0" bIns="0" rtlCol="0" anchor="t"/>
          <a:lstStyle/>
          <a:p>
            <a:pPr indent="0" marL="0">
              <a:buNone/>
            </a:pPr>
            <a:r>
              <a:rPr lang="en-US" sz="1400" dirty="0">
                <a:solidFill>
                  <a:schemeClr val="tx2"/>
                </a:solidFill>
              </a:rPr>
              <a:t>A too-strong D leaves G with no learning signal. Use the non-saturating loss or WGAN.</a:t>
            </a:r>
            <a:endParaRPr lang="en-US" sz="1400" dirty="0"/>
          </a:p>
        </p:txBody>
      </p:sp>
      <p:sp>
        <p:nvSpPr>
          <p:cNvPr id="11" name="Challenge card 3"/>
          <p:cNvSpPr/>
          <p:nvPr/>
        </p:nvSpPr>
        <p:spPr>
          <a:xfrm>
            <a:off x="457200" y="2971800"/>
            <a:ext cx="4023360" cy="1554480"/>
          </a:xfrm>
          <a:prstGeom prst="roundRect">
            <a:avLst>
              <a:gd name="adj" fmla="val 7059"/>
            </a:avLst>
          </a:prstGeom>
          <a:solidFill>
            <a:schemeClr val="bg2"/>
          </a:solidFill>
          <a:ln/>
        </p:spPr>
      </p:sp>
      <p:sp>
        <p:nvSpPr>
          <p:cNvPr id="12" name="Shape 10"/>
          <p:cNvSpPr/>
          <p:nvPr/>
        </p:nvSpPr>
        <p:spPr>
          <a:xfrm>
            <a:off x="685800" y="3200400"/>
            <a:ext cx="731520" cy="109728"/>
          </a:xfrm>
          <a:prstGeom prst="roundRect">
            <a:avLst>
              <a:gd name="adj" fmla="val 50000"/>
            </a:avLst>
          </a:prstGeom>
          <a:solidFill>
            <a:schemeClr val="accent3"/>
          </a:solidFill>
          <a:ln/>
        </p:spPr>
      </p:sp>
      <p:sp>
        <p:nvSpPr>
          <p:cNvPr id="13" name="Text 11"/>
          <p:cNvSpPr txBox="1"/>
          <p:nvPr/>
        </p:nvSpPr>
        <p:spPr>
          <a:xfrm>
            <a:off x="685800" y="3429000"/>
            <a:ext cx="3566160" cy="320040"/>
          </a:xfrm>
          <a:prstGeom prst="rect">
            <a:avLst/>
          </a:prstGeom>
          <a:noFill/>
          <a:ln/>
        </p:spPr>
        <p:txBody>
          <a:bodyPr wrap="square" lIns="0" tIns="0" rIns="0" bIns="0" rtlCol="0" anchor="t"/>
          <a:lstStyle/>
          <a:p>
            <a:pPr indent="0" marL="0">
              <a:buNone/>
            </a:pPr>
            <a:r>
              <a:rPr lang="en-US" sz="1800" b="1" dirty="0">
                <a:solidFill>
                  <a:schemeClr val="tx1"/>
                </a:solidFill>
              </a:rPr>
              <a:t>Unstable training</a:t>
            </a:r>
            <a:endParaRPr lang="en-US" sz="1800" dirty="0"/>
          </a:p>
        </p:txBody>
      </p:sp>
      <p:sp>
        <p:nvSpPr>
          <p:cNvPr id="14" name="Text 12"/>
          <p:cNvSpPr txBox="1"/>
          <p:nvPr/>
        </p:nvSpPr>
        <p:spPr>
          <a:xfrm>
            <a:off x="685800" y="3840480"/>
            <a:ext cx="3566160" cy="640080"/>
          </a:xfrm>
          <a:prstGeom prst="rect">
            <a:avLst/>
          </a:prstGeom>
          <a:noFill/>
          <a:ln/>
        </p:spPr>
        <p:txBody>
          <a:bodyPr wrap="square" lIns="0" tIns="0" rIns="0" bIns="0" rtlCol="0" anchor="t"/>
          <a:lstStyle/>
          <a:p>
            <a:pPr indent="0" marL="0">
              <a:buNone/>
            </a:pPr>
            <a:r>
              <a:rPr lang="en-US" sz="1400" dirty="0">
                <a:solidFill>
                  <a:schemeClr val="tx2"/>
                </a:solidFill>
              </a:rPr>
              <a:t>Two networks chase each other, so losses oscillate. Balance learning rates.</a:t>
            </a:r>
            <a:endParaRPr lang="en-US" sz="1400" dirty="0"/>
          </a:p>
        </p:txBody>
      </p:sp>
      <p:sp>
        <p:nvSpPr>
          <p:cNvPr id="15" name="Challenge card 4"/>
          <p:cNvSpPr/>
          <p:nvPr/>
        </p:nvSpPr>
        <p:spPr>
          <a:xfrm>
            <a:off x="4663440" y="2971800"/>
            <a:ext cx="4023360" cy="1554480"/>
          </a:xfrm>
          <a:prstGeom prst="roundRect">
            <a:avLst>
              <a:gd name="adj" fmla="val 7059"/>
            </a:avLst>
          </a:prstGeom>
          <a:solidFill>
            <a:schemeClr val="bg2"/>
          </a:solidFill>
          <a:ln/>
        </p:spPr>
      </p:sp>
      <p:sp>
        <p:nvSpPr>
          <p:cNvPr id="16" name="Shape 14"/>
          <p:cNvSpPr/>
          <p:nvPr/>
        </p:nvSpPr>
        <p:spPr>
          <a:xfrm>
            <a:off x="4892040" y="3200400"/>
            <a:ext cx="731520" cy="109728"/>
          </a:xfrm>
          <a:prstGeom prst="roundRect">
            <a:avLst>
              <a:gd name="adj" fmla="val 50000"/>
            </a:avLst>
          </a:prstGeom>
          <a:solidFill>
            <a:schemeClr val="accent4"/>
          </a:solidFill>
          <a:ln/>
        </p:spPr>
      </p:sp>
      <p:sp>
        <p:nvSpPr>
          <p:cNvPr id="17" name="Text 15"/>
          <p:cNvSpPr txBox="1"/>
          <p:nvPr/>
        </p:nvSpPr>
        <p:spPr>
          <a:xfrm>
            <a:off x="4892040" y="3429000"/>
            <a:ext cx="3566160" cy="320040"/>
          </a:xfrm>
          <a:prstGeom prst="rect">
            <a:avLst/>
          </a:prstGeom>
          <a:noFill/>
          <a:ln/>
        </p:spPr>
        <p:txBody>
          <a:bodyPr wrap="square" lIns="0" tIns="0" rIns="0" bIns="0" rtlCol="0" anchor="t"/>
          <a:lstStyle/>
          <a:p>
            <a:pPr indent="0" marL="0">
              <a:buNone/>
            </a:pPr>
            <a:r>
              <a:rPr lang="en-US" sz="1800" b="1" dirty="0">
                <a:solidFill>
                  <a:schemeClr val="tx1"/>
                </a:solidFill>
              </a:rPr>
              <a:t>Hard to evaluate</a:t>
            </a:r>
            <a:endParaRPr lang="en-US" sz="1800" dirty="0"/>
          </a:p>
        </p:txBody>
      </p:sp>
      <p:sp>
        <p:nvSpPr>
          <p:cNvPr id="18" name="Text 16"/>
          <p:cNvSpPr txBox="1"/>
          <p:nvPr/>
        </p:nvSpPr>
        <p:spPr>
          <a:xfrm>
            <a:off x="4892040" y="3840480"/>
            <a:ext cx="3566160" cy="640080"/>
          </a:xfrm>
          <a:prstGeom prst="rect">
            <a:avLst/>
          </a:prstGeom>
          <a:noFill/>
          <a:ln/>
        </p:spPr>
        <p:txBody>
          <a:bodyPr wrap="square" lIns="0" tIns="0" rIns="0" bIns="0" rtlCol="0" anchor="t"/>
          <a:lstStyle/>
          <a:p>
            <a:pPr indent="0" marL="0">
              <a:buNone/>
            </a:pPr>
            <a:r>
              <a:rPr lang="en-US" sz="1400" dirty="0">
                <a:solidFill>
                  <a:schemeClr val="tx2"/>
                </a:solidFill>
              </a:rPr>
              <a:t>No single loss shows quality. Use FID, Inception Score and visual checks.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Popular GAN variants</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554480"/>
                <a:gridCol w="3566160"/>
                <a:gridCol w="3108960"/>
              </a:tblGrid>
              <a:tr h="457200">
                <a:tc>
                  <a:txBody>
                    <a:bodyPr/>
                    <a:lstStyle/>
                    <a:p>
                      <a:pPr indent="0" marL="0">
                        <a:buNone/>
                      </a:pPr>
                      <a:r>
                        <a:rPr lang="en-US" sz="1400" b="1" dirty="0">
                          <a:solidFill>
                            <a:srgbClr val="FFFFFF"/>
                          </a:solidFill>
                        </a:rPr>
                        <a:t>Variant</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13122B"/>
                    </a:solidFill>
                  </a:tcPr>
                </a:tc>
                <a:tc>
                  <a:txBody>
                    <a:bodyPr/>
                    <a:lstStyle/>
                    <a:p>
                      <a:pPr indent="0" marL="0">
                        <a:buNone/>
                      </a:pPr>
                      <a:r>
                        <a:rPr lang="en-US" sz="1400" b="1" dirty="0">
                          <a:solidFill>
                            <a:srgbClr val="FFFFFF"/>
                          </a:solidFill>
                        </a:rPr>
                        <a:t>Key idea</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13122B"/>
                    </a:solidFill>
                  </a:tcPr>
                </a:tc>
                <a:tc>
                  <a:txBody>
                    <a:bodyPr/>
                    <a:lstStyle/>
                    <a:p>
                      <a:pPr indent="0" marL="0">
                        <a:buNone/>
                      </a:pPr>
                      <a:r>
                        <a:rPr lang="en-US" sz="1400" b="1" dirty="0">
                          <a:solidFill>
                            <a:srgbClr val="FFFFFF"/>
                          </a:solidFill>
                        </a:rPr>
                        <a:t>Typical use</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13122B"/>
                    </a:solidFill>
                  </a:tcPr>
                </a:tc>
              </a:tr>
              <a:tr h="457200">
                <a:tc>
                  <a:txBody>
                    <a:bodyPr/>
                    <a:lstStyle/>
                    <a:p>
                      <a:pPr indent="0" marL="0">
                        <a:buNone/>
                      </a:pPr>
                      <a:r>
                        <a:rPr lang="en-US" sz="1400" b="1" dirty="0">
                          <a:solidFill>
                            <a:srgbClr val="13122B"/>
                          </a:solidFill>
                        </a:rPr>
                        <a:t>DCGAN</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4F1FA"/>
                    </a:solidFill>
                  </a:tcPr>
                </a:tc>
                <a:tc>
                  <a:txBody>
                    <a:bodyPr/>
                    <a:lstStyle/>
                    <a:p>
                      <a:pPr indent="0" marL="0">
                        <a:buNone/>
                      </a:pPr>
                      <a:r>
                        <a:rPr lang="en-US" sz="1400" dirty="0">
                          <a:solidFill>
                            <a:srgbClr val="4B4670"/>
                          </a:solidFill>
                        </a:rPr>
                        <a:t>Convolutional G and D</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4F1FA"/>
                    </a:solidFill>
                  </a:tcPr>
                </a:tc>
                <a:tc>
                  <a:txBody>
                    <a:bodyPr/>
                    <a:lstStyle/>
                    <a:p>
                      <a:pPr indent="0" marL="0">
                        <a:buNone/>
                      </a:pPr>
                      <a:r>
                        <a:rPr lang="en-US" sz="1400" dirty="0">
                          <a:solidFill>
                            <a:srgbClr val="4B4670"/>
                          </a:solidFill>
                        </a:rPr>
                        <a:t>First stable image GANs</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4F1FA"/>
                    </a:solidFill>
                  </a:tcPr>
                </a:tc>
              </a:tr>
              <a:tr h="457200">
                <a:tc>
                  <a:txBody>
                    <a:bodyPr/>
                    <a:lstStyle/>
                    <a:p>
                      <a:pPr indent="0" marL="0">
                        <a:buNone/>
                      </a:pPr>
                      <a:r>
                        <a:rPr lang="en-US" sz="1400" b="1" dirty="0">
                          <a:solidFill>
                            <a:srgbClr val="13122B"/>
                          </a:solidFill>
                        </a:rPr>
                        <a:t>cGAN</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400" dirty="0">
                          <a:solidFill>
                            <a:srgbClr val="4B4670"/>
                          </a:solidFill>
                        </a:rPr>
                        <a:t>Feed a class label to G and D</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400" dirty="0">
                          <a:solidFill>
                            <a:srgbClr val="4B4670"/>
                          </a:solidFill>
                        </a:rPr>
                        <a:t>Generate a chosen category</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3122B"/>
                          </a:solidFill>
                        </a:rPr>
                        <a:t>Pix2Pix</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4F1FA"/>
                    </a:solidFill>
                  </a:tcPr>
                </a:tc>
                <a:tc>
                  <a:txBody>
                    <a:bodyPr/>
                    <a:lstStyle/>
                    <a:p>
                      <a:pPr indent="0" marL="0">
                        <a:buNone/>
                      </a:pPr>
                      <a:r>
                        <a:rPr lang="en-US" sz="1400" dirty="0">
                          <a:solidFill>
                            <a:srgbClr val="4B4670"/>
                          </a:solidFill>
                        </a:rPr>
                        <a:t>Paired image-to-image translation</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4F1FA"/>
                    </a:solidFill>
                  </a:tcPr>
                </a:tc>
                <a:tc>
                  <a:txBody>
                    <a:bodyPr/>
                    <a:lstStyle/>
                    <a:p>
                      <a:pPr indent="0" marL="0">
                        <a:buNone/>
                      </a:pPr>
                      <a:r>
                        <a:rPr lang="en-US" sz="1400" dirty="0">
                          <a:solidFill>
                            <a:srgbClr val="4B4670"/>
                          </a:solidFill>
                        </a:rPr>
                        <a:t>Sketch or edges to photo</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4F1FA"/>
                    </a:solidFill>
                  </a:tcPr>
                </a:tc>
              </a:tr>
              <a:tr h="457200">
                <a:tc>
                  <a:txBody>
                    <a:bodyPr/>
                    <a:lstStyle/>
                    <a:p>
                      <a:pPr indent="0" marL="0">
                        <a:buNone/>
                      </a:pPr>
                      <a:r>
                        <a:rPr lang="en-US" sz="1400" b="1" dirty="0">
                          <a:solidFill>
                            <a:srgbClr val="13122B"/>
                          </a:solidFill>
                        </a:rPr>
                        <a:t>CycleGAN</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400" dirty="0">
                          <a:solidFill>
                            <a:srgbClr val="4B4670"/>
                          </a:solidFill>
                        </a:rPr>
                        <a:t>Unpaired translation, cycle consistency</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400" dirty="0">
                          <a:solidFill>
                            <a:srgbClr val="4B4670"/>
                          </a:solidFill>
                        </a:rPr>
                        <a:t>Horse to zebra, style transfer</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3122B"/>
                          </a:solidFill>
                        </a:rPr>
                        <a:t>WGAN</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4F1FA"/>
                    </a:solidFill>
                  </a:tcPr>
                </a:tc>
                <a:tc>
                  <a:txBody>
                    <a:bodyPr/>
                    <a:lstStyle/>
                    <a:p>
                      <a:pPr indent="0" marL="0">
                        <a:buNone/>
                      </a:pPr>
                      <a:r>
                        <a:rPr lang="en-US" sz="1400" dirty="0">
                          <a:solidFill>
                            <a:srgbClr val="4B4670"/>
                          </a:solidFill>
                        </a:rPr>
                        <a:t>Wasserstein distance as the loss</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4F1FA"/>
                    </a:solidFill>
                  </a:tcPr>
                </a:tc>
                <a:tc>
                  <a:txBody>
                    <a:bodyPr/>
                    <a:lstStyle/>
                    <a:p>
                      <a:pPr indent="0" marL="0">
                        <a:buNone/>
                      </a:pPr>
                      <a:r>
                        <a:rPr lang="en-US" sz="1400" dirty="0">
                          <a:solidFill>
                            <a:srgbClr val="4B4670"/>
                          </a:solidFill>
                        </a:rPr>
                        <a:t>More stable training</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4F1FA"/>
                    </a:solidFill>
                  </a:tcPr>
                </a:tc>
              </a:tr>
              <a:tr h="457200">
                <a:tc>
                  <a:txBody>
                    <a:bodyPr/>
                    <a:lstStyle/>
                    <a:p>
                      <a:pPr indent="0" marL="0">
                        <a:buNone/>
                      </a:pPr>
                      <a:r>
                        <a:rPr lang="en-US" sz="1400" b="1" dirty="0">
                          <a:solidFill>
                            <a:srgbClr val="13122B"/>
                          </a:solidFill>
                        </a:rPr>
                        <a:t>StyleGAN</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400" dirty="0">
                          <a:solidFill>
                            <a:srgbClr val="4B4670"/>
                          </a:solidFill>
                        </a:rPr>
                        <a:t>Style-controlled generator</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c>
                  <a:txBody>
                    <a:bodyPr/>
                    <a:lstStyle/>
                    <a:p>
                      <a:pPr indent="0" marL="0">
                        <a:buNone/>
                      </a:pPr>
                      <a:r>
                        <a:rPr lang="en-US" sz="1400" dirty="0">
                          <a:solidFill>
                            <a:srgbClr val="4B4670"/>
                          </a:solidFill>
                        </a:rPr>
                        <a:t>Photorealistic faces</a:t>
                      </a:r>
                      <a:endParaRPr lang="en-US" sz="1400" dirty="0"/>
                    </a:p>
                  </a:txBody>
                  <a:tcPr marL="91440" marR="91440" marT="45720" marB="45720" anchor="ctr">
                    <a:lnL w="6350" cap="flat" cmpd="sng" algn="ctr">
                      <a:solidFill>
                        <a:srgbClr val="E4E0F5"/>
                      </a:solidFill>
                      <a:prstDash val="solid"/>
                      <a:round/>
                      <a:headEnd type="none" w="med" len="med"/>
                      <a:tailEnd type="none" w="med" len="med"/>
                    </a:lnL>
                    <a:lnR w="6350" cap="flat" cmpd="sng" algn="ctr">
                      <a:solidFill>
                        <a:srgbClr val="E4E0F5"/>
                      </a:solidFill>
                      <a:prstDash val="solid"/>
                      <a:round/>
                      <a:headEnd type="none" w="med" len="med"/>
                      <a:tailEnd type="none" w="med" len="med"/>
                    </a:lnR>
                    <a:lnT w="6350" cap="flat" cmpd="sng" algn="ctr">
                      <a:solidFill>
                        <a:srgbClr val="E4E0F5"/>
                      </a:solidFill>
                      <a:prstDash val="solid"/>
                      <a:round/>
                      <a:headEnd type="none" w="med" len="med"/>
                      <a:tailEnd type="none" w="med" len="med"/>
                    </a:lnT>
                    <a:lnB w="6350" cap="flat" cmpd="sng" algn="ctr">
                      <a:solidFill>
                        <a:srgbClr val="E4E0F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Examples</a:t>
            </a:r>
            <a:endParaRPr lang="en-US" sz="3400" dirty="0"/>
          </a:p>
        </p:txBody>
      </p:sp>
      <p:sp>
        <p:nvSpPr>
          <p:cNvPr id="3" name="Example row 1"/>
          <p:cNvSpPr/>
          <p:nvPr/>
        </p:nvSpPr>
        <p:spPr>
          <a:xfrm>
            <a:off x="457200" y="1234440"/>
            <a:ext cx="8229600" cy="731520"/>
          </a:xfrm>
          <a:prstGeom prst="roundRect">
            <a:avLst>
              <a:gd name="adj" fmla="val 15000"/>
            </a:avLst>
          </a:prstGeom>
          <a:solidFill>
            <a:schemeClr val="bg2"/>
          </a:solidFill>
          <a:ln/>
        </p:spPr>
      </p:sp>
      <p:sp>
        <p:nvSpPr>
          <p:cNvPr id="4" name="Input chip 1"/>
          <p:cNvSpPr/>
          <p:nvPr/>
        </p:nvSpPr>
        <p:spPr>
          <a:xfrm>
            <a:off x="594360" y="1371600"/>
            <a:ext cx="1234440" cy="457200"/>
          </a:xfrm>
          <a:prstGeom prst="roundRect">
            <a:avLst>
              <a:gd name="adj" fmla="val 20000"/>
            </a:avLst>
          </a:prstGeom>
          <a:solidFill>
            <a:schemeClr val="accent3"/>
          </a:solidFill>
          <a:ln/>
        </p:spPr>
      </p:sp>
      <p:sp>
        <p:nvSpPr>
          <p:cNvPr id="5" name="Text 3"/>
          <p:cNvSpPr txBox="1"/>
          <p:nvPr/>
        </p:nvSpPr>
        <p:spPr>
          <a:xfrm>
            <a:off x="594360" y="1371600"/>
            <a:ext cx="1234440" cy="457200"/>
          </a:xfrm>
          <a:prstGeom prst="rect">
            <a:avLst/>
          </a:prstGeom>
          <a:noFill/>
          <a:ln/>
        </p:spPr>
        <p:txBody>
          <a:bodyPr wrap="square" lIns="0" tIns="0" rIns="0" bIns="0" rtlCol="0" anchor="ctr"/>
          <a:lstStyle/>
          <a:p>
            <a:pPr algn="ctr" indent="0" marL="0">
              <a:buNone/>
            </a:pPr>
            <a:r>
              <a:rPr lang="en-US" sz="1400" b="1" dirty="0">
                <a:solidFill>
                  <a:schemeClr val="tx1"/>
                </a:solidFill>
              </a:rPr>
              <a:t>noise z</a:t>
            </a:r>
            <a:endParaRPr lang="en-US" sz="1400" dirty="0"/>
          </a:p>
        </p:txBody>
      </p:sp>
      <p:sp>
        <p:nvSpPr>
          <p:cNvPr id="6" name="Shape 4"/>
          <p:cNvSpPr/>
          <p:nvPr/>
        </p:nvSpPr>
        <p:spPr>
          <a:xfrm>
            <a:off x="1920240" y="1481328"/>
            <a:ext cx="365760" cy="237744"/>
          </a:xfrm>
          <a:prstGeom prst="rightArrow">
            <a:avLst/>
          </a:prstGeom>
          <a:solidFill>
            <a:schemeClr val="accent6"/>
          </a:solidFill>
          <a:ln/>
        </p:spPr>
      </p:sp>
      <p:sp>
        <p:nvSpPr>
          <p:cNvPr id="7" name="Output chip 1"/>
          <p:cNvSpPr/>
          <p:nvPr/>
        </p:nvSpPr>
        <p:spPr>
          <a:xfrm>
            <a:off x="2377440" y="1371600"/>
            <a:ext cx="1234440" cy="457200"/>
          </a:xfrm>
          <a:prstGeom prst="roundRect">
            <a:avLst>
              <a:gd name="adj" fmla="val 20000"/>
            </a:avLst>
          </a:prstGeom>
          <a:solidFill>
            <a:schemeClr val="accent2"/>
          </a:solidFill>
          <a:ln/>
        </p:spPr>
      </p:sp>
      <p:sp>
        <p:nvSpPr>
          <p:cNvPr id="8" name="Text 6"/>
          <p:cNvSpPr txBox="1"/>
          <p:nvPr/>
        </p:nvSpPr>
        <p:spPr>
          <a:xfrm>
            <a:off x="2377440" y="1371600"/>
            <a:ext cx="1234440" cy="457200"/>
          </a:xfrm>
          <a:prstGeom prst="rect">
            <a:avLst/>
          </a:prstGeom>
          <a:noFill/>
          <a:ln/>
        </p:spPr>
        <p:txBody>
          <a:bodyPr wrap="square" lIns="0" tIns="0" rIns="0" bIns="0" rtlCol="0" anchor="ctr"/>
          <a:lstStyle/>
          <a:p>
            <a:pPr algn="ctr" indent="0" marL="0">
              <a:buNone/>
            </a:pPr>
            <a:r>
              <a:rPr lang="en-US" sz="1400" b="1" dirty="0">
                <a:solidFill>
                  <a:schemeClr val="tx1"/>
                </a:solidFill>
              </a:rPr>
              <a:t>new face</a:t>
            </a:r>
            <a:endParaRPr lang="en-US" sz="1400" dirty="0"/>
          </a:p>
        </p:txBody>
      </p:sp>
      <p:sp>
        <p:nvSpPr>
          <p:cNvPr id="9" name="Text 7"/>
          <p:cNvSpPr txBox="1"/>
          <p:nvPr/>
        </p:nvSpPr>
        <p:spPr>
          <a:xfrm>
            <a:off x="3886200" y="1325880"/>
            <a:ext cx="4663440" cy="274320"/>
          </a:xfrm>
          <a:prstGeom prst="rect">
            <a:avLst/>
          </a:prstGeom>
          <a:noFill/>
          <a:ln/>
        </p:spPr>
        <p:txBody>
          <a:bodyPr wrap="square" lIns="0" tIns="0" rIns="0" bIns="0" rtlCol="0" anchor="t"/>
          <a:lstStyle/>
          <a:p>
            <a:pPr indent="0" marL="0">
              <a:buNone/>
            </a:pPr>
            <a:r>
              <a:rPr lang="en-US" sz="1600" b="1" dirty="0">
                <a:solidFill>
                  <a:schemeClr val="tx1"/>
                </a:solidFill>
              </a:rPr>
              <a:t>Face synthesis (StyleGAN)</a:t>
            </a:r>
            <a:endParaRPr lang="en-US" sz="1600" dirty="0"/>
          </a:p>
        </p:txBody>
      </p:sp>
      <p:sp>
        <p:nvSpPr>
          <p:cNvPr id="10" name="Text 8"/>
          <p:cNvSpPr txBox="1"/>
          <p:nvPr/>
        </p:nvSpPr>
        <p:spPr>
          <a:xfrm>
            <a:off x="3886200" y="1627632"/>
            <a:ext cx="4663440" cy="274320"/>
          </a:xfrm>
          <a:prstGeom prst="rect">
            <a:avLst/>
          </a:prstGeom>
          <a:noFill/>
          <a:ln/>
        </p:spPr>
        <p:txBody>
          <a:bodyPr wrap="square" lIns="0" tIns="0" rIns="0" bIns="0" rtlCol="0" anchor="t"/>
          <a:lstStyle/>
          <a:p>
            <a:pPr indent="0" marL="0">
              <a:buNone/>
            </a:pPr>
            <a:r>
              <a:rPr lang="en-US" sz="1400" dirty="0">
                <a:solidFill>
                  <a:schemeClr val="tx2"/>
                </a:solidFill>
              </a:rPr>
              <a:t>Photorealistic faces of people who do not exist.</a:t>
            </a:r>
            <a:endParaRPr lang="en-US" sz="1400" dirty="0"/>
          </a:p>
        </p:txBody>
      </p:sp>
      <p:sp>
        <p:nvSpPr>
          <p:cNvPr id="11" name="Example row 2"/>
          <p:cNvSpPr/>
          <p:nvPr/>
        </p:nvSpPr>
        <p:spPr>
          <a:xfrm>
            <a:off x="457200" y="2057400"/>
            <a:ext cx="8229600" cy="731520"/>
          </a:xfrm>
          <a:prstGeom prst="roundRect">
            <a:avLst>
              <a:gd name="adj" fmla="val 15000"/>
            </a:avLst>
          </a:prstGeom>
          <a:solidFill>
            <a:schemeClr val="bg2"/>
          </a:solidFill>
          <a:ln/>
        </p:spPr>
      </p:sp>
      <p:sp>
        <p:nvSpPr>
          <p:cNvPr id="12" name="Input chip 2"/>
          <p:cNvSpPr/>
          <p:nvPr/>
        </p:nvSpPr>
        <p:spPr>
          <a:xfrm>
            <a:off x="594360" y="2194560"/>
            <a:ext cx="1234440" cy="457200"/>
          </a:xfrm>
          <a:prstGeom prst="roundRect">
            <a:avLst>
              <a:gd name="adj" fmla="val 20000"/>
            </a:avLst>
          </a:prstGeom>
          <a:solidFill>
            <a:schemeClr val="accent3"/>
          </a:solidFill>
          <a:ln/>
        </p:spPr>
      </p:sp>
      <p:sp>
        <p:nvSpPr>
          <p:cNvPr id="13" name="Text 11"/>
          <p:cNvSpPr txBox="1"/>
          <p:nvPr/>
        </p:nvSpPr>
        <p:spPr>
          <a:xfrm>
            <a:off x="594360" y="2194560"/>
            <a:ext cx="1234440" cy="457200"/>
          </a:xfrm>
          <a:prstGeom prst="rect">
            <a:avLst/>
          </a:prstGeom>
          <a:noFill/>
          <a:ln/>
        </p:spPr>
        <p:txBody>
          <a:bodyPr wrap="square" lIns="0" tIns="0" rIns="0" bIns="0" rtlCol="0" anchor="ctr"/>
          <a:lstStyle/>
          <a:p>
            <a:pPr algn="ctr" indent="0" marL="0">
              <a:buNone/>
            </a:pPr>
            <a:r>
              <a:rPr lang="en-US" sz="1400" b="1" dirty="0">
                <a:solidFill>
                  <a:schemeClr val="tx1"/>
                </a:solidFill>
              </a:rPr>
              <a:t>sketch</a:t>
            </a:r>
            <a:endParaRPr lang="en-US" sz="1400" dirty="0"/>
          </a:p>
        </p:txBody>
      </p:sp>
      <p:sp>
        <p:nvSpPr>
          <p:cNvPr id="14" name="Shape 12"/>
          <p:cNvSpPr/>
          <p:nvPr/>
        </p:nvSpPr>
        <p:spPr>
          <a:xfrm>
            <a:off x="1920240" y="2304288"/>
            <a:ext cx="365760" cy="237744"/>
          </a:xfrm>
          <a:prstGeom prst="rightArrow">
            <a:avLst/>
          </a:prstGeom>
          <a:solidFill>
            <a:schemeClr val="accent6"/>
          </a:solidFill>
          <a:ln/>
        </p:spPr>
      </p:sp>
      <p:sp>
        <p:nvSpPr>
          <p:cNvPr id="15" name="Output chip 2"/>
          <p:cNvSpPr/>
          <p:nvPr/>
        </p:nvSpPr>
        <p:spPr>
          <a:xfrm>
            <a:off x="2377440" y="2194560"/>
            <a:ext cx="1234440" cy="457200"/>
          </a:xfrm>
          <a:prstGeom prst="roundRect">
            <a:avLst>
              <a:gd name="adj" fmla="val 20000"/>
            </a:avLst>
          </a:prstGeom>
          <a:solidFill>
            <a:schemeClr val="accent2"/>
          </a:solidFill>
          <a:ln/>
        </p:spPr>
      </p:sp>
      <p:sp>
        <p:nvSpPr>
          <p:cNvPr id="16" name="Text 14"/>
          <p:cNvSpPr txBox="1"/>
          <p:nvPr/>
        </p:nvSpPr>
        <p:spPr>
          <a:xfrm>
            <a:off x="2377440" y="2194560"/>
            <a:ext cx="1234440" cy="457200"/>
          </a:xfrm>
          <a:prstGeom prst="rect">
            <a:avLst/>
          </a:prstGeom>
          <a:noFill/>
          <a:ln/>
        </p:spPr>
        <p:txBody>
          <a:bodyPr wrap="square" lIns="0" tIns="0" rIns="0" bIns="0" rtlCol="0" anchor="ctr"/>
          <a:lstStyle/>
          <a:p>
            <a:pPr algn="ctr" indent="0" marL="0">
              <a:buNone/>
            </a:pPr>
            <a:r>
              <a:rPr lang="en-US" sz="1400" b="1" dirty="0">
                <a:solidFill>
                  <a:schemeClr val="tx1"/>
                </a:solidFill>
              </a:rPr>
              <a:t>photo</a:t>
            </a:r>
            <a:endParaRPr lang="en-US" sz="1400" dirty="0"/>
          </a:p>
        </p:txBody>
      </p:sp>
      <p:sp>
        <p:nvSpPr>
          <p:cNvPr id="17" name="Text 15"/>
          <p:cNvSpPr txBox="1"/>
          <p:nvPr/>
        </p:nvSpPr>
        <p:spPr>
          <a:xfrm>
            <a:off x="3886200" y="2148840"/>
            <a:ext cx="4663440" cy="274320"/>
          </a:xfrm>
          <a:prstGeom prst="rect">
            <a:avLst/>
          </a:prstGeom>
          <a:noFill/>
          <a:ln/>
        </p:spPr>
        <p:txBody>
          <a:bodyPr wrap="square" lIns="0" tIns="0" rIns="0" bIns="0" rtlCol="0" anchor="t"/>
          <a:lstStyle/>
          <a:p>
            <a:pPr indent="0" marL="0">
              <a:buNone/>
            </a:pPr>
            <a:r>
              <a:rPr lang="en-US" sz="1600" b="1" dirty="0">
                <a:solidFill>
                  <a:schemeClr val="tx1"/>
                </a:solidFill>
              </a:rPr>
              <a:t>Image translation (Pix2Pix)</a:t>
            </a:r>
            <a:endParaRPr lang="en-US" sz="1600" dirty="0"/>
          </a:p>
        </p:txBody>
      </p:sp>
      <p:sp>
        <p:nvSpPr>
          <p:cNvPr id="18" name="Text 16"/>
          <p:cNvSpPr txBox="1"/>
          <p:nvPr/>
        </p:nvSpPr>
        <p:spPr>
          <a:xfrm>
            <a:off x="3886200" y="2450592"/>
            <a:ext cx="4663440" cy="274320"/>
          </a:xfrm>
          <a:prstGeom prst="rect">
            <a:avLst/>
          </a:prstGeom>
          <a:noFill/>
          <a:ln/>
        </p:spPr>
        <p:txBody>
          <a:bodyPr wrap="square" lIns="0" tIns="0" rIns="0" bIns="0" rtlCol="0" anchor="t"/>
          <a:lstStyle/>
          <a:p>
            <a:pPr indent="0" marL="0">
              <a:buNone/>
            </a:pPr>
            <a:r>
              <a:rPr lang="en-US" sz="1400" dirty="0">
                <a:solidFill>
                  <a:schemeClr val="tx2"/>
                </a:solidFill>
              </a:rPr>
              <a:t>Turn sketches into photos, or horses into zebras.</a:t>
            </a:r>
            <a:endParaRPr lang="en-US" sz="1400" dirty="0"/>
          </a:p>
        </p:txBody>
      </p:sp>
      <p:sp>
        <p:nvSpPr>
          <p:cNvPr id="19" name="Example row 3"/>
          <p:cNvSpPr/>
          <p:nvPr/>
        </p:nvSpPr>
        <p:spPr>
          <a:xfrm>
            <a:off x="457200" y="2880360"/>
            <a:ext cx="8229600" cy="731520"/>
          </a:xfrm>
          <a:prstGeom prst="roundRect">
            <a:avLst>
              <a:gd name="adj" fmla="val 15000"/>
            </a:avLst>
          </a:prstGeom>
          <a:solidFill>
            <a:schemeClr val="bg2"/>
          </a:solidFill>
          <a:ln/>
        </p:spPr>
      </p:sp>
      <p:sp>
        <p:nvSpPr>
          <p:cNvPr id="20" name="Input chip 3"/>
          <p:cNvSpPr/>
          <p:nvPr/>
        </p:nvSpPr>
        <p:spPr>
          <a:xfrm>
            <a:off x="594360" y="3017520"/>
            <a:ext cx="1234440" cy="457200"/>
          </a:xfrm>
          <a:prstGeom prst="roundRect">
            <a:avLst>
              <a:gd name="adj" fmla="val 20000"/>
            </a:avLst>
          </a:prstGeom>
          <a:solidFill>
            <a:schemeClr val="accent3"/>
          </a:solidFill>
          <a:ln/>
        </p:spPr>
      </p:sp>
      <p:sp>
        <p:nvSpPr>
          <p:cNvPr id="21" name="Text 19"/>
          <p:cNvSpPr txBox="1"/>
          <p:nvPr/>
        </p:nvSpPr>
        <p:spPr>
          <a:xfrm>
            <a:off x="594360" y="3017520"/>
            <a:ext cx="1234440" cy="457200"/>
          </a:xfrm>
          <a:prstGeom prst="rect">
            <a:avLst/>
          </a:prstGeom>
          <a:noFill/>
          <a:ln/>
        </p:spPr>
        <p:txBody>
          <a:bodyPr wrap="square" lIns="0" tIns="0" rIns="0" bIns="0" rtlCol="0" anchor="ctr"/>
          <a:lstStyle/>
          <a:p>
            <a:pPr algn="ctr" indent="0" marL="0">
              <a:buNone/>
            </a:pPr>
            <a:r>
              <a:rPr lang="en-US" sz="1400" b="1" dirty="0">
                <a:solidFill>
                  <a:schemeClr val="tx1"/>
                </a:solidFill>
              </a:rPr>
              <a:t>low-res</a:t>
            </a:r>
            <a:endParaRPr lang="en-US" sz="1400" dirty="0"/>
          </a:p>
        </p:txBody>
      </p:sp>
      <p:sp>
        <p:nvSpPr>
          <p:cNvPr id="22" name="Shape 20"/>
          <p:cNvSpPr/>
          <p:nvPr/>
        </p:nvSpPr>
        <p:spPr>
          <a:xfrm>
            <a:off x="1920240" y="3127248"/>
            <a:ext cx="365760" cy="237744"/>
          </a:xfrm>
          <a:prstGeom prst="rightArrow">
            <a:avLst/>
          </a:prstGeom>
          <a:solidFill>
            <a:schemeClr val="accent6"/>
          </a:solidFill>
          <a:ln/>
        </p:spPr>
      </p:sp>
      <p:sp>
        <p:nvSpPr>
          <p:cNvPr id="23" name="Output chip 3"/>
          <p:cNvSpPr/>
          <p:nvPr/>
        </p:nvSpPr>
        <p:spPr>
          <a:xfrm>
            <a:off x="2377440" y="3017520"/>
            <a:ext cx="1234440" cy="457200"/>
          </a:xfrm>
          <a:prstGeom prst="roundRect">
            <a:avLst>
              <a:gd name="adj" fmla="val 20000"/>
            </a:avLst>
          </a:prstGeom>
          <a:solidFill>
            <a:schemeClr val="accent2"/>
          </a:solidFill>
          <a:ln/>
        </p:spPr>
      </p:sp>
      <p:sp>
        <p:nvSpPr>
          <p:cNvPr id="24" name="Text 22"/>
          <p:cNvSpPr txBox="1"/>
          <p:nvPr/>
        </p:nvSpPr>
        <p:spPr>
          <a:xfrm>
            <a:off x="2377440" y="3017520"/>
            <a:ext cx="1234440" cy="457200"/>
          </a:xfrm>
          <a:prstGeom prst="rect">
            <a:avLst/>
          </a:prstGeom>
          <a:noFill/>
          <a:ln/>
        </p:spPr>
        <p:txBody>
          <a:bodyPr wrap="square" lIns="0" tIns="0" rIns="0" bIns="0" rtlCol="0" anchor="ctr"/>
          <a:lstStyle/>
          <a:p>
            <a:pPr algn="ctr" indent="0" marL="0">
              <a:buNone/>
            </a:pPr>
            <a:r>
              <a:rPr lang="en-US" sz="1400" b="1" dirty="0">
                <a:solidFill>
                  <a:schemeClr val="tx1"/>
                </a:solidFill>
              </a:rPr>
              <a:t>high-res</a:t>
            </a:r>
            <a:endParaRPr lang="en-US" sz="1400" dirty="0"/>
          </a:p>
        </p:txBody>
      </p:sp>
      <p:sp>
        <p:nvSpPr>
          <p:cNvPr id="25" name="Text 23"/>
          <p:cNvSpPr txBox="1"/>
          <p:nvPr/>
        </p:nvSpPr>
        <p:spPr>
          <a:xfrm>
            <a:off x="3886200" y="2971800"/>
            <a:ext cx="4663440" cy="274320"/>
          </a:xfrm>
          <a:prstGeom prst="rect">
            <a:avLst/>
          </a:prstGeom>
          <a:noFill/>
          <a:ln/>
        </p:spPr>
        <p:txBody>
          <a:bodyPr wrap="square" lIns="0" tIns="0" rIns="0" bIns="0" rtlCol="0" anchor="t"/>
          <a:lstStyle/>
          <a:p>
            <a:pPr indent="0" marL="0">
              <a:buNone/>
            </a:pPr>
            <a:r>
              <a:rPr lang="en-US" sz="1600" b="1" dirty="0">
                <a:solidFill>
                  <a:schemeClr val="tx1"/>
                </a:solidFill>
              </a:rPr>
              <a:t>Super-resolution (SRGAN)</a:t>
            </a:r>
            <a:endParaRPr lang="en-US" sz="1600" dirty="0"/>
          </a:p>
        </p:txBody>
      </p:sp>
      <p:sp>
        <p:nvSpPr>
          <p:cNvPr id="26" name="Text 24"/>
          <p:cNvSpPr txBox="1"/>
          <p:nvPr/>
        </p:nvSpPr>
        <p:spPr>
          <a:xfrm>
            <a:off x="3886200" y="3273552"/>
            <a:ext cx="4663440" cy="274320"/>
          </a:xfrm>
          <a:prstGeom prst="rect">
            <a:avLst/>
          </a:prstGeom>
          <a:noFill/>
          <a:ln/>
        </p:spPr>
        <p:txBody>
          <a:bodyPr wrap="square" lIns="0" tIns="0" rIns="0" bIns="0" rtlCol="0" anchor="t"/>
          <a:lstStyle/>
          <a:p>
            <a:pPr indent="0" marL="0">
              <a:buNone/>
            </a:pPr>
            <a:r>
              <a:rPr lang="en-US" sz="1400" dirty="0">
                <a:solidFill>
                  <a:schemeClr val="tx2"/>
                </a:solidFill>
              </a:rPr>
              <a:t>Sharpen blurry, low-resolution images.</a:t>
            </a:r>
            <a:endParaRPr lang="en-US" sz="1400" dirty="0"/>
          </a:p>
        </p:txBody>
      </p:sp>
      <p:sp>
        <p:nvSpPr>
          <p:cNvPr id="27" name="Example row 4"/>
          <p:cNvSpPr/>
          <p:nvPr/>
        </p:nvSpPr>
        <p:spPr>
          <a:xfrm>
            <a:off x="457200" y="3703320"/>
            <a:ext cx="8229600" cy="731520"/>
          </a:xfrm>
          <a:prstGeom prst="roundRect">
            <a:avLst>
              <a:gd name="adj" fmla="val 15000"/>
            </a:avLst>
          </a:prstGeom>
          <a:solidFill>
            <a:schemeClr val="bg2"/>
          </a:solidFill>
          <a:ln/>
        </p:spPr>
      </p:sp>
      <p:sp>
        <p:nvSpPr>
          <p:cNvPr id="28" name="Input chip 4"/>
          <p:cNvSpPr/>
          <p:nvPr/>
        </p:nvSpPr>
        <p:spPr>
          <a:xfrm>
            <a:off x="594360" y="3840480"/>
            <a:ext cx="1234440" cy="457200"/>
          </a:xfrm>
          <a:prstGeom prst="roundRect">
            <a:avLst>
              <a:gd name="adj" fmla="val 20000"/>
            </a:avLst>
          </a:prstGeom>
          <a:solidFill>
            <a:schemeClr val="accent3"/>
          </a:solidFill>
          <a:ln/>
        </p:spPr>
      </p:sp>
      <p:sp>
        <p:nvSpPr>
          <p:cNvPr id="29" name="Text 27"/>
          <p:cNvSpPr txBox="1"/>
          <p:nvPr/>
        </p:nvSpPr>
        <p:spPr>
          <a:xfrm>
            <a:off x="594360" y="3840480"/>
            <a:ext cx="1234440" cy="457200"/>
          </a:xfrm>
          <a:prstGeom prst="rect">
            <a:avLst/>
          </a:prstGeom>
          <a:noFill/>
          <a:ln/>
        </p:spPr>
        <p:txBody>
          <a:bodyPr wrap="square" lIns="0" tIns="0" rIns="0" bIns="0" rtlCol="0" anchor="ctr"/>
          <a:lstStyle/>
          <a:p>
            <a:pPr algn="ctr" indent="0" marL="0">
              <a:buNone/>
            </a:pPr>
            <a:r>
              <a:rPr lang="en-US" sz="1400" b="1" dirty="0">
                <a:solidFill>
                  <a:schemeClr val="tx1"/>
                </a:solidFill>
              </a:rPr>
              <a:t>few scans</a:t>
            </a:r>
            <a:endParaRPr lang="en-US" sz="1400" dirty="0"/>
          </a:p>
        </p:txBody>
      </p:sp>
      <p:sp>
        <p:nvSpPr>
          <p:cNvPr id="30" name="Shape 28"/>
          <p:cNvSpPr/>
          <p:nvPr/>
        </p:nvSpPr>
        <p:spPr>
          <a:xfrm>
            <a:off x="1920240" y="3950208"/>
            <a:ext cx="365760" cy="237744"/>
          </a:xfrm>
          <a:prstGeom prst="rightArrow">
            <a:avLst/>
          </a:prstGeom>
          <a:solidFill>
            <a:schemeClr val="accent6"/>
          </a:solidFill>
          <a:ln/>
        </p:spPr>
      </p:sp>
      <p:sp>
        <p:nvSpPr>
          <p:cNvPr id="31" name="Output chip 4"/>
          <p:cNvSpPr/>
          <p:nvPr/>
        </p:nvSpPr>
        <p:spPr>
          <a:xfrm>
            <a:off x="2377440" y="3840480"/>
            <a:ext cx="1234440" cy="457200"/>
          </a:xfrm>
          <a:prstGeom prst="roundRect">
            <a:avLst>
              <a:gd name="adj" fmla="val 20000"/>
            </a:avLst>
          </a:prstGeom>
          <a:solidFill>
            <a:schemeClr val="accent2"/>
          </a:solidFill>
          <a:ln/>
        </p:spPr>
      </p:sp>
      <p:sp>
        <p:nvSpPr>
          <p:cNvPr id="32" name="Text 30"/>
          <p:cNvSpPr txBox="1"/>
          <p:nvPr/>
        </p:nvSpPr>
        <p:spPr>
          <a:xfrm>
            <a:off x="2377440" y="3840480"/>
            <a:ext cx="1234440" cy="457200"/>
          </a:xfrm>
          <a:prstGeom prst="rect">
            <a:avLst/>
          </a:prstGeom>
          <a:noFill/>
          <a:ln/>
        </p:spPr>
        <p:txBody>
          <a:bodyPr wrap="square" lIns="0" tIns="0" rIns="0" bIns="0" rtlCol="0" anchor="ctr"/>
          <a:lstStyle/>
          <a:p>
            <a:pPr algn="ctr" indent="0" marL="0">
              <a:buNone/>
            </a:pPr>
            <a:r>
              <a:rPr lang="en-US" sz="1400" b="1" dirty="0">
                <a:solidFill>
                  <a:schemeClr val="tx1"/>
                </a:solidFill>
              </a:rPr>
              <a:t>more scans</a:t>
            </a:r>
            <a:endParaRPr lang="en-US" sz="1400" dirty="0"/>
          </a:p>
        </p:txBody>
      </p:sp>
      <p:sp>
        <p:nvSpPr>
          <p:cNvPr id="33" name="Text 31"/>
          <p:cNvSpPr txBox="1"/>
          <p:nvPr/>
        </p:nvSpPr>
        <p:spPr>
          <a:xfrm>
            <a:off x="3886200" y="3794760"/>
            <a:ext cx="4663440" cy="274320"/>
          </a:xfrm>
          <a:prstGeom prst="rect">
            <a:avLst/>
          </a:prstGeom>
          <a:noFill/>
          <a:ln/>
        </p:spPr>
        <p:txBody>
          <a:bodyPr wrap="square" lIns="0" tIns="0" rIns="0" bIns="0" rtlCol="0" anchor="t"/>
          <a:lstStyle/>
          <a:p>
            <a:pPr indent="0" marL="0">
              <a:buNone/>
            </a:pPr>
            <a:r>
              <a:rPr lang="en-US" sz="1600" b="1" dirty="0">
                <a:solidFill>
                  <a:schemeClr val="tx1"/>
                </a:solidFill>
              </a:rPr>
              <a:t>Data augmentation</a:t>
            </a:r>
            <a:endParaRPr lang="en-US" sz="1600" dirty="0"/>
          </a:p>
        </p:txBody>
      </p:sp>
      <p:sp>
        <p:nvSpPr>
          <p:cNvPr id="34" name="Text 32"/>
          <p:cNvSpPr txBox="1"/>
          <p:nvPr/>
        </p:nvSpPr>
        <p:spPr>
          <a:xfrm>
            <a:off x="3886200" y="4096512"/>
            <a:ext cx="4663440" cy="274320"/>
          </a:xfrm>
          <a:prstGeom prst="rect">
            <a:avLst/>
          </a:prstGeom>
          <a:noFill/>
          <a:ln/>
        </p:spPr>
        <p:txBody>
          <a:bodyPr wrap="square" lIns="0" tIns="0" rIns="0" bIns="0" rtlCol="0" anchor="t"/>
          <a:lstStyle/>
          <a:p>
            <a:pPr indent="0" marL="0">
              <a:buNone/>
            </a:pPr>
            <a:r>
              <a:rPr lang="en-US" sz="1400" dirty="0">
                <a:solidFill>
                  <a:schemeClr val="tx2"/>
                </a:solidFill>
              </a:rPr>
              <a:t>Create extra training samples when real data is scarce.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Real-world applications</a:t>
            </a:r>
            <a:endParaRPr lang="en-US" sz="3400" dirty="0"/>
          </a:p>
        </p:txBody>
      </p:sp>
      <p:sp>
        <p:nvSpPr>
          <p:cNvPr id="3" name="Application card 1"/>
          <p:cNvSpPr/>
          <p:nvPr/>
        </p:nvSpPr>
        <p:spPr>
          <a:xfrm>
            <a:off x="457200" y="1234440"/>
            <a:ext cx="2624328" cy="1554480"/>
          </a:xfrm>
          <a:prstGeom prst="roundRect">
            <a:avLst>
              <a:gd name="adj" fmla="val 7059"/>
            </a:avLst>
          </a:prstGeom>
          <a:solidFill>
            <a:schemeClr val="bg2"/>
          </a:solidFill>
          <a:ln/>
        </p:spPr>
      </p:sp>
      <p:sp>
        <p:nvSpPr>
          <p:cNvPr id="4" name="Shape 2"/>
          <p:cNvSpPr/>
          <p:nvPr/>
        </p:nvSpPr>
        <p:spPr>
          <a:xfrm>
            <a:off x="640080" y="1417320"/>
            <a:ext cx="365760" cy="365760"/>
          </a:xfrm>
          <a:prstGeom prst="ellipse">
            <a:avLst/>
          </a:prstGeom>
          <a:solidFill>
            <a:schemeClr val="accent1"/>
          </a:solidFill>
          <a:ln/>
        </p:spPr>
      </p:sp>
      <p:sp>
        <p:nvSpPr>
          <p:cNvPr id="5" name="Text 3"/>
          <p:cNvSpPr txBox="1"/>
          <p:nvPr/>
        </p:nvSpPr>
        <p:spPr>
          <a:xfrm>
            <a:off x="640080" y="141732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 4"/>
          <p:cNvSpPr txBox="1"/>
          <p:nvPr/>
        </p:nvSpPr>
        <p:spPr>
          <a:xfrm>
            <a:off x="1143000" y="1463040"/>
            <a:ext cx="1828800" cy="274320"/>
          </a:xfrm>
          <a:prstGeom prst="rect">
            <a:avLst/>
          </a:prstGeom>
          <a:noFill/>
          <a:ln/>
        </p:spPr>
        <p:txBody>
          <a:bodyPr wrap="square" lIns="0" tIns="0" rIns="0" bIns="0" rtlCol="0" anchor="t"/>
          <a:lstStyle/>
          <a:p>
            <a:pPr indent="0" marL="0">
              <a:buNone/>
            </a:pPr>
            <a:r>
              <a:rPr lang="en-US" sz="1600" b="1" dirty="0">
                <a:solidFill>
                  <a:schemeClr val="tx1"/>
                </a:solidFill>
              </a:rPr>
              <a:t>Healthcare</a:t>
            </a:r>
            <a:endParaRPr lang="en-US" sz="1600" dirty="0"/>
          </a:p>
        </p:txBody>
      </p:sp>
      <p:sp>
        <p:nvSpPr>
          <p:cNvPr id="7" name="Text 5"/>
          <p:cNvSpPr txBox="1"/>
          <p:nvPr/>
        </p:nvSpPr>
        <p:spPr>
          <a:xfrm>
            <a:off x="640080" y="1965960"/>
            <a:ext cx="2286000" cy="777240"/>
          </a:xfrm>
          <a:prstGeom prst="rect">
            <a:avLst/>
          </a:prstGeom>
          <a:noFill/>
          <a:ln/>
        </p:spPr>
        <p:txBody>
          <a:bodyPr wrap="square" lIns="0" tIns="0" rIns="0" bIns="0" rtlCol="0" anchor="t"/>
          <a:lstStyle/>
          <a:p>
            <a:pPr indent="0" marL="0">
              <a:buNone/>
            </a:pPr>
            <a:r>
              <a:rPr lang="en-US" sz="1400" dirty="0">
                <a:solidFill>
                  <a:schemeClr val="tx2"/>
                </a:solidFill>
              </a:rPr>
              <a:t>Synthetic scans for rare diseases; MRI-to-CT translation.</a:t>
            </a:r>
            <a:endParaRPr lang="en-US" sz="1400" dirty="0"/>
          </a:p>
        </p:txBody>
      </p:sp>
      <p:sp>
        <p:nvSpPr>
          <p:cNvPr id="8" name="Application card 2"/>
          <p:cNvSpPr/>
          <p:nvPr/>
        </p:nvSpPr>
        <p:spPr>
          <a:xfrm>
            <a:off x="3259836" y="1234440"/>
            <a:ext cx="2624328" cy="1554480"/>
          </a:xfrm>
          <a:prstGeom prst="roundRect">
            <a:avLst>
              <a:gd name="adj" fmla="val 7059"/>
            </a:avLst>
          </a:prstGeom>
          <a:solidFill>
            <a:schemeClr val="bg2"/>
          </a:solidFill>
          <a:ln/>
        </p:spPr>
      </p:sp>
      <p:sp>
        <p:nvSpPr>
          <p:cNvPr id="9" name="Shape 7"/>
          <p:cNvSpPr/>
          <p:nvPr/>
        </p:nvSpPr>
        <p:spPr>
          <a:xfrm>
            <a:off x="3442716" y="1417320"/>
            <a:ext cx="365760" cy="365760"/>
          </a:xfrm>
          <a:prstGeom prst="ellipse">
            <a:avLst/>
          </a:prstGeom>
          <a:solidFill>
            <a:schemeClr val="accent2"/>
          </a:solidFill>
          <a:ln/>
        </p:spPr>
      </p:sp>
      <p:sp>
        <p:nvSpPr>
          <p:cNvPr id="10" name="Text 8"/>
          <p:cNvSpPr txBox="1"/>
          <p:nvPr/>
        </p:nvSpPr>
        <p:spPr>
          <a:xfrm>
            <a:off x="3442716" y="141732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 9"/>
          <p:cNvSpPr txBox="1"/>
          <p:nvPr/>
        </p:nvSpPr>
        <p:spPr>
          <a:xfrm>
            <a:off x="3945636" y="1463040"/>
            <a:ext cx="1828800" cy="274320"/>
          </a:xfrm>
          <a:prstGeom prst="rect">
            <a:avLst/>
          </a:prstGeom>
          <a:noFill/>
          <a:ln/>
        </p:spPr>
        <p:txBody>
          <a:bodyPr wrap="square" lIns="0" tIns="0" rIns="0" bIns="0" rtlCol="0" anchor="t"/>
          <a:lstStyle/>
          <a:p>
            <a:pPr indent="0" marL="0">
              <a:buNone/>
            </a:pPr>
            <a:r>
              <a:rPr lang="en-US" sz="1600" b="1" dirty="0">
                <a:solidFill>
                  <a:schemeClr val="tx1"/>
                </a:solidFill>
              </a:rPr>
              <a:t>Fashion &amp; design</a:t>
            </a:r>
            <a:endParaRPr lang="en-US" sz="1600" dirty="0"/>
          </a:p>
        </p:txBody>
      </p:sp>
      <p:sp>
        <p:nvSpPr>
          <p:cNvPr id="12" name="Text 10"/>
          <p:cNvSpPr txBox="1"/>
          <p:nvPr/>
        </p:nvSpPr>
        <p:spPr>
          <a:xfrm>
            <a:off x="3442716" y="1965960"/>
            <a:ext cx="2286000" cy="777240"/>
          </a:xfrm>
          <a:prstGeom prst="rect">
            <a:avLst/>
          </a:prstGeom>
          <a:noFill/>
          <a:ln/>
        </p:spPr>
        <p:txBody>
          <a:bodyPr wrap="square" lIns="0" tIns="0" rIns="0" bIns="0" rtlCol="0" anchor="t"/>
          <a:lstStyle/>
          <a:p>
            <a:pPr indent="0" marL="0">
              <a:buNone/>
            </a:pPr>
            <a:r>
              <a:rPr lang="en-US" sz="1400" dirty="0">
                <a:solidFill>
                  <a:schemeClr val="tx2"/>
                </a:solidFill>
              </a:rPr>
              <a:t>Generate clothing concepts and virtual try-on.</a:t>
            </a:r>
            <a:endParaRPr lang="en-US" sz="1400" dirty="0"/>
          </a:p>
        </p:txBody>
      </p:sp>
      <p:sp>
        <p:nvSpPr>
          <p:cNvPr id="13" name="Application card 3"/>
          <p:cNvSpPr/>
          <p:nvPr/>
        </p:nvSpPr>
        <p:spPr>
          <a:xfrm>
            <a:off x="6062472" y="1234440"/>
            <a:ext cx="2624328" cy="1554480"/>
          </a:xfrm>
          <a:prstGeom prst="roundRect">
            <a:avLst>
              <a:gd name="adj" fmla="val 7059"/>
            </a:avLst>
          </a:prstGeom>
          <a:solidFill>
            <a:schemeClr val="bg2"/>
          </a:solidFill>
          <a:ln/>
        </p:spPr>
      </p:sp>
      <p:sp>
        <p:nvSpPr>
          <p:cNvPr id="14" name="Shape 12"/>
          <p:cNvSpPr/>
          <p:nvPr/>
        </p:nvSpPr>
        <p:spPr>
          <a:xfrm>
            <a:off x="6245352" y="1417320"/>
            <a:ext cx="365760" cy="365760"/>
          </a:xfrm>
          <a:prstGeom prst="ellipse">
            <a:avLst/>
          </a:prstGeom>
          <a:solidFill>
            <a:schemeClr val="accent1"/>
          </a:solidFill>
          <a:ln/>
        </p:spPr>
      </p:sp>
      <p:sp>
        <p:nvSpPr>
          <p:cNvPr id="15" name="Text 13"/>
          <p:cNvSpPr txBox="1"/>
          <p:nvPr/>
        </p:nvSpPr>
        <p:spPr>
          <a:xfrm>
            <a:off x="6245352" y="141732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Text 14"/>
          <p:cNvSpPr txBox="1"/>
          <p:nvPr/>
        </p:nvSpPr>
        <p:spPr>
          <a:xfrm>
            <a:off x="6748272" y="1463040"/>
            <a:ext cx="1828800" cy="274320"/>
          </a:xfrm>
          <a:prstGeom prst="rect">
            <a:avLst/>
          </a:prstGeom>
          <a:noFill/>
          <a:ln/>
        </p:spPr>
        <p:txBody>
          <a:bodyPr wrap="square" lIns="0" tIns="0" rIns="0" bIns="0" rtlCol="0" anchor="t"/>
          <a:lstStyle/>
          <a:p>
            <a:pPr indent="0" marL="0">
              <a:buNone/>
            </a:pPr>
            <a:r>
              <a:rPr lang="en-US" sz="1600" b="1" dirty="0">
                <a:solidFill>
                  <a:schemeClr val="tx1"/>
                </a:solidFill>
              </a:rPr>
              <a:t>Games &amp; film</a:t>
            </a:r>
            <a:endParaRPr lang="en-US" sz="1600" dirty="0"/>
          </a:p>
        </p:txBody>
      </p:sp>
      <p:sp>
        <p:nvSpPr>
          <p:cNvPr id="17" name="Text 15"/>
          <p:cNvSpPr txBox="1"/>
          <p:nvPr/>
        </p:nvSpPr>
        <p:spPr>
          <a:xfrm>
            <a:off x="6245352" y="1965960"/>
            <a:ext cx="2286000" cy="777240"/>
          </a:xfrm>
          <a:prstGeom prst="rect">
            <a:avLst/>
          </a:prstGeom>
          <a:noFill/>
          <a:ln/>
        </p:spPr>
        <p:txBody>
          <a:bodyPr wrap="square" lIns="0" tIns="0" rIns="0" bIns="0" rtlCol="0" anchor="t"/>
          <a:lstStyle/>
          <a:p>
            <a:pPr indent="0" marL="0">
              <a:buNone/>
            </a:pPr>
            <a:r>
              <a:rPr lang="en-US" sz="1400" dirty="0">
                <a:solidFill>
                  <a:schemeClr val="tx2"/>
                </a:solidFill>
              </a:rPr>
              <a:t>Textures, character faces, upscaling old footage.</a:t>
            </a:r>
            <a:endParaRPr lang="en-US" sz="1400" dirty="0"/>
          </a:p>
        </p:txBody>
      </p:sp>
      <p:sp>
        <p:nvSpPr>
          <p:cNvPr id="18" name="Application card 4"/>
          <p:cNvSpPr/>
          <p:nvPr/>
        </p:nvSpPr>
        <p:spPr>
          <a:xfrm>
            <a:off x="457200" y="2926080"/>
            <a:ext cx="2624328" cy="1554480"/>
          </a:xfrm>
          <a:prstGeom prst="roundRect">
            <a:avLst>
              <a:gd name="adj" fmla="val 7059"/>
            </a:avLst>
          </a:prstGeom>
          <a:solidFill>
            <a:schemeClr val="bg2"/>
          </a:solidFill>
          <a:ln/>
        </p:spPr>
      </p:sp>
      <p:sp>
        <p:nvSpPr>
          <p:cNvPr id="19" name="Shape 17"/>
          <p:cNvSpPr/>
          <p:nvPr/>
        </p:nvSpPr>
        <p:spPr>
          <a:xfrm>
            <a:off x="640080" y="3108960"/>
            <a:ext cx="365760" cy="365760"/>
          </a:xfrm>
          <a:prstGeom prst="ellipse">
            <a:avLst/>
          </a:prstGeom>
          <a:solidFill>
            <a:schemeClr val="accent2"/>
          </a:solidFill>
          <a:ln/>
        </p:spPr>
      </p:sp>
      <p:sp>
        <p:nvSpPr>
          <p:cNvPr id="20" name="Text 18"/>
          <p:cNvSpPr txBox="1"/>
          <p:nvPr/>
        </p:nvSpPr>
        <p:spPr>
          <a:xfrm>
            <a:off x="640080" y="310896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1" name="Text 19"/>
          <p:cNvSpPr txBox="1"/>
          <p:nvPr/>
        </p:nvSpPr>
        <p:spPr>
          <a:xfrm>
            <a:off x="1143000" y="3154680"/>
            <a:ext cx="1828800" cy="274320"/>
          </a:xfrm>
          <a:prstGeom prst="rect">
            <a:avLst/>
          </a:prstGeom>
          <a:noFill/>
          <a:ln/>
        </p:spPr>
        <p:txBody>
          <a:bodyPr wrap="square" lIns="0" tIns="0" rIns="0" bIns="0" rtlCol="0" anchor="t"/>
          <a:lstStyle/>
          <a:p>
            <a:pPr indent="0" marL="0">
              <a:buNone/>
            </a:pPr>
            <a:r>
              <a:rPr lang="en-US" sz="1600" b="1" dirty="0">
                <a:solidFill>
                  <a:schemeClr val="tx1"/>
                </a:solidFill>
              </a:rPr>
              <a:t>Art &amp; music</a:t>
            </a:r>
            <a:endParaRPr lang="en-US" sz="1600" dirty="0"/>
          </a:p>
        </p:txBody>
      </p:sp>
      <p:sp>
        <p:nvSpPr>
          <p:cNvPr id="22" name="Text 20"/>
          <p:cNvSpPr txBox="1"/>
          <p:nvPr/>
        </p:nvSpPr>
        <p:spPr>
          <a:xfrm>
            <a:off x="640080" y="3657600"/>
            <a:ext cx="2286000" cy="777240"/>
          </a:xfrm>
          <a:prstGeom prst="rect">
            <a:avLst/>
          </a:prstGeom>
          <a:noFill/>
          <a:ln/>
        </p:spPr>
        <p:txBody>
          <a:bodyPr wrap="square" lIns="0" tIns="0" rIns="0" bIns="0" rtlCol="0" anchor="t"/>
          <a:lstStyle/>
          <a:p>
            <a:pPr indent="0" marL="0">
              <a:buNone/>
            </a:pPr>
            <a:r>
              <a:rPr lang="en-US" sz="1400" dirty="0">
                <a:solidFill>
                  <a:schemeClr val="tx2"/>
                </a:solidFill>
              </a:rPr>
              <a:t>Original artwork and sound design as creative tools.</a:t>
            </a:r>
            <a:endParaRPr lang="en-US" sz="1400" dirty="0"/>
          </a:p>
        </p:txBody>
      </p:sp>
      <p:sp>
        <p:nvSpPr>
          <p:cNvPr id="23" name="Application card 5"/>
          <p:cNvSpPr/>
          <p:nvPr/>
        </p:nvSpPr>
        <p:spPr>
          <a:xfrm>
            <a:off x="3259836" y="2926080"/>
            <a:ext cx="2624328" cy="1554480"/>
          </a:xfrm>
          <a:prstGeom prst="roundRect">
            <a:avLst>
              <a:gd name="adj" fmla="val 7059"/>
            </a:avLst>
          </a:prstGeom>
          <a:solidFill>
            <a:schemeClr val="bg2"/>
          </a:solidFill>
          <a:ln/>
        </p:spPr>
      </p:sp>
      <p:sp>
        <p:nvSpPr>
          <p:cNvPr id="24" name="Shape 22"/>
          <p:cNvSpPr/>
          <p:nvPr/>
        </p:nvSpPr>
        <p:spPr>
          <a:xfrm>
            <a:off x="3442716" y="3108960"/>
            <a:ext cx="365760" cy="365760"/>
          </a:xfrm>
          <a:prstGeom prst="ellipse">
            <a:avLst/>
          </a:prstGeom>
          <a:solidFill>
            <a:schemeClr val="accent1"/>
          </a:solidFill>
          <a:ln/>
        </p:spPr>
      </p:sp>
      <p:sp>
        <p:nvSpPr>
          <p:cNvPr id="25" name="Text 23"/>
          <p:cNvSpPr txBox="1"/>
          <p:nvPr/>
        </p:nvSpPr>
        <p:spPr>
          <a:xfrm>
            <a:off x="3442716" y="310896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6" name="Text 24"/>
          <p:cNvSpPr txBox="1"/>
          <p:nvPr/>
        </p:nvSpPr>
        <p:spPr>
          <a:xfrm>
            <a:off x="3945636" y="3154680"/>
            <a:ext cx="1828800" cy="274320"/>
          </a:xfrm>
          <a:prstGeom prst="rect">
            <a:avLst/>
          </a:prstGeom>
          <a:noFill/>
          <a:ln/>
        </p:spPr>
        <p:txBody>
          <a:bodyPr wrap="square" lIns="0" tIns="0" rIns="0" bIns="0" rtlCol="0" anchor="t"/>
          <a:lstStyle/>
          <a:p>
            <a:pPr indent="0" marL="0">
              <a:buNone/>
            </a:pPr>
            <a:r>
              <a:rPr lang="en-US" sz="1600" b="1" dirty="0">
                <a:solidFill>
                  <a:schemeClr val="tx1"/>
                </a:solidFill>
              </a:rPr>
              <a:t>Drug discovery</a:t>
            </a:r>
            <a:endParaRPr lang="en-US" sz="1600" dirty="0"/>
          </a:p>
        </p:txBody>
      </p:sp>
      <p:sp>
        <p:nvSpPr>
          <p:cNvPr id="27" name="Text 25"/>
          <p:cNvSpPr txBox="1"/>
          <p:nvPr/>
        </p:nvSpPr>
        <p:spPr>
          <a:xfrm>
            <a:off x="3442716" y="3657600"/>
            <a:ext cx="2286000" cy="777240"/>
          </a:xfrm>
          <a:prstGeom prst="rect">
            <a:avLst/>
          </a:prstGeom>
          <a:noFill/>
          <a:ln/>
        </p:spPr>
        <p:txBody>
          <a:bodyPr wrap="square" lIns="0" tIns="0" rIns="0" bIns="0" rtlCol="0" anchor="t"/>
          <a:lstStyle/>
          <a:p>
            <a:pPr indent="0" marL="0">
              <a:buNone/>
            </a:pPr>
            <a:r>
              <a:rPr lang="en-US" sz="1400" dirty="0">
                <a:solidFill>
                  <a:schemeClr val="tx2"/>
                </a:solidFill>
              </a:rPr>
              <a:t>Propose new candidate molecules to test.</a:t>
            </a:r>
            <a:endParaRPr lang="en-US" sz="1400" dirty="0"/>
          </a:p>
        </p:txBody>
      </p:sp>
      <p:sp>
        <p:nvSpPr>
          <p:cNvPr id="28" name="Application card 6"/>
          <p:cNvSpPr/>
          <p:nvPr/>
        </p:nvSpPr>
        <p:spPr>
          <a:xfrm>
            <a:off x="6062472" y="2926080"/>
            <a:ext cx="2624328" cy="1554480"/>
          </a:xfrm>
          <a:prstGeom prst="roundRect">
            <a:avLst>
              <a:gd name="adj" fmla="val 7059"/>
            </a:avLst>
          </a:prstGeom>
          <a:solidFill>
            <a:schemeClr val="bg2"/>
          </a:solidFill>
          <a:ln/>
        </p:spPr>
      </p:sp>
      <p:sp>
        <p:nvSpPr>
          <p:cNvPr id="29" name="Shape 27"/>
          <p:cNvSpPr/>
          <p:nvPr/>
        </p:nvSpPr>
        <p:spPr>
          <a:xfrm>
            <a:off x="6245352" y="3108960"/>
            <a:ext cx="365760" cy="365760"/>
          </a:xfrm>
          <a:prstGeom prst="ellipse">
            <a:avLst/>
          </a:prstGeom>
          <a:solidFill>
            <a:schemeClr val="accent2"/>
          </a:solidFill>
          <a:ln/>
        </p:spPr>
      </p:sp>
      <p:sp>
        <p:nvSpPr>
          <p:cNvPr id="30" name="Text 28"/>
          <p:cNvSpPr txBox="1"/>
          <p:nvPr/>
        </p:nvSpPr>
        <p:spPr>
          <a:xfrm>
            <a:off x="6245352" y="3108960"/>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1" name="Text 29"/>
          <p:cNvSpPr txBox="1"/>
          <p:nvPr/>
        </p:nvSpPr>
        <p:spPr>
          <a:xfrm>
            <a:off x="6748272" y="3154680"/>
            <a:ext cx="1828800" cy="274320"/>
          </a:xfrm>
          <a:prstGeom prst="rect">
            <a:avLst/>
          </a:prstGeom>
          <a:noFill/>
          <a:ln/>
        </p:spPr>
        <p:txBody>
          <a:bodyPr wrap="square" lIns="0" tIns="0" rIns="0" bIns="0" rtlCol="0" anchor="t"/>
          <a:lstStyle/>
          <a:p>
            <a:pPr indent="0" marL="0">
              <a:buNone/>
            </a:pPr>
            <a:r>
              <a:rPr lang="en-US" sz="1600" b="1" dirty="0">
                <a:solidFill>
                  <a:schemeClr val="tx1"/>
                </a:solidFill>
              </a:rPr>
              <a:t>Synthetic data</a:t>
            </a:r>
            <a:endParaRPr lang="en-US" sz="1600" dirty="0"/>
          </a:p>
        </p:txBody>
      </p:sp>
      <p:sp>
        <p:nvSpPr>
          <p:cNvPr id="32" name="Text 30"/>
          <p:cNvSpPr txBox="1"/>
          <p:nvPr/>
        </p:nvSpPr>
        <p:spPr>
          <a:xfrm>
            <a:off x="6245352" y="3657600"/>
            <a:ext cx="2286000" cy="777240"/>
          </a:xfrm>
          <a:prstGeom prst="rect">
            <a:avLst/>
          </a:prstGeom>
          <a:noFill/>
          <a:ln/>
        </p:spPr>
        <p:txBody>
          <a:bodyPr wrap="square" lIns="0" tIns="0" rIns="0" bIns="0" rtlCol="0" anchor="t"/>
          <a:lstStyle/>
          <a:p>
            <a:pPr indent="0" marL="0">
              <a:buNone/>
            </a:pPr>
            <a:r>
              <a:rPr lang="en-US" sz="1400" dirty="0">
                <a:solidFill>
                  <a:schemeClr val="tx2"/>
                </a:solidFill>
              </a:rPr>
              <a:t>Share realistic data without exposing real records.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GANs vs diffusion today</a:t>
            </a:r>
            <a:endParaRPr lang="en-US" sz="3400" dirty="0"/>
          </a:p>
        </p:txBody>
      </p:sp>
      <p:sp>
        <p:nvSpPr>
          <p:cNvPr id="3" name="Compare card 1"/>
          <p:cNvSpPr/>
          <p:nvPr/>
        </p:nvSpPr>
        <p:spPr>
          <a:xfrm>
            <a:off x="457200" y="1234440"/>
            <a:ext cx="4023360" cy="2606040"/>
          </a:xfrm>
          <a:prstGeom prst="roundRect">
            <a:avLst>
              <a:gd name="adj" fmla="val 4211"/>
            </a:avLst>
          </a:prstGeom>
          <a:solidFill>
            <a:schemeClr val="bg2"/>
          </a:solidFill>
          <a:ln/>
        </p:spPr>
      </p:sp>
      <p:sp>
        <p:nvSpPr>
          <p:cNvPr id="4" name="Shape 2"/>
          <p:cNvSpPr/>
          <p:nvPr/>
        </p:nvSpPr>
        <p:spPr>
          <a:xfrm>
            <a:off x="685800" y="1417320"/>
            <a:ext cx="731520" cy="109728"/>
          </a:xfrm>
          <a:prstGeom prst="roundRect">
            <a:avLst>
              <a:gd name="adj" fmla="val 50000"/>
            </a:avLst>
          </a:prstGeom>
          <a:solidFill>
            <a:schemeClr val="accent1"/>
          </a:solidFill>
          <a:ln/>
        </p:spPr>
      </p:sp>
      <p:sp>
        <p:nvSpPr>
          <p:cNvPr id="5" name="Text 3"/>
          <p:cNvSpPr txBox="1"/>
          <p:nvPr/>
        </p:nvSpPr>
        <p:spPr>
          <a:xfrm>
            <a:off x="685800" y="1645920"/>
            <a:ext cx="356616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GANs</a:t>
            </a:r>
            <a:endParaRPr lang="en-US" sz="2200" dirty="0"/>
          </a:p>
        </p:txBody>
      </p:sp>
      <p:sp>
        <p:nvSpPr>
          <p:cNvPr id="6" name="Text 4"/>
          <p:cNvSpPr txBox="1"/>
          <p:nvPr/>
        </p:nvSpPr>
        <p:spPr>
          <a:xfrm>
            <a:off x="685800" y="2194560"/>
            <a:ext cx="3566160" cy="1554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Fast: one forward pass makes an image</a:t>
            </a:r>
            <a:endParaRPr lang="en-US" sz="1500" dirty="0"/>
          </a:p>
          <a:p>
            <a:pPr marL="342900" indent="-342900">
              <a:spcAft>
                <a:spcPts val="800"/>
              </a:spcAft>
              <a:buSzPct val="100000"/>
              <a:buChar char="•"/>
            </a:pPr>
            <a:r>
              <a:rPr lang="en-US" sz="1500" dirty="0">
                <a:solidFill>
                  <a:schemeClr val="tx2"/>
                </a:solidFill>
              </a:rPr>
              <a:t>Sharp results</a:t>
            </a:r>
            <a:endParaRPr lang="en-US" sz="1500" dirty="0"/>
          </a:p>
          <a:p>
            <a:pPr marL="342900" indent="-342900">
              <a:spcAft>
                <a:spcPts val="800"/>
              </a:spcAft>
              <a:buSzPct val="100000"/>
              <a:buChar char="•"/>
            </a:pPr>
            <a:r>
              <a:rPr lang="en-US" sz="1500" dirty="0">
                <a:solidFill>
                  <a:schemeClr val="tx2"/>
                </a:solidFill>
              </a:rPr>
              <a:t>Harder to train; mode collapse</a:t>
            </a:r>
            <a:endParaRPr lang="en-US" sz="1500" dirty="0"/>
          </a:p>
        </p:txBody>
      </p:sp>
      <p:sp>
        <p:nvSpPr>
          <p:cNvPr id="7" name="Compare card 2"/>
          <p:cNvSpPr/>
          <p:nvPr/>
        </p:nvSpPr>
        <p:spPr>
          <a:xfrm>
            <a:off x="4663440" y="1234440"/>
            <a:ext cx="4023360" cy="2606040"/>
          </a:xfrm>
          <a:prstGeom prst="roundRect">
            <a:avLst>
              <a:gd name="adj" fmla="val 4211"/>
            </a:avLst>
          </a:prstGeom>
          <a:solidFill>
            <a:schemeClr val="bg2"/>
          </a:solidFill>
          <a:ln/>
        </p:spPr>
      </p:sp>
      <p:sp>
        <p:nvSpPr>
          <p:cNvPr id="8" name="Shape 6"/>
          <p:cNvSpPr/>
          <p:nvPr/>
        </p:nvSpPr>
        <p:spPr>
          <a:xfrm>
            <a:off x="4892040" y="1417320"/>
            <a:ext cx="731520" cy="109728"/>
          </a:xfrm>
          <a:prstGeom prst="roundRect">
            <a:avLst>
              <a:gd name="adj" fmla="val 50000"/>
            </a:avLst>
          </a:prstGeom>
          <a:solidFill>
            <a:schemeClr val="accent4"/>
          </a:solidFill>
          <a:ln/>
        </p:spPr>
      </p:sp>
      <p:sp>
        <p:nvSpPr>
          <p:cNvPr id="9" name="Text 7"/>
          <p:cNvSpPr txBox="1"/>
          <p:nvPr/>
        </p:nvSpPr>
        <p:spPr>
          <a:xfrm>
            <a:off x="4892040" y="1645920"/>
            <a:ext cx="356616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Diffusion models</a:t>
            </a:r>
            <a:endParaRPr lang="en-US" sz="2200" dirty="0"/>
          </a:p>
        </p:txBody>
      </p:sp>
      <p:sp>
        <p:nvSpPr>
          <p:cNvPr id="10" name="Text 8"/>
          <p:cNvSpPr txBox="1"/>
          <p:nvPr/>
        </p:nvSpPr>
        <p:spPr>
          <a:xfrm>
            <a:off x="4892040" y="2194560"/>
            <a:ext cx="3566160" cy="1554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Slower: many denoising steps</a:t>
            </a:r>
            <a:endParaRPr lang="en-US" sz="1500" dirty="0"/>
          </a:p>
          <a:p>
            <a:pPr marL="342900" indent="-342900">
              <a:spcAft>
                <a:spcPts val="800"/>
              </a:spcAft>
              <a:buSzPct val="100000"/>
              <a:buChar char="•"/>
            </a:pPr>
            <a:r>
              <a:rPr lang="en-US" sz="1500" dirty="0">
                <a:solidFill>
                  <a:schemeClr val="tx2"/>
                </a:solidFill>
              </a:rPr>
              <a:t>More stable and diverse</a:t>
            </a:r>
            <a:endParaRPr lang="en-US" sz="1500" dirty="0"/>
          </a:p>
          <a:p>
            <a:pPr marL="342900" indent="-342900">
              <a:spcAft>
                <a:spcPts val="800"/>
              </a:spcAft>
              <a:buSzPct val="100000"/>
              <a:buChar char="•"/>
            </a:pPr>
            <a:r>
              <a:rPr lang="en-US" sz="1500" dirty="0">
                <a:solidFill>
                  <a:schemeClr val="tx2"/>
                </a:solidFill>
              </a:rPr>
              <a:t>Behind most current text-to-image tools</a:t>
            </a:r>
            <a:endParaRPr lang="en-US" sz="1500" dirty="0"/>
          </a:p>
        </p:txBody>
      </p:sp>
      <p:sp>
        <p:nvSpPr>
          <p:cNvPr id="11" name="Compare banner"/>
          <p:cNvSpPr/>
          <p:nvPr/>
        </p:nvSpPr>
        <p:spPr>
          <a:xfrm>
            <a:off x="457200" y="4023360"/>
            <a:ext cx="8229600" cy="548640"/>
          </a:xfrm>
          <a:prstGeom prst="roundRect">
            <a:avLst>
              <a:gd name="adj" fmla="val 20000"/>
            </a:avLst>
          </a:prstGeom>
          <a:solidFill>
            <a:schemeClr val="tx1"/>
          </a:solidFill>
          <a:ln/>
        </p:spPr>
      </p:sp>
      <p:sp>
        <p:nvSpPr>
          <p:cNvPr id="12" name="Text 10"/>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1500" b="1" dirty="0">
                <a:solidFill>
                  <a:schemeClr val="bg1"/>
                </a:solidFill>
              </a:rPr>
              <a:t>Diffusion now leads text-to-image, but GAN ideas live on in real-time and upscaling.</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4B46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Key takeaways</a:t>
            </a:r>
            <a:endParaRPr lang="en-US" sz="3400" dirty="0"/>
          </a:p>
        </p:txBody>
      </p:sp>
      <p:sp>
        <p:nvSpPr>
          <p:cNvPr id="3" name="Shape 1"/>
          <p:cNvSpPr/>
          <p:nvPr/>
        </p:nvSpPr>
        <p:spPr>
          <a:xfrm>
            <a:off x="457200" y="1325880"/>
            <a:ext cx="384048" cy="384048"/>
          </a:xfrm>
          <a:prstGeom prst="ellipse">
            <a:avLst/>
          </a:prstGeom>
          <a:solidFill>
            <a:schemeClr val="accent3"/>
          </a:solidFill>
          <a:ln/>
        </p:spPr>
      </p:sp>
      <p:sp>
        <p:nvSpPr>
          <p:cNvPr id="4" name="Text 2"/>
          <p:cNvSpPr txBox="1"/>
          <p:nvPr/>
        </p:nvSpPr>
        <p:spPr>
          <a:xfrm>
            <a:off x="457200" y="132588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5" name="Text 3"/>
          <p:cNvSpPr txBox="1"/>
          <p:nvPr/>
        </p:nvSpPr>
        <p:spPr>
          <a:xfrm>
            <a:off x="1051560" y="1280160"/>
            <a:ext cx="4480560" cy="502920"/>
          </a:xfrm>
          <a:prstGeom prst="rect">
            <a:avLst/>
          </a:prstGeom>
          <a:noFill/>
          <a:ln/>
        </p:spPr>
        <p:txBody>
          <a:bodyPr wrap="square" lIns="0" tIns="0" rIns="0" bIns="0" rtlCol="0" anchor="ctr"/>
          <a:lstStyle/>
          <a:p>
            <a:pPr indent="0" marL="0">
              <a:buNone/>
            </a:pPr>
            <a:r>
              <a:rPr lang="en-US" sz="1600" dirty="0">
                <a:solidFill>
                  <a:schemeClr val="bg1"/>
                </a:solidFill>
              </a:rPr>
              <a:t>Generative AI learns the data distribution, then samples new data.</a:t>
            </a:r>
            <a:endParaRPr lang="en-US" sz="1600" dirty="0"/>
          </a:p>
        </p:txBody>
      </p:sp>
      <p:sp>
        <p:nvSpPr>
          <p:cNvPr id="6" name="Shape 4"/>
          <p:cNvSpPr/>
          <p:nvPr/>
        </p:nvSpPr>
        <p:spPr>
          <a:xfrm>
            <a:off x="457200" y="1984248"/>
            <a:ext cx="384048" cy="384048"/>
          </a:xfrm>
          <a:prstGeom prst="ellipse">
            <a:avLst/>
          </a:prstGeom>
          <a:solidFill>
            <a:schemeClr val="accent3"/>
          </a:solidFill>
          <a:ln/>
        </p:spPr>
      </p:sp>
      <p:sp>
        <p:nvSpPr>
          <p:cNvPr id="7" name="Text 5"/>
          <p:cNvSpPr txBox="1"/>
          <p:nvPr/>
        </p:nvSpPr>
        <p:spPr>
          <a:xfrm>
            <a:off x="457200" y="1984248"/>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8" name="Text 6"/>
          <p:cNvSpPr txBox="1"/>
          <p:nvPr/>
        </p:nvSpPr>
        <p:spPr>
          <a:xfrm>
            <a:off x="1051560" y="1938528"/>
            <a:ext cx="4480560" cy="502920"/>
          </a:xfrm>
          <a:prstGeom prst="rect">
            <a:avLst/>
          </a:prstGeom>
          <a:noFill/>
          <a:ln/>
        </p:spPr>
        <p:txBody>
          <a:bodyPr wrap="square" lIns="0" tIns="0" rIns="0" bIns="0" rtlCol="0" anchor="ctr"/>
          <a:lstStyle/>
          <a:p>
            <a:pPr indent="0" marL="0">
              <a:buNone/>
            </a:pPr>
            <a:r>
              <a:rPr lang="en-US" sz="1600" dirty="0">
                <a:solidFill>
                  <a:schemeClr val="bg1"/>
                </a:solidFill>
              </a:rPr>
              <a:t>A GAN pits a generator (forger) against a discriminator (detective).</a:t>
            </a:r>
            <a:endParaRPr lang="en-US" sz="1600" dirty="0"/>
          </a:p>
        </p:txBody>
      </p:sp>
      <p:sp>
        <p:nvSpPr>
          <p:cNvPr id="9" name="Shape 7"/>
          <p:cNvSpPr/>
          <p:nvPr/>
        </p:nvSpPr>
        <p:spPr>
          <a:xfrm>
            <a:off x="457200" y="2642616"/>
            <a:ext cx="384048" cy="384048"/>
          </a:xfrm>
          <a:prstGeom prst="ellipse">
            <a:avLst/>
          </a:prstGeom>
          <a:solidFill>
            <a:schemeClr val="accent3"/>
          </a:solidFill>
          <a:ln/>
        </p:spPr>
      </p:sp>
      <p:sp>
        <p:nvSpPr>
          <p:cNvPr id="10" name="Text 8"/>
          <p:cNvSpPr txBox="1"/>
          <p:nvPr/>
        </p:nvSpPr>
        <p:spPr>
          <a:xfrm>
            <a:off x="457200" y="264261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1" name="Text 9"/>
          <p:cNvSpPr txBox="1"/>
          <p:nvPr/>
        </p:nvSpPr>
        <p:spPr>
          <a:xfrm>
            <a:off x="1051560" y="2596896"/>
            <a:ext cx="4480560" cy="502920"/>
          </a:xfrm>
          <a:prstGeom prst="rect">
            <a:avLst/>
          </a:prstGeom>
          <a:noFill/>
          <a:ln/>
        </p:spPr>
        <p:txBody>
          <a:bodyPr wrap="square" lIns="0" tIns="0" rIns="0" bIns="0" rtlCol="0" anchor="ctr"/>
          <a:lstStyle/>
          <a:p>
            <a:pPr indent="0" marL="0">
              <a:buNone/>
            </a:pPr>
            <a:r>
              <a:rPr lang="en-US" sz="1600" dirty="0">
                <a:solidFill>
                  <a:schemeClr val="bg1"/>
                </a:solidFill>
              </a:rPr>
              <a:t>G minimises −log D(G(z)); D minimises cross-entropy on real versus fake.</a:t>
            </a:r>
            <a:endParaRPr lang="en-US" sz="1600" dirty="0"/>
          </a:p>
        </p:txBody>
      </p:sp>
      <p:sp>
        <p:nvSpPr>
          <p:cNvPr id="12" name="Shape 10"/>
          <p:cNvSpPr/>
          <p:nvPr/>
        </p:nvSpPr>
        <p:spPr>
          <a:xfrm>
            <a:off x="457200" y="3300984"/>
            <a:ext cx="384048" cy="384048"/>
          </a:xfrm>
          <a:prstGeom prst="ellipse">
            <a:avLst/>
          </a:prstGeom>
          <a:solidFill>
            <a:schemeClr val="accent3"/>
          </a:solidFill>
          <a:ln/>
        </p:spPr>
      </p:sp>
      <p:sp>
        <p:nvSpPr>
          <p:cNvPr id="13" name="Text 11"/>
          <p:cNvSpPr txBox="1"/>
          <p:nvPr/>
        </p:nvSpPr>
        <p:spPr>
          <a:xfrm>
            <a:off x="457200" y="3300984"/>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14" name="Text 12"/>
          <p:cNvSpPr txBox="1"/>
          <p:nvPr/>
        </p:nvSpPr>
        <p:spPr>
          <a:xfrm>
            <a:off x="1051560" y="3255264"/>
            <a:ext cx="4480560" cy="502920"/>
          </a:xfrm>
          <a:prstGeom prst="rect">
            <a:avLst/>
          </a:prstGeom>
          <a:noFill/>
          <a:ln/>
        </p:spPr>
        <p:txBody>
          <a:bodyPr wrap="square" lIns="0" tIns="0" rIns="0" bIns="0" rtlCol="0" anchor="ctr"/>
          <a:lstStyle/>
          <a:p>
            <a:pPr indent="0" marL="0">
              <a:buNone/>
            </a:pPr>
            <a:r>
              <a:rPr lang="en-US" sz="1600" dirty="0">
                <a:solidFill>
                  <a:schemeClr val="bg1"/>
                </a:solidFill>
              </a:rPr>
              <a:t>At equilibrium p_g = p_data and D outputs 0.5.</a:t>
            </a:r>
            <a:endParaRPr lang="en-US" sz="1600" dirty="0"/>
          </a:p>
        </p:txBody>
      </p:sp>
      <p:sp>
        <p:nvSpPr>
          <p:cNvPr id="15" name="Shape 13"/>
          <p:cNvSpPr/>
          <p:nvPr/>
        </p:nvSpPr>
        <p:spPr>
          <a:xfrm>
            <a:off x="457200" y="3959352"/>
            <a:ext cx="384048" cy="384048"/>
          </a:xfrm>
          <a:prstGeom prst="ellipse">
            <a:avLst/>
          </a:prstGeom>
          <a:solidFill>
            <a:schemeClr val="accent3"/>
          </a:solidFill>
          <a:ln/>
        </p:spPr>
      </p:sp>
      <p:sp>
        <p:nvSpPr>
          <p:cNvPr id="16" name="Text 14"/>
          <p:cNvSpPr txBox="1"/>
          <p:nvPr/>
        </p:nvSpPr>
        <p:spPr>
          <a:xfrm>
            <a:off x="457200" y="3959352"/>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17" name="Text 15"/>
          <p:cNvSpPr txBox="1"/>
          <p:nvPr/>
        </p:nvSpPr>
        <p:spPr>
          <a:xfrm>
            <a:off x="1051560" y="3913632"/>
            <a:ext cx="4480560" cy="502920"/>
          </a:xfrm>
          <a:prstGeom prst="rect">
            <a:avLst/>
          </a:prstGeom>
          <a:noFill/>
          <a:ln/>
        </p:spPr>
        <p:txBody>
          <a:bodyPr wrap="square" lIns="0" tIns="0" rIns="0" bIns="0" rtlCol="0" anchor="ctr"/>
          <a:lstStyle/>
          <a:p>
            <a:pPr indent="0" marL="0">
              <a:buNone/>
            </a:pPr>
            <a:r>
              <a:rPr lang="en-US" sz="1600" dirty="0">
                <a:solidFill>
                  <a:schemeClr val="bg1"/>
                </a:solidFill>
              </a:rPr>
              <a:t>GANs are tricky to train: watch samples, not just losses.</a:t>
            </a:r>
            <a:endParaRPr lang="en-US" sz="1600" dirty="0"/>
          </a:p>
        </p:txBody>
      </p:sp>
      <p:sp>
        <p:nvSpPr>
          <p:cNvPr id="18" name="Resources panel"/>
          <p:cNvSpPr/>
          <p:nvPr/>
        </p:nvSpPr>
        <p:spPr>
          <a:xfrm>
            <a:off x="5760720" y="1280160"/>
            <a:ext cx="2926080" cy="3200400"/>
          </a:xfrm>
          <a:prstGeom prst="roundRect">
            <a:avLst>
              <a:gd name="adj" fmla="val 3750"/>
            </a:avLst>
          </a:prstGeom>
          <a:solidFill>
            <a:schemeClr val="tx2"/>
          </a:solidFill>
          <a:ln/>
        </p:spPr>
      </p:sp>
      <p:sp>
        <p:nvSpPr>
          <p:cNvPr id="19" name="Text 17"/>
          <p:cNvSpPr txBox="1"/>
          <p:nvPr/>
        </p:nvSpPr>
        <p:spPr>
          <a:xfrm>
            <a:off x="5989320" y="1463040"/>
            <a:ext cx="2468880" cy="320040"/>
          </a:xfrm>
          <a:prstGeom prst="rect">
            <a:avLst/>
          </a:prstGeom>
          <a:noFill/>
          <a:ln/>
        </p:spPr>
        <p:txBody>
          <a:bodyPr wrap="square" lIns="0" tIns="0" rIns="0" bIns="0" rtlCol="0" anchor="t"/>
          <a:lstStyle/>
          <a:p>
            <a:pPr indent="0" marL="0">
              <a:buNone/>
            </a:pPr>
            <a:r>
              <a:rPr lang="en-US" sz="1800" b="1" dirty="0">
                <a:solidFill>
                  <a:schemeClr val="accent3"/>
                </a:solidFill>
              </a:rPr>
              <a:t>Go further</a:t>
            </a:r>
            <a:endParaRPr lang="en-US" sz="1800" dirty="0"/>
          </a:p>
        </p:txBody>
      </p:sp>
      <p:sp>
        <p:nvSpPr>
          <p:cNvPr id="20" name="Text 18"/>
          <p:cNvSpPr txBox="1"/>
          <p:nvPr/>
        </p:nvSpPr>
        <p:spPr>
          <a:xfrm>
            <a:off x="5989320" y="1920240"/>
            <a:ext cx="251460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Goodfellow et al., Generative Adversarial Networks (2014).</a:t>
            </a:r>
            <a:endParaRPr lang="en-US" sz="1400" dirty="0"/>
          </a:p>
          <a:p>
            <a:pPr marL="342900" indent="-342900">
              <a:spcAft>
                <a:spcPts val="800"/>
              </a:spcAft>
              <a:buSzPct val="100000"/>
              <a:buChar char="•"/>
            </a:pPr>
            <a:r>
              <a:rPr lang="en-US" sz="1400" dirty="0">
                <a:solidFill>
                  <a:schemeClr val="bg1"/>
                </a:solidFill>
              </a:rPr>
              <a:t>The DCGAN tutorials in the PyTorch and TensorFlow docs.</a:t>
            </a:r>
            <a:endParaRPr lang="en-US" sz="1400" dirty="0"/>
          </a:p>
          <a:p>
            <a:pPr marL="342900" indent="-342900">
              <a:spcAft>
                <a:spcPts val="800"/>
              </a:spcAft>
              <a:buSzPct val="100000"/>
              <a:buChar char="•"/>
            </a:pPr>
            <a:r>
              <a:rPr lang="en-US" sz="1400" dirty="0">
                <a:solidFill>
                  <a:schemeClr val="bg1"/>
                </a:solidFill>
              </a:rPr>
              <a:t>Train on MNIST digits first, then faces.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FC6F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GAN Forger Detective">
  <a:themeElements>
    <a:clrScheme name="GAN Forger Detective">
      <a:dk1>
        <a:srgbClr val="13122B"/>
      </a:dk1>
      <a:lt1>
        <a:srgbClr val="FFFFFF"/>
      </a:lt1>
      <a:dk2>
        <a:srgbClr val="4B4670"/>
      </a:dk2>
      <a:lt2>
        <a:srgbClr val="F4F1FA"/>
      </a:lt2>
      <a:accent1>
        <a:srgbClr val="FF6B4A"/>
      </a:accent1>
      <a:accent2>
        <a:srgbClr val="2EC4B6"/>
      </a:accent2>
      <a:accent3>
        <a:srgbClr val="FFC857"/>
      </a:accent3>
      <a:accent4>
        <a:srgbClr val="7C5CFF"/>
      </a:accent4>
      <a:accent5>
        <a:srgbClr val="4F8EF7"/>
      </a:accent5>
      <a:accent6>
        <a:srgbClr val="9A94B8"/>
      </a:accent6>
      <a:hlink>
        <a:srgbClr val="7C5CFF"/>
      </a:hlink>
      <a:folHlink>
        <a:srgbClr val="4B4670"/>
      </a:folHlink>
    </a:clrScheme>
    <a:fontScheme name="GAN Forger Detectiv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and GANs</dc:title>
  <dc:subject>PptxGenJS Presentation</dc:subject>
  <dc:creator>PptxGenJS</dc:creator>
  <cp:lastModifiedBy>PptxGenJS</cp:lastModifiedBy>
  <cp:revision>1</cp:revision>
  <dcterms:created xsi:type="dcterms:W3CDTF">2026-10-13T06:59:30Z</dcterms:created>
  <dcterms:modified xsi:type="dcterms:W3CDTF">2026-10-13T06:59:30Z</dcterms:modified>
</cp:coreProperties>
</file>